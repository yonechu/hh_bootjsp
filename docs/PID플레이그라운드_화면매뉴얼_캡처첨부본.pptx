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9" r:id="rId16"/>
    <p:sldId id="280" r:id="rId17"/>
    <p:sldId id="282" r:id="rId18"/>
    <p:sldId id="281" r:id="rId19"/>
    <p:sldId id="28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0370FB18-4509-5927-6A38-640230BEAD9E}">
          <p14:sldIdLst>
            <p14:sldId id="256"/>
            <p14:sldId id="257"/>
            <p14:sldId id="258"/>
            <p14:sldId id="259"/>
            <p14:sldId id="260"/>
          </p14:sldIdLst>
        </p14:section>
        <p14:section name="불러오기 · 실행" id="{37E3210A-B98F-1EC5-3A51-CCFC4DAC4008}">
          <p14:sldIdLst>
            <p14:sldId id="261"/>
            <p14:sldId id="262"/>
            <p14:sldId id="263"/>
          </p14:sldIdLst>
        </p14:section>
        <p14:section name="편집 표" id="{BE4A7F40-5585-AD0A-8CA6-0DE70CECBA86}">
          <p14:sldIdLst>
            <p14:sldId id="264"/>
            <p14:sldId id="265"/>
            <p14:sldId id="266"/>
            <p14:sldId id="267"/>
            <p14:sldId id="268"/>
          </p14:sldIdLst>
        </p14:section>
        <p14:section name="디버그 패널" id="{D09D4C71-5AF2-4983-F68A-26FC810B42FC}">
          <p14:sldIdLst>
            <p14:sldId id="269"/>
          </p14:sldIdLst>
        </p14:section>
        <p14:section name="참고" id="{15B95D1E-FD1C-85E5-E5D3-0649C7920B8A}">
          <p14:sldIdLst>
            <p14:sldId id="279"/>
            <p14:sldId id="280"/>
            <p14:sldId id="282"/>
            <p14:sldId id="281"/>
            <p14:sldId id="283"/>
          </p14:sldIdLst>
        </p14:section>
        <p14:section name="문의" id="{481573DA-FD32-B16D-74D8-6BF93E663DE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27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48840"/>
            <a:ext cx="8686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ko-KR" alt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2000" dirty="0">
                <a:solidFill>
                  <a:srgbClr val="CBD5E1"/>
                </a:solidFill>
              </a:defRPr>
            </a:lvl1pPr>
          </a:lstStyle>
          <a:p>
            <a:pPr marL="0" indent="0" algn="l">
              <a:buNone/>
            </a:pPr>
            <a:endParaRPr lang="ko-KR" alt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ko-KR" alt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2011680" y="3611880"/>
            <a:ext cx="9144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1800" dirty="0">
                <a:solidFill>
                  <a:srgbClr val="CBD5E1"/>
                </a:solidFill>
              </a:defRPr>
            </a:lvl1pPr>
          </a:lstStyle>
          <a:p>
            <a:pPr marL="0" indent="0" algn="l">
              <a:buNone/>
            </a:pP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5B6676"/>
                </a:solidFill>
              </a:rPr>
              <a:t>PID 플레이그라운드 · 화면 사용 매뉴얼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10972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con-LuFlaskConical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314450"/>
            <a:ext cx="434340" cy="43434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488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4800" b="1" dirty="0">
                <a:solidFill>
                  <a:schemeClr val="bg1"/>
                </a:solidFill>
              </a:rPr>
              <a:t>PID 플레이그라운드</a:t>
            </a:r>
            <a:endParaRPr lang="ko-KR" altLang="en-US" sz="48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CBD5E1"/>
                </a:solidFill>
              </a:rPr>
              <a:t>DB 저장 없이 PID 로직을 고쳐서 바로 실행해 보는 화면 — 사용 매뉴얼</a:t>
            </a:r>
            <a:endParaRPr lang="ko-KR" altLang="en-US" sz="2000" dirty="0"/>
          </a:p>
        </p:txBody>
      </p:sp>
      <p:sp>
        <p:nvSpPr>
          <p:cNvPr id="6" name="path-chip"/>
          <p:cNvSpPr/>
          <p:nvPr/>
        </p:nvSpPr>
        <p:spPr>
          <a:xfrm>
            <a:off x="548640" y="475488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4754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/simulplay/pidSimulPlayGround</a:t>
            </a:r>
            <a:endParaRPr lang="ko-KR" alt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94A3B8"/>
                </a:solidFill>
              </a:rPr>
              <a:t>수배로직설계팀 · 문서 버전 1.0 · 2026-10-12</a:t>
            </a:r>
            <a:endParaRPr lang="ko-KR" altLang="en-US" sz="1400" dirty="0"/>
          </a:p>
        </p:txBody>
      </p:sp>
      <p:sp>
        <p:nvSpPr>
          <p:cNvPr id="9" name="nosave-chip"/>
          <p:cNvSpPr/>
          <p:nvPr/>
        </p:nvSpPr>
        <p:spPr>
          <a:xfrm>
            <a:off x="9539935" y="5486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7C2D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9539935" y="548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FED7AA"/>
                </a:solidFill>
              </a:rPr>
              <a:t>DB 미저장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한눈에 보기</a:t>
            </a:r>
            <a:endParaRPr lang="ko-KR" alt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PID 로직을 불러와 </a:t>
            </a:r>
            <a:r>
              <a:rPr lang="ko-KR" altLang="en-US" sz="1800" b="1" dirty="0">
                <a:solidFill>
                  <a:schemeClr val="tx1"/>
                </a:solidFill>
              </a:rPr>
              <a:t>엑셀처럼 표에서 직접 고친 뒤, DB 에 저장하지 않고 바로 실행</a:t>
            </a:r>
            <a:r>
              <a:rPr lang="ko-KR" altLang="en-US" sz="1800" dirty="0">
                <a:solidFill>
                  <a:schemeClr val="tx1"/>
                </a:solidFill>
              </a:rPr>
              <a:t>해 보는 화면입니다.</a:t>
            </a:r>
            <a:endParaRPr lang="ko-KR" altLang="en-US" sz="1800" dirty="0"/>
          </a:p>
        </p:txBody>
      </p:sp>
      <p:sp>
        <p:nvSpPr>
          <p:cNvPr id="4" name="card"/>
          <p:cNvSpPr/>
          <p:nvPr/>
        </p:nvSpPr>
        <p:spPr>
          <a:xfrm>
            <a:off x="548640" y="2011680"/>
            <a:ext cx="2567864" cy="30175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icon-circle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con-LuPencil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4574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1546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편집</a:t>
            </a:r>
            <a:endParaRPr lang="ko-KR" alt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019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엑셀처럼 셀을 고치고 라인을 추가 · 복제 · 삭제 · 순서 변경. 수정한 칸은 표시되고 DB 원본 값을 확인할 수 있습니다.</a:t>
            </a:r>
            <a:endParaRPr lang="ko-KR" alt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390824" y="2011680"/>
            <a:ext cx="2567864" cy="30175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icon-circle"/>
          <p:cNvSpPr/>
          <p:nvPr/>
        </p:nvSpPr>
        <p:spPr>
          <a:xfrm>
            <a:off x="3665144" y="22860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con-LuZap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594" y="245745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65144" y="31546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실행</a:t>
            </a:r>
            <a:endParaRPr lang="ko-KR" alt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665144" y="3611880"/>
            <a:ext cx="2019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공사번호를 넣고 실행하면 라인마다 TRUE / FALSE / 미실행과 그 시점의 값이 표시됩니다. 실시간 실행을 켜면 고칠 때마다 자동 재실행.</a:t>
            </a:r>
            <a:endParaRPr lang="ko-KR" alt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233008" y="2011680"/>
            <a:ext cx="2567864" cy="30175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icon-circle"/>
          <p:cNvSpPr/>
          <p:nvPr/>
        </p:nvSpPr>
        <p:spPr>
          <a:xfrm>
            <a:off x="6507328" y="22860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con-LuFootprints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778" y="245745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07328" y="31546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추적</a:t>
            </a:r>
            <a:endParaRPr lang="ko-KR" alt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507328" y="3611880"/>
            <a:ext cx="2019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디버거처럼 한 단계씩 앞뒤로 이동하며 변수(resultMap)가 어디서 어떻게 바뀌는지 따라갑니다.</a:t>
            </a:r>
            <a:endParaRPr lang="ko-KR" alt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9075191" y="2011680"/>
            <a:ext cx="2567864" cy="30175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icon-circle"/>
          <p:cNvSpPr/>
          <p:nvPr/>
        </p:nvSpPr>
        <p:spPr>
          <a:xfrm>
            <a:off x="9349511" y="22860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con-LuFileDiff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0961" y="245745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49511" y="31546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정리</a:t>
            </a:r>
            <a:endParaRPr lang="ko-KR" alt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9349511" y="3611880"/>
            <a:ext cx="2019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변경 내역 탭에서 DB 원본 → 수정 내용을 정리해, PLM 에 옮겨 적을 때 참고합니다.</a:t>
            </a:r>
            <a:endParaRPr lang="ko-KR" altLang="en-US" sz="1400" dirty="0"/>
          </a:p>
        </p:txBody>
      </p:sp>
      <p:sp>
        <p:nvSpPr>
          <p:cNvPr id="24" name="note"/>
          <p:cNvSpPr/>
          <p:nvPr/>
        </p:nvSpPr>
        <p:spPr>
          <a:xfrm>
            <a:off x="548640" y="53035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46354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5303520"/>
            <a:ext cx="10134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수정한 로직은 이 화면에서 실행할 때만 사용되며 </a:t>
            </a:r>
            <a:r>
              <a:rPr lang="ko-KR" altLang="en-US" sz="1400" b="1" dirty="0">
                <a:solidFill>
                  <a:schemeClr val="tx1"/>
                </a:solidFill>
              </a:rPr>
              <a:t>DB 에는 저장되지 않습니다.</a:t>
            </a:r>
            <a:r>
              <a:rPr lang="ko-KR" altLang="en-US" sz="1400" dirty="0">
                <a:solidFill>
                  <a:schemeClr val="tx1"/>
                </a:solidFill>
              </a:rPr>
              <a:t> 실제 반영은 PLM 에서 진행합니다.</a:t>
            </a:r>
            <a:endParaRPr lang="ko-KR" alt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언제 어떤 화면을 쓰나요?</a:t>
            </a:r>
            <a:endParaRPr lang="ko-KR" alt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18608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icon-circle"/>
          <p:cNvSpPr/>
          <p:nvPr/>
        </p:nvSpPr>
        <p:spPr>
          <a:xfrm>
            <a:off x="914400" y="169164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con-LuScanSearch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91640"/>
            <a:ext cx="367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PID 실행 시뮬레이터</a:t>
            </a:r>
            <a:endParaRPr lang="ko-KR" alt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103120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5B6676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/pid/pidSimulView</a:t>
            </a:r>
            <a:endParaRPr lang="ko-KR" alt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88920"/>
            <a:ext cx="458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i="1" dirty="0">
                <a:solidFill>
                  <a:schemeClr val="tx2"/>
                </a:solidFill>
              </a:rPr>
              <a:t>"지금 DB 로직이 왜 이런 결과를 냈는가?"</a:t>
            </a:r>
            <a:endParaRPr lang="ko-KR" alt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749040"/>
            <a:ext cx="458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DB 에 등록된 로직 그대로 실행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PLM 실행 결과를 라인별로 확인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결과가 예상과 다를 때 원인 라인 찾기</a:t>
            </a:r>
            <a:endParaRPr lang="ko-KR" alt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324448" y="1371600"/>
            <a:ext cx="5318608" cy="4663440"/>
          </a:xfrm>
          <a:prstGeom prst="roundRect">
            <a:avLst>
              <a:gd name="adj" fmla="val 1569"/>
            </a:avLst>
          </a:prstGeom>
          <a:solidFill>
            <a:srgbClr val="ECFD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icon-circle"/>
          <p:cNvSpPr/>
          <p:nvPr/>
        </p:nvSpPr>
        <p:spPr>
          <a:xfrm>
            <a:off x="6690208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con-LuFlaskConical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088" y="18745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04608" y="1691640"/>
            <a:ext cx="367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PID 플레이그라운드</a:t>
            </a:r>
            <a:endParaRPr lang="ko-KR" alt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7604608" y="2103120"/>
            <a:ext cx="367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5B6676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/simulplay/pidSimulPlayGround</a:t>
            </a:r>
            <a:endParaRPr lang="ko-KR" alt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690208" y="2788920"/>
            <a:ext cx="458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i="1" dirty="0">
                <a:solidFill>
                  <a:srgbClr val="16A34A"/>
                </a:solidFill>
              </a:rPr>
              <a:t>"이렇게 고치면 결과가 어떻게 바뀌는가?"</a:t>
            </a:r>
            <a:endParaRPr lang="ko-KR" alt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690208" y="3749040"/>
            <a:ext cx="458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로직을 화면에서 직접 고쳐서 실행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DB 를 건드리지 않고 수정안을 미리 검증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단계별 디버거로 변수 변화 추적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화면 구성</a:t>
            </a:r>
            <a:endParaRPr lang="ko-KR" altLang="en-US" sz="3200" dirty="0"/>
          </a:p>
        </p:txBody>
      </p:sp>
      <p:sp>
        <p:nvSpPr>
          <p:cNvPr id="3" name="mock-frame"/>
          <p:cNvSpPr/>
          <p:nvPr/>
        </p:nvSpPr>
        <p:spPr>
          <a:xfrm>
            <a:off x="548640" y="1371600"/>
            <a:ext cx="60350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mock-bar"/>
          <p:cNvSpPr/>
          <p:nvPr/>
        </p:nvSpPr>
        <p:spPr>
          <a:xfrm>
            <a:off x="548640" y="1371600"/>
            <a:ext cx="6035040" cy="685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</a:rPr>
              <a:t>① PID 불러오기 → ② 실행 대상 → ▶ 실행</a:t>
            </a:r>
            <a:endParaRPr lang="ko-KR" altLang="en-US" sz="1300" dirty="0"/>
          </a:p>
        </p:txBody>
      </p:sp>
      <p:sp>
        <p:nvSpPr>
          <p:cNvPr id="6" name="mock-bar"/>
          <p:cNvSpPr/>
          <p:nvPr/>
        </p:nvSpPr>
        <p:spPr>
          <a:xfrm>
            <a:off x="548640" y="2057400"/>
            <a:ext cx="6035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5B6676"/>
                </a:solidFill>
              </a:rPr>
              <a:t>수정 현황 · SPEC/KEY 열 · 확대 · 되돌리기</a:t>
            </a:r>
            <a:endParaRPr lang="ko-KR" altLang="en-US" sz="1300" dirty="0"/>
          </a:p>
        </p:txBody>
      </p:sp>
      <p:sp>
        <p:nvSpPr>
          <p:cNvPr id="8" name="mock-row"/>
          <p:cNvSpPr/>
          <p:nvPr/>
        </p:nvSpPr>
        <p:spPr>
          <a:xfrm>
            <a:off x="685800" y="2606040"/>
            <a:ext cx="5760720" cy="201168"/>
          </a:xfrm>
          <a:prstGeom prst="rect">
            <a:avLst/>
          </a:prstGeom>
          <a:solidFill>
            <a:srgbClr val="E7F6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mock-row"/>
          <p:cNvSpPr/>
          <p:nvPr/>
        </p:nvSpPr>
        <p:spPr>
          <a:xfrm>
            <a:off x="685800" y="2834640"/>
            <a:ext cx="5760720" cy="201168"/>
          </a:xfrm>
          <a:prstGeom prst="rect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mock-row"/>
          <p:cNvSpPr/>
          <p:nvPr/>
        </p:nvSpPr>
        <p:spPr>
          <a:xfrm>
            <a:off x="685800" y="3063240"/>
            <a:ext cx="5760720" cy="20116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mock-row"/>
          <p:cNvSpPr/>
          <p:nvPr/>
        </p:nvSpPr>
        <p:spPr>
          <a:xfrm>
            <a:off x="685800" y="3291840"/>
            <a:ext cx="5760720" cy="201168"/>
          </a:xfrm>
          <a:prstGeom prst="rect">
            <a:avLst/>
          </a:prstGeom>
          <a:solidFill>
            <a:srgbClr val="E7F6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mock-row"/>
          <p:cNvSpPr/>
          <p:nvPr/>
        </p:nvSpPr>
        <p:spPr>
          <a:xfrm>
            <a:off x="685800" y="3520440"/>
            <a:ext cx="5760720" cy="201168"/>
          </a:xfrm>
          <a:prstGeom prst="rect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mock-row"/>
          <p:cNvSpPr/>
          <p:nvPr/>
        </p:nvSpPr>
        <p:spPr>
          <a:xfrm>
            <a:off x="685800" y="3749040"/>
            <a:ext cx="5760720" cy="201168"/>
          </a:xfrm>
          <a:prstGeom prst="rect">
            <a:avLst/>
          </a:prstGeom>
          <a:solidFill>
            <a:srgbClr val="E7F6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mock-row"/>
          <p:cNvSpPr/>
          <p:nvPr/>
        </p:nvSpPr>
        <p:spPr>
          <a:xfrm>
            <a:off x="685800" y="3977640"/>
            <a:ext cx="5760720" cy="20116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mock-cur"/>
          <p:cNvSpPr/>
          <p:nvPr/>
        </p:nvSpPr>
        <p:spPr>
          <a:xfrm>
            <a:off x="685800" y="3291840"/>
            <a:ext cx="5760720" cy="201168"/>
          </a:xfrm>
          <a:prstGeom prst="rect">
            <a:avLst/>
          </a:prstGeom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mock-resizer"/>
          <p:cNvSpPr/>
          <p:nvPr/>
        </p:nvSpPr>
        <p:spPr>
          <a:xfrm>
            <a:off x="548640" y="4251960"/>
            <a:ext cx="6035040" cy="73152"/>
          </a:xfrm>
          <a:prstGeom prst="rect">
            <a:avLst/>
          </a:prstGeom>
          <a:solidFill>
            <a:srgbClr val="D9DE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mock-panel-head"/>
          <p:cNvSpPr/>
          <p:nvPr/>
        </p:nvSpPr>
        <p:spPr>
          <a:xfrm>
            <a:off x="548640" y="4325112"/>
            <a:ext cx="60350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31520" y="43251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TRUE 42  FALSE 51  미실행 35   |◀ ◀ 단계 7/42 ▶ ▶|   ▾ 접기</a:t>
            </a:r>
            <a:endParaRPr lang="ko-KR" alt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7548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B6676"/>
                </a:solidFill>
              </a:rPr>
              <a:t>라인별 결과 · 라인 상세 · 변수 · 최종 OUTPUT …</a:t>
            </a:r>
            <a:endParaRPr lang="ko-KR" altLang="en-US" sz="1200" dirty="0"/>
          </a:p>
        </p:txBody>
      </p:sp>
      <p:sp>
        <p:nvSpPr>
          <p:cNvPr id="20" name="mock-row"/>
          <p:cNvSpPr/>
          <p:nvPr/>
        </p:nvSpPr>
        <p:spPr>
          <a:xfrm>
            <a:off x="685800" y="5166360"/>
            <a:ext cx="5760720" cy="201168"/>
          </a:xfrm>
          <a:prstGeom prst="rect">
            <a:avLst/>
          </a:prstGeom>
          <a:solidFill>
            <a:srgbClr val="E7F6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mock-row"/>
          <p:cNvSpPr/>
          <p:nvPr/>
        </p:nvSpPr>
        <p:spPr>
          <a:xfrm>
            <a:off x="685800" y="5422392"/>
            <a:ext cx="5760720" cy="201168"/>
          </a:xfrm>
          <a:prstGeom prst="rect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mock-row"/>
          <p:cNvSpPr/>
          <p:nvPr/>
        </p:nvSpPr>
        <p:spPr>
          <a:xfrm>
            <a:off x="685800" y="5678424"/>
            <a:ext cx="5760720" cy="201168"/>
          </a:xfrm>
          <a:prstGeom prst="rect">
            <a:avLst/>
          </a:prstGeom>
          <a:solidFill>
            <a:srgbClr val="E7F6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num-1"/>
          <p:cNvSpPr/>
          <p:nvPr/>
        </p:nvSpPr>
        <p:spPr>
          <a:xfrm>
            <a:off x="6080760" y="1527048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080760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1</a:t>
            </a:r>
            <a:endParaRPr lang="ko-KR" altLang="en-US" sz="1000" dirty="0"/>
          </a:p>
        </p:txBody>
      </p:sp>
      <p:sp>
        <p:nvSpPr>
          <p:cNvPr id="25" name="num-2"/>
          <p:cNvSpPr/>
          <p:nvPr/>
        </p:nvSpPr>
        <p:spPr>
          <a:xfrm>
            <a:off x="6080760" y="2075688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08076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2</a:t>
            </a:r>
            <a:endParaRPr lang="ko-KR" altLang="en-US" sz="1000" dirty="0"/>
          </a:p>
        </p:txBody>
      </p:sp>
      <p:sp>
        <p:nvSpPr>
          <p:cNvPr id="27" name="num-3"/>
          <p:cNvSpPr/>
          <p:nvPr/>
        </p:nvSpPr>
        <p:spPr>
          <a:xfrm>
            <a:off x="6080760" y="310896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0807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3</a:t>
            </a:r>
            <a:endParaRPr lang="ko-KR" altLang="en-US" sz="1000" dirty="0"/>
          </a:p>
        </p:txBody>
      </p:sp>
      <p:sp>
        <p:nvSpPr>
          <p:cNvPr id="29" name="num-4"/>
          <p:cNvSpPr/>
          <p:nvPr/>
        </p:nvSpPr>
        <p:spPr>
          <a:xfrm>
            <a:off x="6080760" y="493776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08076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4</a:t>
            </a:r>
            <a:endParaRPr lang="ko-KR" altLang="en-US" sz="1000" dirty="0"/>
          </a:p>
        </p:txBody>
      </p:sp>
      <p:sp>
        <p:nvSpPr>
          <p:cNvPr id="31" name="num-1"/>
          <p:cNvSpPr/>
          <p:nvPr/>
        </p:nvSpPr>
        <p:spPr>
          <a:xfrm>
            <a:off x="7040880" y="13716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0408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1371600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헤더</a:t>
            </a:r>
            <a:endParaRPr lang="ko-KR" alt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1783080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PID · 버전 선택 → 불러오기, 공사번호 입력 → 실행. 실시간 실행 스위치와 PID 정보</a:t>
            </a:r>
            <a:endParaRPr lang="ko-KR" altLang="en-US" sz="1400" dirty="0"/>
          </a:p>
        </p:txBody>
      </p:sp>
      <p:sp>
        <p:nvSpPr>
          <p:cNvPr id="35" name="num-2"/>
          <p:cNvSpPr/>
          <p:nvPr/>
        </p:nvSpPr>
        <p:spPr>
          <a:xfrm>
            <a:off x="7040880" y="2560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70408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680960" y="2560320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편집 도구 줄</a:t>
            </a:r>
            <a:endParaRPr lang="ko-KR" alt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7680960" y="2971800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수정 현황 표시, 열 추가, 확대/축소, DB 원본으로 되돌리기, 범례 · 단축키</a:t>
            </a:r>
            <a:endParaRPr lang="ko-KR" altLang="en-US" sz="1400" dirty="0"/>
          </a:p>
        </p:txBody>
      </p:sp>
      <p:sp>
        <p:nvSpPr>
          <p:cNvPr id="39" name="num-3"/>
          <p:cNvSpPr/>
          <p:nvPr/>
        </p:nvSpPr>
        <p:spPr>
          <a:xfrm>
            <a:off x="7040880" y="37490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70408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680960" y="3749040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편집 표</a:t>
            </a:r>
            <a:endParaRPr lang="ko-KR" alt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7680960" y="4160520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불러온 PID 로직. 직접 수정 가능하며 실행 결과 색 · 단계 · OUTPUT 이 함께 표시</a:t>
            </a:r>
            <a:endParaRPr lang="ko-KR" altLang="en-US" sz="1400" dirty="0"/>
          </a:p>
        </p:txBody>
      </p:sp>
      <p:sp>
        <p:nvSpPr>
          <p:cNvPr id="43" name="num-4"/>
          <p:cNvSpPr/>
          <p:nvPr/>
        </p:nvSpPr>
        <p:spPr>
          <a:xfrm>
            <a:off x="7040880" y="49377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70408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680960" y="4937760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디버그 패널</a:t>
            </a:r>
            <a:endParaRPr lang="ko-KR" alt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7680960" y="5349240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실행 결과를 탭으로 확인. 경계선을 끌어 높이 조절, ▾ 접기로 머리줄만 남기기</a:t>
            </a:r>
            <a:endParaRPr lang="ko-KR" alt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기본 사용 순서</a:t>
            </a:r>
            <a:endParaRPr lang="ko-KR" altLang="en-US" sz="3200" dirty="0"/>
          </a:p>
        </p:txBody>
      </p:sp>
      <p:sp>
        <p:nvSpPr>
          <p:cNvPr id="3" name="card"/>
          <p:cNvSpPr/>
          <p:nvPr/>
        </p:nvSpPr>
        <p:spPr>
          <a:xfrm>
            <a:off x="658368" y="1737360"/>
            <a:ext cx="1999427" cy="35661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icon-circle"/>
          <p:cNvSpPr/>
          <p:nvPr/>
        </p:nvSpPr>
        <p:spPr>
          <a:xfrm>
            <a:off x="1200882" y="2057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con-LuDownloa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482" y="2286000"/>
            <a:ext cx="457200" cy="457200"/>
          </a:xfrm>
          <a:prstGeom prst="rect">
            <a:avLst/>
          </a:prstGeom>
        </p:spPr>
      </p:pic>
      <p:sp>
        <p:nvSpPr>
          <p:cNvPr id="6" name="num-1"/>
          <p:cNvSpPr/>
          <p:nvPr/>
        </p:nvSpPr>
        <p:spPr>
          <a:xfrm>
            <a:off x="1859250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185925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1</a:t>
            </a:r>
            <a:endParaRPr lang="ko-KR" alt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PID 불러오기</a:t>
            </a:r>
            <a:endParaRPr lang="ko-KR" alt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49040"/>
            <a:ext cx="16702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PID 입력, 버전 선택(기본 최신) 후 [불러오기]</a:t>
            </a:r>
            <a:endParaRPr lang="ko-KR" altLang="en-US" sz="1400" dirty="0"/>
          </a:p>
        </p:txBody>
      </p:sp>
      <p:sp>
        <p:nvSpPr>
          <p:cNvPr id="10" name="flow-arrow"/>
          <p:cNvSpPr/>
          <p:nvPr/>
        </p:nvSpPr>
        <p:spPr>
          <a:xfrm>
            <a:off x="2676083" y="25146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card"/>
          <p:cNvSpPr/>
          <p:nvPr/>
        </p:nvSpPr>
        <p:spPr>
          <a:xfrm>
            <a:off x="2877251" y="1737360"/>
            <a:ext cx="1999427" cy="35661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icon-circle"/>
          <p:cNvSpPr/>
          <p:nvPr/>
        </p:nvSpPr>
        <p:spPr>
          <a:xfrm>
            <a:off x="3419765" y="2057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con-LuPencil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365" y="2286000"/>
            <a:ext cx="457200" cy="457200"/>
          </a:xfrm>
          <a:prstGeom prst="rect">
            <a:avLst/>
          </a:prstGeom>
        </p:spPr>
      </p:pic>
      <p:sp>
        <p:nvSpPr>
          <p:cNvPr id="14" name="num-2"/>
          <p:cNvSpPr/>
          <p:nvPr/>
        </p:nvSpPr>
        <p:spPr>
          <a:xfrm>
            <a:off x="4078133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4078133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2</a:t>
            </a:r>
            <a:endParaRPr lang="ko-KR" alt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041843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수정</a:t>
            </a:r>
            <a:endParaRPr lang="ko-KR" alt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3041843" y="3749040"/>
            <a:ext cx="16702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편집 표에서 SPEC / CON / KEY / VAL 등을 고침 (생략 가능)</a:t>
            </a:r>
            <a:endParaRPr lang="ko-KR" altLang="en-US" sz="1400" dirty="0"/>
          </a:p>
        </p:txBody>
      </p:sp>
      <p:sp>
        <p:nvSpPr>
          <p:cNvPr id="18" name="flow-arrow"/>
          <p:cNvSpPr/>
          <p:nvPr/>
        </p:nvSpPr>
        <p:spPr>
          <a:xfrm>
            <a:off x="4894966" y="25146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card"/>
          <p:cNvSpPr/>
          <p:nvPr/>
        </p:nvSpPr>
        <p:spPr>
          <a:xfrm>
            <a:off x="5096134" y="1737360"/>
            <a:ext cx="1999427" cy="35661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icon-circle"/>
          <p:cNvSpPr/>
          <p:nvPr/>
        </p:nvSpPr>
        <p:spPr>
          <a:xfrm>
            <a:off x="5638648" y="2057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con-LuPlay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248" y="2286000"/>
            <a:ext cx="457200" cy="457200"/>
          </a:xfrm>
          <a:prstGeom prst="rect">
            <a:avLst/>
          </a:prstGeom>
        </p:spPr>
      </p:pic>
      <p:sp>
        <p:nvSpPr>
          <p:cNvPr id="22" name="num-3"/>
          <p:cNvSpPr/>
          <p:nvPr/>
        </p:nvSpPr>
        <p:spPr>
          <a:xfrm>
            <a:off x="6297016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6297016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3</a:t>
            </a:r>
            <a:endParaRPr lang="ko-KR" alt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5260726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실행</a:t>
            </a:r>
            <a:endParaRPr lang="ko-KR" alt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5260726" y="3749040"/>
            <a:ext cx="16702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공사번호 입력 후 [실행] 또는 Ctrl+Enter</a:t>
            </a:r>
            <a:endParaRPr lang="ko-KR" altLang="en-US" sz="1400" dirty="0"/>
          </a:p>
        </p:txBody>
      </p:sp>
      <p:sp>
        <p:nvSpPr>
          <p:cNvPr id="26" name="flow-arrow"/>
          <p:cNvSpPr/>
          <p:nvPr/>
        </p:nvSpPr>
        <p:spPr>
          <a:xfrm>
            <a:off x="7113849" y="25146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card"/>
          <p:cNvSpPr/>
          <p:nvPr/>
        </p:nvSpPr>
        <p:spPr>
          <a:xfrm>
            <a:off x="7315017" y="1737360"/>
            <a:ext cx="1999427" cy="35661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icon-circle"/>
          <p:cNvSpPr/>
          <p:nvPr/>
        </p:nvSpPr>
        <p:spPr>
          <a:xfrm>
            <a:off x="7857531" y="2057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con-LuFootprints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131" y="2286000"/>
            <a:ext cx="457200" cy="457200"/>
          </a:xfrm>
          <a:prstGeom prst="rect">
            <a:avLst/>
          </a:prstGeom>
        </p:spPr>
      </p:pic>
      <p:sp>
        <p:nvSpPr>
          <p:cNvPr id="30" name="num-4"/>
          <p:cNvSpPr/>
          <p:nvPr/>
        </p:nvSpPr>
        <p:spPr>
          <a:xfrm>
            <a:off x="8515899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 txBox="1"/>
          <p:nvPr/>
        </p:nvSpPr>
        <p:spPr>
          <a:xfrm>
            <a:off x="8515899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4</a:t>
            </a:r>
            <a:endParaRPr lang="ko-KR" alt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7479609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확인</a:t>
            </a:r>
            <a:endParaRPr lang="ko-KR" altLang="en-US" sz="2000" dirty="0"/>
          </a:p>
        </p:txBody>
      </p:sp>
      <p:sp>
        <p:nvSpPr>
          <p:cNvPr id="33" name="Text 27"/>
          <p:cNvSpPr txBox="1"/>
          <p:nvPr/>
        </p:nvSpPr>
        <p:spPr>
          <a:xfrm>
            <a:off x="7479609" y="3749040"/>
            <a:ext cx="16702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표 색과 디버그 패널로 결과 확인, F10 으로 단계 추적</a:t>
            </a:r>
            <a:endParaRPr lang="ko-KR" altLang="en-US" sz="1400" dirty="0"/>
          </a:p>
        </p:txBody>
      </p:sp>
      <p:sp>
        <p:nvSpPr>
          <p:cNvPr id="34" name="flow-arrow"/>
          <p:cNvSpPr/>
          <p:nvPr/>
        </p:nvSpPr>
        <p:spPr>
          <a:xfrm>
            <a:off x="9332732" y="25146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card"/>
          <p:cNvSpPr/>
          <p:nvPr/>
        </p:nvSpPr>
        <p:spPr>
          <a:xfrm>
            <a:off x="9533900" y="1737360"/>
            <a:ext cx="1999427" cy="356616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icon-circle"/>
          <p:cNvSpPr/>
          <p:nvPr/>
        </p:nvSpPr>
        <p:spPr>
          <a:xfrm>
            <a:off x="10076414" y="205740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con-LuFileDiff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5014" y="2286000"/>
            <a:ext cx="457200" cy="457200"/>
          </a:xfrm>
          <a:prstGeom prst="rect">
            <a:avLst/>
          </a:prstGeom>
        </p:spPr>
      </p:pic>
      <p:sp>
        <p:nvSpPr>
          <p:cNvPr id="38" name="num-5"/>
          <p:cNvSpPr/>
          <p:nvPr/>
        </p:nvSpPr>
        <p:spPr>
          <a:xfrm>
            <a:off x="10734782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2"/>
          <p:cNvSpPr txBox="1"/>
          <p:nvPr/>
        </p:nvSpPr>
        <p:spPr>
          <a:xfrm>
            <a:off x="1073478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chemeClr val="bg1"/>
                </a:solidFill>
              </a:rPr>
              <a:t>5</a:t>
            </a:r>
            <a:endParaRPr lang="ko-KR" alt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9698492" y="320040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반영 (선택)</a:t>
            </a:r>
            <a:endParaRPr lang="ko-KR" altLang="en-US" sz="2000" dirty="0"/>
          </a:p>
        </p:txBody>
      </p:sp>
      <p:sp>
        <p:nvSpPr>
          <p:cNvPr id="41" name="Text 34"/>
          <p:cNvSpPr txBox="1"/>
          <p:nvPr/>
        </p:nvSpPr>
        <p:spPr>
          <a:xfrm>
            <a:off x="9698492" y="3749040"/>
            <a:ext cx="16702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변경 내역 탭을 참고해 PLM 에서 실제 반영</a:t>
            </a:r>
            <a:endParaRPr lang="ko-KR" altLang="en-US" sz="1400" dirty="0"/>
          </a:p>
        </p:txBody>
      </p:sp>
      <p:sp>
        <p:nvSpPr>
          <p:cNvPr id="42" name="note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646420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325880" y="5532120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실시간 실행</a:t>
            </a:r>
            <a:r>
              <a:rPr lang="ko-KR" altLang="en-US" sz="1400" dirty="0">
                <a:solidFill>
                  <a:schemeClr val="tx1"/>
                </a:solidFill>
              </a:rPr>
              <a:t> 을 켜 두면 3 → 4 단계가 자동입니다. 표를 고칠 때마다 0.8초 뒤 다시 실행됩니다.</a:t>
            </a:r>
            <a:endParaRPr lang="ko-KR" alt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con-LuPlay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948940"/>
            <a:ext cx="502920" cy="50292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불러오기 · 실행</a:t>
            </a:r>
            <a:endParaRPr lang="ko-KR" altLang="en-US" sz="4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2011680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CBD5E1"/>
                </a:solidFill>
              </a:rPr>
              <a:t>PID 를 불러오고 공사번호로 실행하기</a:t>
            </a:r>
            <a:endParaRPr lang="ko-KR" alt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357055" y="548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6000" b="1" dirty="0">
                <a:solidFill>
                  <a:srgbClr val="475569"/>
                </a:solidFill>
              </a:rPr>
              <a:t>01</a:t>
            </a:r>
            <a:endParaRPr lang="ko-KR" alt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① PID 불러오기 · ② 실행 대상</a:t>
            </a:r>
            <a:endParaRPr lang="ko-KR" altLang="en-US" sz="3200" dirty="0"/>
          </a:p>
        </p:txBody>
      </p:sp>
      <p:sp>
        <p:nvSpPr>
          <p:cNvPr id="3" name="num-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258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PID 불러오기</a:t>
            </a:r>
            <a:endParaRPr lang="ko-KR" alt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364328" cy="1828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PID *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예: </a:t>
                      </a:r>
                      <a:r>
                        <a:rPr lang="ko-KR" alt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7"/>
                          <a:cs typeface="Consolas" pitchFamily="34" charset="-120"/>
                        </a:rPr>
                        <a:t>D375A</a:t>
                      </a: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. 입력하면 버전 목록이 자동 갱신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버전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최신(기본) · TEST · vN · 등록일 중 선택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불러오기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DB 에서 로직을 읽어 편집 표에 표시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886200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층별 PID</a:t>
            </a:r>
            <a:r>
              <a:rPr lang="ko-KR" altLang="en-US" sz="1400" dirty="0">
                <a:solidFill>
                  <a:schemeClr val="tx1"/>
                </a:solidFill>
              </a:rPr>
              <a:t> 태그 → 추가 조건의 층(FLOOR_NAME) 입력 가능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JAVA</a:t>
            </a:r>
            <a:r>
              <a:rPr lang="ko-KR" altLang="en-US" sz="1400" dirty="0">
                <a:solidFill>
                  <a:schemeClr val="tx1"/>
                </a:solidFill>
              </a:rPr>
              <a:t> 태그 → 편집 불가, 실행 결과만 확인</a:t>
            </a:r>
            <a:endParaRPr lang="ko-KR" altLang="en-US" sz="1400" dirty="0"/>
          </a:p>
        </p:txBody>
      </p:sp>
      <p:sp>
        <p:nvSpPr>
          <p:cNvPr id="6" name="num-2"/>
          <p:cNvSpPr/>
          <p:nvPr/>
        </p:nvSpPr>
        <p:spPr>
          <a:xfrm>
            <a:off x="6278728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627872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73088" y="13258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실행 대상</a:t>
            </a:r>
            <a:endParaRPr lang="ko-KR" altLang="en-US" sz="2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920240"/>
          <a:ext cx="5364328" cy="1899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공사번호 *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공사번호(</a:t>
                      </a:r>
                      <a:r>
                        <a:rPr lang="ko-KR" alt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7"/>
                          <a:cs typeface="Consolas" pitchFamily="34" charset="-120"/>
                        </a:rPr>
                        <a:t>206663L01</a:t>
                      </a: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) 또는 공사정보 ouid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층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추가 조건에서 입력. 층별 PID 일 때만 가능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전처리 PID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먼저 돌릴 PID. 쉼표로 여러 개 (</a:t>
                      </a:r>
                      <a:r>
                        <a:rPr lang="ko-KR" alt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7"/>
                          <a:cs typeface="Consolas" pitchFamily="34" charset="-120"/>
                        </a:rPr>
                        <a:t>EL_P001, EL_P002</a:t>
                      </a: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)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note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263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5120640"/>
            <a:ext cx="10134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CALL 로 호출되는 하위 PID 와 전처리 PID 는 항상 </a:t>
            </a:r>
            <a:r>
              <a:rPr lang="ko-KR" altLang="en-US" sz="1400" b="1" dirty="0">
                <a:solidFill>
                  <a:schemeClr val="tx1"/>
                </a:solidFill>
              </a:rPr>
              <a:t>최신 버전(DB 원본)</a:t>
            </a:r>
            <a:r>
              <a:rPr lang="ko-KR" altLang="en-US" sz="1400" dirty="0">
                <a:solidFill>
                  <a:schemeClr val="tx1"/>
                </a:solidFill>
              </a:rPr>
              <a:t>으로 실행됩니다. 수정본은 </a:t>
            </a:r>
            <a:r>
              <a:rPr lang="ko-KR" altLang="en-US" sz="1400" b="1" dirty="0">
                <a:solidFill>
                  <a:schemeClr val="tx1"/>
                </a:solidFill>
              </a:rPr>
              <a:t>불러온 PID 에만</a:t>
            </a:r>
            <a:r>
              <a:rPr lang="ko-KR" altLang="en-US" sz="1400" dirty="0">
                <a:solidFill>
                  <a:schemeClr val="tx1"/>
                </a:solidFill>
              </a:rPr>
              <a:t> 적용됩니다.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실행 · 실시간 실행 · 주소 공유</a:t>
            </a:r>
            <a:endParaRPr lang="ko-KR" alt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1525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icon-circle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con-LuPlay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2280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▶ 실행</a:t>
            </a:r>
            <a:endParaRPr lang="ko-KR" alt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지금 편집 표의 내용(수정본)으로 실행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PID 를 불러온 뒤에만 활성화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단축키 Ctrl+Enter</a:t>
            </a:r>
            <a:endParaRPr lang="ko-KR" alt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38218" y="1371600"/>
            <a:ext cx="351525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icon-circle"/>
          <p:cNvSpPr/>
          <p:nvPr/>
        </p:nvSpPr>
        <p:spPr>
          <a:xfrm>
            <a:off x="4612538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con-LuZap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558" y="18059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89778" y="1645920"/>
            <a:ext cx="2280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실시간 실행</a:t>
            </a:r>
            <a:endParaRPr lang="ko-KR" alt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51460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켜 두면 표를 고칠 때마다 0.8초 뒤 자동 재실행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셀 입력 중에는 기다렸다가 실행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기본 켜짐, 설정은 브라우저에 기억</a:t>
            </a:r>
            <a:endParaRPr lang="ko-KR" alt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27797" y="1371600"/>
            <a:ext cx="351525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icon-circle"/>
          <p:cNvSpPr/>
          <p:nvPr/>
        </p:nvSpPr>
        <p:spPr>
          <a:xfrm>
            <a:off x="8402117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con-LuShare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137" y="18059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79357" y="1645920"/>
            <a:ext cx="2280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주소로 공유</a:t>
            </a:r>
            <a:endParaRPr lang="ko-KR" alt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51460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실행하면 주소창에 PID · 버전 · 공사번호 반영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주소를 열면 바로 불러와 실행</a:t>
            </a:r>
            <a:endParaRPr lang="ko-KR" alt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수정 내용은 주소에 포함되지 않음</a:t>
            </a:r>
            <a:endParaRPr lang="ko-KR" alt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b="1" dirty="0">
                <a:solidFill>
                  <a:schemeClr val="tx2"/>
                </a:solidFill>
              </a:rPr>
              <a:t>공유 주소 예시</a:t>
            </a:r>
            <a:endParaRPr lang="ko-KR" altLang="en-US" sz="1400" dirty="0"/>
          </a:p>
        </p:txBody>
      </p:sp>
      <p:sp>
        <p:nvSpPr>
          <p:cNvPr id="19" name="code-box"/>
          <p:cNvSpPr/>
          <p:nvPr/>
        </p:nvSpPr>
        <p:spPr>
          <a:xfrm>
            <a:off x="548640" y="5120640"/>
            <a:ext cx="11094415" cy="594360"/>
          </a:xfrm>
          <a:prstGeom prst="roundRect">
            <a:avLst>
              <a:gd name="adj" fmla="val 9231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731520" y="512064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/simulplay/pidSimulPlayGround?pid=D375A&amp;version=12&amp;project=206663L01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con-LuTabl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948940"/>
            <a:ext cx="502920" cy="50292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편집 표</a:t>
            </a:r>
            <a:endParaRPr lang="ko-KR" altLang="en-US" sz="4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2011680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CBD5E1"/>
                </a:solidFill>
              </a:rPr>
              <a:t>엑셀처럼 PID 로직을 고치고 결과를 같은 표에서 보기</a:t>
            </a:r>
            <a:endParaRPr lang="ko-KR" alt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357055" y="548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6000" b="1" dirty="0">
                <a:solidFill>
                  <a:srgbClr val="475569"/>
                </a:solidFill>
              </a:rPr>
              <a:t>02</a:t>
            </a:r>
            <a:endParaRPr lang="ko-KR" alt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편집 표 컬럼</a:t>
            </a:r>
            <a:endParaRPr lang="ko-KR" alt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80" cy="3950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편집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단계·결과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400" b="1" dirty="0">
                          <a:solidFill>
                            <a:srgbClr val="5B6676"/>
                          </a:solidFill>
                        </a:rPr>
                        <a:t>-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단계번호. TRUE / FALSE, 미실행은 </a:t>
                      </a:r>
                      <a:r>
                        <a:rPr lang="ko-KR" alt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7"/>
                          <a:cs typeface="Consolas" pitchFamily="34" charset="-120"/>
                        </a:rPr>
                        <a:t>-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400" b="1" dirty="0">
                          <a:solidFill>
                            <a:srgbClr val="5B6676"/>
                          </a:solidFill>
                        </a:rPr>
                        <a:t>-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DB 라인 번호 (새로 추가한 라인은 비어 있음)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ADDR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400" b="1" dirty="0">
                          <a:solidFill>
                            <a:srgbClr val="16A34A"/>
                          </a:solidFill>
                        </a:rPr>
                        <a:t>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라인 주소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SPECn / CONn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400" b="1" dirty="0">
                          <a:solidFill>
                            <a:srgbClr val="16A34A"/>
                          </a:solidFill>
                        </a:rPr>
                        <a:t>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조건. 기본 3쌍, 최대 30쌍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KEYn / VALn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400" b="1" dirty="0">
                          <a:solidFill>
                            <a:srgbClr val="16A34A"/>
                          </a:solidFill>
                        </a:rPr>
                        <a:t>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결과. 기본 2쌍, 최대 20쌍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GOTO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400" b="1" dirty="0">
                          <a:solidFill>
                            <a:srgbClr val="16A34A"/>
                          </a:solidFill>
                        </a:rPr>
                        <a:t>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이동할 ADDR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REMARKS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400" b="1" dirty="0">
                          <a:solidFill>
                            <a:srgbClr val="16A34A"/>
                          </a:solidFill>
                        </a:rPr>
                        <a:t>O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비고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OUTPUT (실행 결과)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400" b="1" dirty="0">
                          <a:solidFill>
                            <a:srgbClr val="5B6676"/>
                          </a:solidFill>
                        </a:rPr>
                        <a:t>-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그 라인에서 계산된 출력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8412480" y="1371600"/>
            <a:ext cx="3230575" cy="43891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icon-circle"/>
          <p:cNvSpPr/>
          <p:nvPr/>
        </p:nvSpPr>
        <p:spPr>
          <a:xfrm>
            <a:off x="8686800" y="16459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con-LuPi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7830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372600" y="1645920"/>
            <a:ext cx="2041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왼쪽 고정</a:t>
            </a:r>
            <a:endParaRPr lang="ko-KR" alt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331720"/>
            <a:ext cx="2681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단계·결과 · NO · ADDR 은 가로로 스크롤해도 항상 보입니다.</a:t>
            </a:r>
            <a:endParaRPr lang="ko-KR" altLang="en-US" sz="1400" dirty="0"/>
          </a:p>
        </p:txBody>
      </p:sp>
      <p:sp>
        <p:nvSpPr>
          <p:cNvPr id="9" name="icon-circle"/>
          <p:cNvSpPr/>
          <p:nvPr/>
        </p:nvSpPr>
        <p:spPr>
          <a:xfrm>
            <a:off x="8686800" y="34290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con-LuCircleSlash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3566160"/>
            <a:ext cx="274320" cy="274320"/>
          </a:xfrm>
          <a:prstGeom prst="rect">
            <a:avLst/>
          </a:prstGeom>
        </p:spPr>
      </p:pic>
      <p:sp>
        <p:nvSpPr>
          <p:cNvPr id="3" name="Text 6"/>
          <p:cNvSpPr txBox="1"/>
          <p:nvPr/>
        </p:nvSpPr>
        <p:spPr>
          <a:xfrm>
            <a:off x="9372600" y="3429000"/>
            <a:ext cx="2041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빈 칸 = NULL</a:t>
            </a:r>
            <a:endParaRPr lang="ko-KR" alt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8686800" y="4114800"/>
            <a:ext cx="2681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빈 칸은 DB 의 NULL 과 같게 취급합니다.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편집 방법</a:t>
            </a:r>
            <a:endParaRPr lang="ko-KR" alt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icon-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con-LuPencil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4592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값 수정</a:t>
            </a:r>
            <a:endParaRPr lang="ko-KR" alt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셀 더블클릭 또는 바로 입력. 엑셀에서 복사 · 붙여넣기</a:t>
            </a:r>
            <a:endParaRPr lang="ko-KR" alt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90824" y="137160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icon-circle"/>
          <p:cNvSpPr/>
          <p:nvPr/>
        </p:nvSpPr>
        <p:spPr>
          <a:xfrm>
            <a:off x="3665144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con-LuListPlus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304" y="1783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50944" y="164592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라인 추가</a:t>
            </a:r>
            <a:endParaRPr lang="ko-KR" alt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233172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오른쪽 클릭 → 위/아래에 라인 추가, 또는 맨 아래 빈 줄에 입력</a:t>
            </a:r>
            <a:endParaRPr lang="ko-KR" alt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233008" y="137160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icon-circle"/>
          <p:cNvSpPr/>
          <p:nvPr/>
        </p:nvSpPr>
        <p:spPr>
          <a:xfrm>
            <a:off x="6507328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con-LuCopy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488" y="17830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93128" y="164592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라인 복제</a:t>
            </a:r>
            <a:endParaRPr lang="ko-KR" alt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233172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오른쪽 클릭 → 라인 복제 (아래에)</a:t>
            </a:r>
            <a:endParaRPr lang="ko-KR" alt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9075191" y="137160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icon-circle"/>
          <p:cNvSpPr/>
          <p:nvPr/>
        </p:nvSpPr>
        <p:spPr>
          <a:xfrm>
            <a:off x="9349511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con-LuTrash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671" y="17830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035311" y="164592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라인 삭제</a:t>
            </a:r>
            <a:endParaRPr lang="ko-KR" alt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233172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오른쪽 클릭 → 라인 삭제</a:t>
            </a:r>
            <a:endParaRPr lang="ko-KR" alt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37490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icon-circle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con-LuGripVertical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16052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402336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순서 변경</a:t>
            </a:r>
            <a:endParaRPr lang="ko-KR" alt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470916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왼쪽 행 번호를 끌어서 이동</a:t>
            </a:r>
            <a:endParaRPr lang="ko-KR" alt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3390824" y="37490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icon-circle"/>
          <p:cNvSpPr/>
          <p:nvPr/>
        </p:nvSpPr>
        <p:spPr>
          <a:xfrm>
            <a:off x="3665144" y="4023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con-LuUndo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2304" y="416052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350944" y="402336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되돌리기</a:t>
            </a:r>
            <a:endParaRPr lang="ko-KR" alt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3665144" y="470916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Ctrl+Z 되돌리기 · Ctrl+Y 다시 실행</a:t>
            </a:r>
            <a:endParaRPr lang="ko-KR" alt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6233008" y="37490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icon-circle"/>
          <p:cNvSpPr/>
          <p:nvPr/>
        </p:nvSpPr>
        <p:spPr>
          <a:xfrm>
            <a:off x="6507328" y="4023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con-LuColumns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4488" y="416052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193128" y="402336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열 추가</a:t>
            </a:r>
            <a:endParaRPr lang="ko-KR" alt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6507328" y="470916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편집 도구 줄의 + SPEC 열 / + KEY 열</a:t>
            </a:r>
            <a:endParaRPr lang="ko-KR" altLang="en-US" sz="1400" dirty="0"/>
          </a:p>
        </p:txBody>
      </p:sp>
      <p:sp>
        <p:nvSpPr>
          <p:cNvPr id="38" name="card"/>
          <p:cNvSpPr/>
          <p:nvPr/>
        </p:nvSpPr>
        <p:spPr>
          <a:xfrm>
            <a:off x="9075191" y="37490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icon-circle"/>
          <p:cNvSpPr/>
          <p:nvPr/>
        </p:nvSpPr>
        <p:spPr>
          <a:xfrm>
            <a:off x="9349511" y="4023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con-LuMoveHorizontal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6671" y="4160520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035311" y="4023360"/>
            <a:ext cx="1424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열 너비</a:t>
            </a:r>
            <a:endParaRPr lang="ko-KR" altLang="en-US" sz="1800" dirty="0"/>
          </a:p>
        </p:txBody>
      </p:sp>
      <p:sp>
        <p:nvSpPr>
          <p:cNvPr id="42" name="Text 32"/>
          <p:cNvSpPr txBox="1"/>
          <p:nvPr/>
        </p:nvSpPr>
        <p:spPr>
          <a:xfrm>
            <a:off x="9349511" y="470916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헤더 경계를 끌어서 조절</a:t>
            </a:r>
            <a:endParaRPr lang="ko-KR" alt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색 · 표시 읽는 법</a:t>
            </a:r>
            <a:endParaRPr lang="ko-KR" altLang="en-US" sz="3200" dirty="0"/>
          </a:p>
        </p:txBody>
      </p:sp>
      <p:sp>
        <p:nvSpPr>
          <p:cNvPr id="3" name="swatch"/>
          <p:cNvSpPr/>
          <p:nvPr/>
        </p:nvSpPr>
        <p:spPr>
          <a:xfrm>
            <a:off x="548640" y="1389888"/>
            <a:ext cx="731520" cy="365760"/>
          </a:xfrm>
          <a:prstGeom prst="rect">
            <a:avLst/>
          </a:prstGeom>
          <a:solidFill>
            <a:srgbClr val="E7F6EC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463040" y="132588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TRUE 행</a:t>
            </a:r>
            <a:endParaRPr lang="ko-KR" alt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32588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조건을 만족해 실행된 라인</a:t>
            </a:r>
            <a:endParaRPr lang="ko-KR" altLang="en-US" sz="1400" dirty="0"/>
          </a:p>
        </p:txBody>
      </p:sp>
      <p:sp>
        <p:nvSpPr>
          <p:cNvPr id="6" name="swatch"/>
          <p:cNvSpPr/>
          <p:nvPr/>
        </p:nvSpPr>
        <p:spPr>
          <a:xfrm>
            <a:off x="548640" y="1911096"/>
            <a:ext cx="731520" cy="365760"/>
          </a:xfrm>
          <a:prstGeom prst="rect">
            <a:avLst/>
          </a:prstGeom>
          <a:solidFill>
            <a:srgbClr val="FDECEC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463040" y="184708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FALSE 행</a:t>
            </a:r>
            <a:endParaRPr lang="ko-KR" alt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84708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실행했지만 조건 불만족</a:t>
            </a:r>
            <a:endParaRPr lang="ko-KR" altLang="en-US" sz="1400" dirty="0"/>
          </a:p>
        </p:txBody>
      </p:sp>
      <p:sp>
        <p:nvSpPr>
          <p:cNvPr id="9" name="swatch"/>
          <p:cNvSpPr/>
          <p:nvPr/>
        </p:nvSpPr>
        <p:spPr>
          <a:xfrm>
            <a:off x="548640" y="2432304"/>
            <a:ext cx="731520" cy="365760"/>
          </a:xfrm>
          <a:prstGeom prst="rect">
            <a:avLst/>
          </a:prstGeom>
          <a:solidFill>
            <a:srgbClr val="EEF0F3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463040" y="236829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미실행 행</a:t>
            </a:r>
            <a:endParaRPr lang="ko-KR" alt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36829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GOTO / STOP 으로 건너뜀</a:t>
            </a:r>
            <a:endParaRPr lang="ko-KR" altLang="en-US" sz="1400" dirty="0"/>
          </a:p>
        </p:txBody>
      </p:sp>
      <p:sp>
        <p:nvSpPr>
          <p:cNvPr id="12" name="swatch"/>
          <p:cNvSpPr/>
          <p:nvPr/>
        </p:nvSpPr>
        <p:spPr>
          <a:xfrm>
            <a:off x="548640" y="2953512"/>
            <a:ext cx="731520" cy="365760"/>
          </a:xfrm>
          <a:prstGeom prst="rect">
            <a:avLst/>
          </a:prstGeom>
          <a:solidFill>
            <a:srgbClr val="B9E8C8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9535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15803D"/>
                </a:solidFill>
              </a:rPr>
              <a:t>✓</a:t>
            </a:r>
            <a:endParaRPr lang="ko-KR" alt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88950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조건 일치 칸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288950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해당 SPEC 조건 일치</a:t>
            </a:r>
            <a:endParaRPr lang="ko-KR" altLang="en-US" sz="1400" dirty="0"/>
          </a:p>
        </p:txBody>
      </p:sp>
      <p:sp>
        <p:nvSpPr>
          <p:cNvPr id="16" name="swatch"/>
          <p:cNvSpPr/>
          <p:nvPr/>
        </p:nvSpPr>
        <p:spPr>
          <a:xfrm>
            <a:off x="548640" y="3474720"/>
            <a:ext cx="731520" cy="365760"/>
          </a:xfrm>
          <a:prstGeom prst="rect">
            <a:avLst/>
          </a:prstGeom>
          <a:solidFill>
            <a:srgbClr val="F7C1C1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B91C1C"/>
                </a:solidFill>
              </a:rPr>
              <a:t>✗</a:t>
            </a:r>
            <a:endParaRPr lang="ko-KR" alt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41071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조건 불일치 칸</a:t>
            </a:r>
            <a:endParaRPr lang="ko-KR" alt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341071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해당 SPEC 조건 불일치</a:t>
            </a:r>
            <a:endParaRPr lang="ko-KR" altLang="en-US" sz="1400" dirty="0"/>
          </a:p>
        </p:txBody>
      </p:sp>
      <p:sp>
        <p:nvSpPr>
          <p:cNvPr id="20" name="swatch"/>
          <p:cNvSpPr/>
          <p:nvPr/>
        </p:nvSpPr>
        <p:spPr>
          <a:xfrm>
            <a:off x="548640" y="3995928"/>
            <a:ext cx="731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watch-edit-mark"/>
          <p:cNvSpPr/>
          <p:nvPr/>
        </p:nvSpPr>
        <p:spPr>
          <a:xfrm>
            <a:off x="548640" y="3995928"/>
            <a:ext cx="64008" cy="3657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463040" y="393192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수정한 칸</a:t>
            </a:r>
            <a:endParaRPr lang="ko-KR" alt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393192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왼쪽 주황 줄 + 굵게. 마우스를 올리면 DB 원본 값</a:t>
            </a:r>
            <a:endParaRPr lang="ko-KR" altLang="en-US" sz="1400" dirty="0"/>
          </a:p>
        </p:txBody>
      </p:sp>
      <p:sp>
        <p:nvSpPr>
          <p:cNvPr id="24" name="swatch"/>
          <p:cNvSpPr/>
          <p:nvPr/>
        </p:nvSpPr>
        <p:spPr>
          <a:xfrm>
            <a:off x="548640" y="4517136"/>
            <a:ext cx="73152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463040" y="44531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새 라인</a:t>
            </a:r>
            <a:endParaRPr lang="ko-KR" alt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445312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하늘색 테두리</a:t>
            </a:r>
            <a:endParaRPr lang="ko-KR" altLang="en-US" sz="1400" dirty="0"/>
          </a:p>
        </p:txBody>
      </p:sp>
      <p:sp>
        <p:nvSpPr>
          <p:cNvPr id="27" name="swatch"/>
          <p:cNvSpPr/>
          <p:nvPr/>
        </p:nvSpPr>
        <p:spPr>
          <a:xfrm>
            <a:off x="548640" y="5038344"/>
            <a:ext cx="73152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463040" y="497433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현재 단계</a:t>
            </a:r>
            <a:endParaRPr lang="ko-KR" alt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200400" y="497433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디버거가 가리키는 라인 (보라색)</a:t>
            </a:r>
            <a:endParaRPr lang="ko-KR" altLang="en-US" sz="1400" dirty="0"/>
          </a:p>
        </p:txBody>
      </p:sp>
      <p:sp>
        <p:nvSpPr>
          <p:cNvPr id="30" name="swatch"/>
          <p:cNvSpPr/>
          <p:nvPr/>
        </p:nvSpPr>
        <p:spPr>
          <a:xfrm>
            <a:off x="548640" y="5559552"/>
            <a:ext cx="731520" cy="365760"/>
          </a:xfrm>
          <a:prstGeom prst="rect">
            <a:avLst/>
          </a:prstGeom>
          <a:solidFill>
            <a:srgbClr val="E7F6EC">
              <a:alpha val="55000"/>
            </a:srgbClr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463040" y="549554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흐린 표시</a:t>
            </a:r>
            <a:endParaRPr lang="ko-KR" alt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200400" y="549554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실행 후 또 수정함 → 다시 실행 필요</a:t>
            </a:r>
            <a:endParaRPr lang="ko-KR" alt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7680960" y="1371600"/>
            <a:ext cx="3962095" cy="4480560"/>
          </a:xfrm>
          <a:prstGeom prst="roundRect">
            <a:avLst>
              <a:gd name="adj" fmla="val 184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icon-circle"/>
          <p:cNvSpPr/>
          <p:nvPr/>
        </p:nvSpPr>
        <p:spPr>
          <a:xfrm>
            <a:off x="7955280" y="16459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con-LuMousePointer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783080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8641080" y="1645920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조건 칸에 마우스를 올리면</a:t>
            </a:r>
            <a:endParaRPr lang="ko-KR" altLang="en-US" sz="1600" dirty="0"/>
          </a:p>
        </p:txBody>
      </p:sp>
      <p:sp>
        <p:nvSpPr>
          <p:cNvPr id="37" name="code-box"/>
          <p:cNvSpPr/>
          <p:nvPr/>
        </p:nvSpPr>
        <p:spPr>
          <a:xfrm>
            <a:off x="7955280" y="2423160"/>
            <a:ext cx="3413455" cy="13716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8138160" y="2423160"/>
            <a:ext cx="3047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SPEC2 불일치</a:t>
            </a:r>
            <a:endParaRPr lang="ko-KR" altLang="en-US" sz="1500" dirty="0"/>
          </a:p>
          <a:p>
            <a:pPr marL="0" indent="0">
              <a:buNone/>
            </a:pPr>
            <a:r>
              <a:rPr lang="ko-KR" alt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EL_SPEED 값 : 105</a:t>
            </a:r>
            <a:endParaRPr lang="ko-KR" altLang="en-US" sz="1500" dirty="0"/>
          </a:p>
          <a:p>
            <a:pPr marL="0" indent="0">
              <a:buNone/>
            </a:pPr>
            <a:r>
              <a:rPr lang="ko-KR" alt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7"/>
                <a:cs typeface="Consolas" pitchFamily="34" charset="-120"/>
              </a:rPr>
              <a:t>CON : {EL_X} → 90</a:t>
            </a:r>
            <a:endParaRPr lang="ko-KR" alt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955280" y="4023360"/>
            <a:ext cx="34134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그 라인을 실행하던 시점의 실제 값과, CON 이 계산식이면 계산된 값까지 비교해 보여줍니다.</a:t>
            </a:r>
            <a:endParaRPr lang="ko-KR" alt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편집 도구 줄 · 수정 내용 보관</a:t>
            </a:r>
            <a:endParaRPr lang="ko-KR" alt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수정 현황</a:t>
            </a:r>
            <a:endParaRPr lang="ko-KR" altLang="en-US" sz="1800" dirty="0"/>
          </a:p>
        </p:txBody>
      </p:sp>
      <p:sp>
        <p:nvSpPr>
          <p:cNvPr id="4" name="pill"/>
          <p:cNvSpPr/>
          <p:nvPr/>
        </p:nvSpPr>
        <p:spPr>
          <a:xfrm>
            <a:off x="548640" y="18288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334155"/>
                </a:solidFill>
              </a:rPr>
              <a:t>DB 원본과 같음</a:t>
            </a:r>
            <a:endParaRPr lang="ko-KR" alt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828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수정 없음</a:t>
            </a:r>
            <a:endParaRPr lang="ko-KR" altLang="en-US" sz="1400" dirty="0"/>
          </a:p>
        </p:txBody>
      </p:sp>
      <p:sp>
        <p:nvSpPr>
          <p:cNvPr id="7" name="pill"/>
          <p:cNvSpPr/>
          <p:nvPr/>
        </p:nvSpPr>
        <p:spPr>
          <a:xfrm>
            <a:off x="548640" y="2377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92400E"/>
                </a:solidFill>
              </a:rPr>
              <a:t>수정 3칸 (2라인)</a:t>
            </a:r>
            <a:endParaRPr lang="ko-KR" alt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377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값이 바뀐 칸 / 라인 수</a:t>
            </a:r>
            <a:endParaRPr lang="ko-KR" altLang="en-US" sz="1400" dirty="0"/>
          </a:p>
        </p:txBody>
      </p:sp>
      <p:sp>
        <p:nvSpPr>
          <p:cNvPr id="10" name="pill"/>
          <p:cNvSpPr/>
          <p:nvPr/>
        </p:nvSpPr>
        <p:spPr>
          <a:xfrm>
            <a:off x="548640" y="29260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2926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55E75"/>
                </a:solidFill>
              </a:rPr>
              <a:t>추가 1라인</a:t>
            </a:r>
            <a:endParaRPr lang="ko-KR" alt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926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새로 넣은 라인</a:t>
            </a:r>
            <a:endParaRPr lang="ko-KR" altLang="en-US" sz="1400" dirty="0"/>
          </a:p>
        </p:txBody>
      </p:sp>
      <p:sp>
        <p:nvSpPr>
          <p:cNvPr id="13" name="pill"/>
          <p:cNvSpPr/>
          <p:nvPr/>
        </p:nvSpPr>
        <p:spPr>
          <a:xfrm>
            <a:off x="548640" y="3474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474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991B1B"/>
                </a:solidFill>
              </a:rPr>
              <a:t>삭제 1라인</a:t>
            </a:r>
            <a:endParaRPr lang="ko-KR" alt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474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지운 라인</a:t>
            </a:r>
            <a:endParaRPr lang="ko-KR" altLang="en-US" sz="1400" dirty="0"/>
          </a:p>
        </p:txBody>
      </p:sp>
      <p:sp>
        <p:nvSpPr>
          <p:cNvPr id="16" name="pill"/>
          <p:cNvSpPr/>
          <p:nvPr/>
        </p:nvSpPr>
        <p:spPr>
          <a:xfrm>
            <a:off x="548640" y="40233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023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92400E"/>
                </a:solidFill>
              </a:rPr>
              <a:t>순서 변경</a:t>
            </a:r>
            <a:endParaRPr lang="ko-KR" alt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4023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라인 순서가 DB 원본과 다름</a:t>
            </a:r>
            <a:endParaRPr lang="ko-KR" alt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325880"/>
            <a:ext cx="5242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버튼</a:t>
            </a:r>
            <a:endParaRPr lang="ko-KR" alt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28800"/>
          <a:ext cx="5242255" cy="235712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버튼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+ SPEC 열 / + KEY 열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조건 · 결과 열 한 쌍 추가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− 100% +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편집 표 확대/축소 (Ctrl+휠)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B91C1C"/>
                          </a:solidFill>
                        </a:rPr>
                        <a:t>DB 원본으로 되돌리기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모든 수정을 버리고 DB 원본을 다시 불러옴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범례 / 단축키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0F172A"/>
                          </a:solidFill>
                        </a:rPr>
                        <a:t>색 의미와 단축키 안내</a:t>
                      </a:r>
                      <a:endParaRPr lang="ko-KR" alt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note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18922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325880" y="4846320"/>
            <a:ext cx="101342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수정 내용은 어디에도 저장되지 않습니다.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새로고침하거나 다른 PID 를 불러오면 사라집니다 (떠나기 전 확인 창이 뜸). 남기려면 편집 표에서 셀을 선택해 Ctrl+C → 엑셀에 붙여넣어 보관하세요.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con-LuBug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948940"/>
            <a:ext cx="502920" cy="50292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디버그 패널</a:t>
            </a:r>
            <a:endParaRPr lang="ko-KR" altLang="en-US" sz="4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2011680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CBD5E1"/>
                </a:solidFill>
              </a:rPr>
              <a:t>단계별로 실행을 따라가며 값의 변화를 확인하기</a:t>
            </a:r>
            <a:endParaRPr lang="ko-KR" alt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357055" y="548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6000" b="1" dirty="0">
                <a:solidFill>
                  <a:srgbClr val="475569"/>
                </a:solidFill>
              </a:rPr>
              <a:t>03</a:t>
            </a:r>
            <a:endParaRPr lang="ko-KR" alt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ko-KR" altLang="en-US" b="0"/>
              <a:t>14</a:t>
            </a:fld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590EA-C105-8365-433B-A7F45DA8D820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ko-KR" altLang="en-US" dirty="0"/>
              <a:t>메인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E4FD3CD-4CEA-05A6-7FE9-9F4FBFFF8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68" y="1248603"/>
            <a:ext cx="9322003" cy="533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58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DB9B7-F2D5-9BFD-B5E7-1AA79D322D1C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ko-KR" altLang="en-US" dirty="0"/>
              <a:t>부가기능 </a:t>
            </a:r>
            <a:r>
              <a:rPr lang="en-US" altLang="ko-KR" dirty="0"/>
              <a:t>– </a:t>
            </a:r>
            <a:r>
              <a:rPr lang="ko-KR" altLang="en-US" dirty="0"/>
              <a:t>접기 </a:t>
            </a:r>
            <a:r>
              <a:rPr lang="ko-KR" altLang="en-US" dirty="0" err="1"/>
              <a:t>펼쳐기를</a:t>
            </a:r>
            <a:r>
              <a:rPr lang="ko-KR" altLang="en-US" dirty="0"/>
              <a:t> 클릭하면 해당 </a:t>
            </a:r>
            <a:r>
              <a:rPr lang="en-US" altLang="ko-KR" dirty="0"/>
              <a:t>PID</a:t>
            </a:r>
            <a:r>
              <a:rPr lang="ko-KR" altLang="en-US" dirty="0"/>
              <a:t>에 대한 상세 분석 내용 제공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6E2F8AC-0405-9A95-EDA1-3D68760E6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04" y="1593669"/>
            <a:ext cx="10068858" cy="474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55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63350-7113-C61F-3A6B-D05EEE31A204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ko-KR" altLang="en-US" dirty="0"/>
              <a:t>부가기능 </a:t>
            </a:r>
            <a:r>
              <a:rPr lang="en-US" altLang="ko-KR" dirty="0"/>
              <a:t>– </a:t>
            </a:r>
            <a:r>
              <a:rPr lang="ko-KR" altLang="en-US" dirty="0"/>
              <a:t>해당 </a:t>
            </a:r>
            <a:r>
              <a:rPr lang="en-US" altLang="ko-KR" dirty="0"/>
              <a:t>PID</a:t>
            </a:r>
            <a:r>
              <a:rPr lang="ko-KR" altLang="en-US" dirty="0"/>
              <a:t>의 변수</a:t>
            </a:r>
            <a:r>
              <a:rPr lang="en-US" altLang="ko-KR" dirty="0"/>
              <a:t>(KEY)</a:t>
            </a:r>
            <a:r>
              <a:rPr lang="ko-KR" altLang="en-US" dirty="0"/>
              <a:t>의 전체 값 출력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F74158-34F1-6C66-5529-1C30DB7B4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8326"/>
            <a:ext cx="12192000" cy="388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460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A37676-E787-1C5B-59AD-DF987F730D93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ko-KR" altLang="en-US" dirty="0"/>
              <a:t>부가기능 </a:t>
            </a:r>
            <a:r>
              <a:rPr lang="en-US" altLang="ko-KR" dirty="0"/>
              <a:t>– </a:t>
            </a:r>
            <a:r>
              <a:rPr lang="ko-KR" altLang="en-US" dirty="0"/>
              <a:t>입력한 공사번호의 영업사양 값 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6E598E-BFFC-C13D-AF99-C5B7FBCD5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0461"/>
            <a:ext cx="12192000" cy="399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896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6BC4D-1E5A-F844-56EA-C868E02570F4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ko-KR" altLang="en-US" dirty="0"/>
              <a:t>부가기능 </a:t>
            </a:r>
            <a:r>
              <a:rPr lang="en-US" altLang="ko-KR" dirty="0"/>
              <a:t>– </a:t>
            </a:r>
            <a:r>
              <a:rPr lang="ko-KR" altLang="en-US" dirty="0"/>
              <a:t>하위</a:t>
            </a:r>
            <a:r>
              <a:rPr lang="en-US" altLang="ko-KR" dirty="0"/>
              <a:t>PID : </a:t>
            </a:r>
            <a:r>
              <a:rPr lang="ko-KR" altLang="en-US" dirty="0"/>
              <a:t>해당 로직에서 </a:t>
            </a:r>
            <a:r>
              <a:rPr lang="en-US" altLang="ko-KR" dirty="0"/>
              <a:t>CALL </a:t>
            </a:r>
            <a:r>
              <a:rPr lang="ko-KR" altLang="en-US" dirty="0"/>
              <a:t>한 하위 전체 </a:t>
            </a:r>
            <a:r>
              <a:rPr lang="en-US" altLang="ko-KR" dirty="0"/>
              <a:t>PID</a:t>
            </a:r>
            <a:r>
              <a:rPr lang="ko-KR" altLang="en-US" dirty="0"/>
              <a:t> 수행 횟수와 깊이 추적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474AA39-46F9-D9F1-74F6-B268AFD71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9731"/>
            <a:ext cx="12192000" cy="42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04575"/>
      </p:ext>
    </p:extLst>
  </p:cSld>
  <p:clrMapOvr>
    <a:masterClrMapping/>
  </p:clrMapOvr>
</p:sld>
</file>

<file path=ppt/theme/theme1.xml><?xml version="1.0" encoding="utf-8"?>
<a:theme xmlns:a="http://schemas.openxmlformats.org/drawingml/2006/main" name="PID Playground">
  <a:themeElements>
    <a:clrScheme name="PID Playground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6A34A"/>
      </a:accent1>
      <a:accent2>
        <a:srgbClr val="2563EB"/>
      </a:accent2>
      <a:accent3>
        <a:srgbClr val="B91C1C"/>
      </a:accent3>
      <a:accent4>
        <a:srgbClr val="7C3AED"/>
      </a:accent4>
      <a:accent5>
        <a:srgbClr val="D97706"/>
      </a:accent5>
      <a:accent6>
        <a:srgbClr val="64748B"/>
      </a:accent6>
      <a:hlink>
        <a:srgbClr val="2563EB"/>
      </a:hlink>
      <a:folHlink>
        <a:srgbClr val="7C3AED"/>
      </a:folHlink>
    </a:clrScheme>
    <a:fontScheme name="PID Playground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1196</Words>
  <Application>Microsoft Office PowerPoint</Application>
  <PresentationFormat>와이드스크린</PresentationFormat>
  <Paragraphs>247</Paragraphs>
  <Slides>19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Malgun Gothic</vt:lpstr>
      <vt:lpstr>Arial</vt:lpstr>
      <vt:lpstr>Consolas</vt:lpstr>
      <vt:lpstr>PID Playground</vt:lpstr>
      <vt:lpstr>PID 플레이그라운드</vt:lpstr>
      <vt:lpstr>한눈에 보기</vt:lpstr>
      <vt:lpstr>언제 어떤 화면을 쓰나요?</vt:lpstr>
      <vt:lpstr>화면 구성</vt:lpstr>
      <vt:lpstr>기본 사용 순서</vt:lpstr>
      <vt:lpstr>불러오기 · 실행</vt:lpstr>
      <vt:lpstr>① PID 불러오기 · ② 실행 대상</vt:lpstr>
      <vt:lpstr>실행 · 실시간 실행 · 주소 공유</vt:lpstr>
      <vt:lpstr>편집 표</vt:lpstr>
      <vt:lpstr>편집 표 컬럼</vt:lpstr>
      <vt:lpstr>편집 방법</vt:lpstr>
      <vt:lpstr>색 · 표시 읽는 법</vt:lpstr>
      <vt:lpstr>편집 도구 줄 · 수정 내용 보관</vt:lpstr>
      <vt:lpstr>디버그 패널</vt:lpstr>
      <vt:lpstr>메인 화면</vt:lpstr>
      <vt:lpstr>부가기능 – 접기 펼쳐기를 클릭하면 해당 PID에 대한 상세 분석 내용 제공</vt:lpstr>
      <vt:lpstr>부가기능 – 해당 PID의 변수(KEY)의 전체 값 출력</vt:lpstr>
      <vt:lpstr>부가기능 – 입력한 공사번호의 영업사양 값 보기</vt:lpstr>
      <vt:lpstr>부가기능 – 하위PID : 해당 로직에서 CALL 한 하위 전체 PID 수행 횟수와 깊이 추적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PID 플레이그라운드 화면 사용 매뉴얼</dc:title>
  <dc:subject>PID 플레이그라운드</dc:subject>
  <dc:creator>수배로직설계팀</dc:creator>
  <cp:lastModifiedBy>김영환/KIM YOUNG HWAN</cp:lastModifiedBy>
  <cp:revision>2</cp:revision>
  <dcterms:created xsi:type="dcterms:W3CDTF">2026-10-12T02:44:00Z</dcterms:created>
  <dcterms:modified xsi:type="dcterms:W3CDTF">2026-10-12T02:52:39Z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d51960-f5ab-455f-8de0-bc0d6c02aaf3_Enabled">
    <vt:lpwstr>true</vt:lpwstr>
  </property>
  <property fmtid="{D5CDD505-2E9C-101B-9397-08002B2CF9AE}" pid="3" name="MSIP_Label_1fd51960-f5ab-455f-8de0-bc0d6c02aaf3_SetDate">
    <vt:lpwstr>2026-10-12T02:52:39Z</vt:lpwstr>
  </property>
  <property fmtid="{D5CDD505-2E9C-101B-9397-08002B2CF9AE}" pid="4" name="MSIP_Label_1fd51960-f5ab-455f-8de0-bc0d6c02aaf3_Method">
    <vt:lpwstr>Standard</vt:lpwstr>
  </property>
  <property fmtid="{D5CDD505-2E9C-101B-9397-08002B2CF9AE}" pid="5" name="MSIP_Label_1fd51960-f5ab-455f-8de0-bc0d6c02aaf3_Name">
    <vt:lpwstr>Public</vt:lpwstr>
  </property>
  <property fmtid="{D5CDD505-2E9C-101B-9397-08002B2CF9AE}" pid="6" name="MSIP_Label_1fd51960-f5ab-455f-8de0-bc0d6c02aaf3_SiteId">
    <vt:lpwstr>f8d5ac98-8fa9-4355-8cd9-84f322fb0a78</vt:lpwstr>
  </property>
  <property fmtid="{D5CDD505-2E9C-101B-9397-08002B2CF9AE}" pid="7" name="MSIP_Label_1fd51960-f5ab-455f-8de0-bc0d6c02aaf3_ActionId">
    <vt:lpwstr>04ff911f-67f4-41ac-a04a-4ff5841c9e13</vt:lpwstr>
  </property>
  <property fmtid="{D5CDD505-2E9C-101B-9397-08002B2CF9AE}" pid="8" name="MSIP_Label_1fd51960-f5ab-455f-8de0-bc0d6c02aaf3_ContentBits">
    <vt:lpwstr>0</vt:lpwstr>
  </property>
  <property fmtid="{D5CDD505-2E9C-101B-9397-08002B2CF9AE}" pid="9" name="MSIP_Label_1fd51960-f5ab-455f-8de0-bc0d6c02aaf3_Tag">
    <vt:lpwstr>10, 3, 0, 1</vt:lpwstr>
  </property>
</Properties>
</file>