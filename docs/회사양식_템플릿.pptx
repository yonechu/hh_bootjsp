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2" r:id="rId4"/>
  </p:sldMasterIdLst>
  <p:notesMasterIdLst>
    <p:notesMasterId r:id="rId15"/>
  </p:notesMasterIdLst>
  <p:sldIdLst>
    <p:sldId id="2147477341" r:id="rId5"/>
    <p:sldId id="272" r:id="rId6"/>
    <p:sldId id="2147477329" r:id="rId7"/>
    <p:sldId id="2147477330" r:id="rId8"/>
    <p:sldId id="2147477332" r:id="rId9"/>
    <p:sldId id="2147477342" r:id="rId10"/>
    <p:sldId id="2147477343" r:id="rId11"/>
    <p:sldId id="2147477336" r:id="rId12"/>
    <p:sldId id="2147477338" r:id="rId13"/>
    <p:sldId id="2147477340" r:id="rId14"/>
  </p:sldIdLst>
  <p:sldSz cx="10691813" cy="7559675"/>
  <p:notesSz cx="6858000" cy="9144000"/>
  <p:embeddedFontLst>
    <p:embeddedFont>
      <p:font typeface="네오현대 B" panose="02020800000000000000" pitchFamily="18" charset="-127"/>
      <p:bold r:id="rId16"/>
    </p:embeddedFont>
    <p:embeddedFont>
      <p:font typeface="네오현대 EB" panose="02020800000000000000" pitchFamily="18" charset="-127"/>
      <p:bold r:id="rId17"/>
    </p:embeddedFont>
    <p:embeddedFont>
      <p:font typeface="네오현대 EBK" panose="02020B00000000000000" pitchFamily="18" charset="-12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8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orient="horz" pos="3719" userDrawn="1">
          <p15:clr>
            <a:srgbClr val="A4A3A4"/>
          </p15:clr>
        </p15:guide>
        <p15:guide id="4" pos="306" userDrawn="1">
          <p15:clr>
            <a:srgbClr val="A4A3A4"/>
          </p15:clr>
        </p15:guide>
        <p15:guide id="5" pos="64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637"/>
    <a:srgbClr val="229345"/>
    <a:srgbClr val="F0F0F0"/>
    <a:srgbClr val="18873E"/>
    <a:srgbClr val="FFFFFF"/>
    <a:srgbClr val="174489"/>
    <a:srgbClr val="1E1DB0"/>
    <a:srgbClr val="1F1AA2"/>
    <a:srgbClr val="1513A2"/>
    <a:srgbClr val="1E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700"/>
  </p:normalViewPr>
  <p:slideViewPr>
    <p:cSldViewPr snapToGrid="0">
      <p:cViewPr varScale="1">
        <p:scale>
          <a:sx n="95" d="100"/>
          <a:sy n="95" d="100"/>
        </p:scale>
        <p:origin x="1728" y="90"/>
      </p:cViewPr>
      <p:guideLst>
        <p:guide orient="horz" pos="2358"/>
        <p:guide pos="3368"/>
        <p:guide orient="horz" pos="3719"/>
        <p:guide pos="306"/>
        <p:guide pos="64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A1A7-176A-488C-B5B5-6CE126BA5940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79968-698D-4727-96AF-752305FF7F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437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454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369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691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892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416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645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399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01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331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893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181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68A5AEE-42E1-7A9F-8583-A03CD7E75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9537" r="8007" b="17438"/>
          <a:stretch>
            <a:fillRect/>
          </a:stretch>
        </p:blipFill>
        <p:spPr>
          <a:xfrm>
            <a:off x="4545585" y="4257354"/>
            <a:ext cx="6146229" cy="2804107"/>
          </a:xfrm>
          <a:prstGeom prst="rect">
            <a:avLst/>
          </a:prstGeom>
          <a:gradFill>
            <a:gsLst>
              <a:gs pos="50000">
                <a:srgbClr val="1D7D3B"/>
              </a:gs>
              <a:gs pos="100000">
                <a:srgbClr val="1D7D3B">
                  <a:alpha val="0"/>
                </a:srgbClr>
              </a:gs>
            </a:gsLst>
            <a:lin ang="0" scaled="1"/>
          </a:gradFill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1F973A8-E86B-438F-6A03-8EA236F60A50}"/>
              </a:ext>
            </a:extLst>
          </p:cNvPr>
          <p:cNvSpPr/>
          <p:nvPr userDrawn="1"/>
        </p:nvSpPr>
        <p:spPr>
          <a:xfrm>
            <a:off x="0" y="4257354"/>
            <a:ext cx="8265594" cy="2804107"/>
          </a:xfrm>
          <a:prstGeom prst="rect">
            <a:avLst/>
          </a:prstGeom>
          <a:gradFill flip="none" rotWithShape="1">
            <a:gsLst>
              <a:gs pos="55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8735293-E4B2-7CDA-4284-4614235B7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47197" y="272667"/>
            <a:ext cx="2100057" cy="246547"/>
          </a:xfrm>
          <a:prstGeom prst="rect">
            <a:avLst/>
          </a:prstGeom>
        </p:spPr>
      </p:pic>
      <p:sp>
        <p:nvSpPr>
          <p:cNvPr id="17" name="제목 16">
            <a:extLst>
              <a:ext uri="{FF2B5EF4-FFF2-40B4-BE49-F238E27FC236}">
                <a16:creationId xmlns:a16="http://schemas.microsoft.com/office/drawing/2014/main" id="{33CC0261-E8FF-09C2-0A4D-5F832695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2343344"/>
            <a:ext cx="9729787" cy="717569"/>
          </a:xfrm>
          <a:noFill/>
        </p:spPr>
        <p:txBody>
          <a:bodyPr wrap="square" lIns="72000" tIns="0" rIns="0" bIns="0" rtlCol="0">
            <a:spAutoFit/>
          </a:bodyPr>
          <a:lstStyle>
            <a:lvl1pPr algn="l">
              <a:defRPr lang="ko-KR" altLang="en-US" sz="5181" dirty="0">
                <a:solidFill>
                  <a:schemeClr val="accent6"/>
                </a:solidFill>
                <a:latin typeface="네오현대 EBK" panose="02020B00000000000000" pitchFamily="18" charset="-127"/>
                <a:ea typeface="네오현대 EBK" panose="02020B00000000000000" pitchFamily="18" charset="-127"/>
                <a:cs typeface="+mn-cs"/>
              </a:defRPr>
            </a:lvl1pPr>
          </a:lstStyle>
          <a:p>
            <a:pPr marL="0" lvl="0" defTabSz="447663" latinLnBrk="0"/>
            <a:r>
              <a:rPr lang="ko-KR" altLang="en-US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4CD2F73-4022-C198-CD3E-1C7A48CAB61A}"/>
              </a:ext>
            </a:extLst>
          </p:cNvPr>
          <p:cNvGrpSpPr/>
          <p:nvPr userDrawn="1"/>
        </p:nvGrpSpPr>
        <p:grpSpPr>
          <a:xfrm>
            <a:off x="481014" y="4555585"/>
            <a:ext cx="6245487" cy="2175322"/>
            <a:chOff x="844851" y="4586413"/>
            <a:chExt cx="5210509" cy="21753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6CDCFD-4285-09BB-30C6-2A2E9B7B5104}"/>
                </a:ext>
              </a:extLst>
            </p:cNvPr>
            <p:cNvSpPr txBox="1"/>
            <p:nvPr/>
          </p:nvSpPr>
          <p:spPr>
            <a:xfrm>
              <a:off x="844851" y="4586413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┓┴┛┗┘┻┠└┃┿├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3A7222-979B-41BE-2431-D5B42741ACD0}"/>
                </a:ext>
              </a:extLst>
            </p:cNvPr>
            <p:cNvSpPr txBox="1"/>
            <p:nvPr/>
          </p:nvSpPr>
          <p:spPr>
            <a:xfrm>
              <a:off x="844851" y="5428622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┣┬━┨─┒┷┸┼┑┤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CDBC81-7363-8415-E21F-73A29DC5CD79}"/>
                </a:ext>
              </a:extLst>
            </p:cNvPr>
            <p:cNvSpPr txBox="1"/>
            <p:nvPr/>
          </p:nvSpPr>
          <p:spPr>
            <a:xfrm>
              <a:off x="844851" y="6270832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┫╋┳┝┰┥┯╂┏┬┴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0246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CEAE3BD-EF29-D6DD-5EB7-D8E6E2DC325D}"/>
              </a:ext>
            </a:extLst>
          </p:cNvPr>
          <p:cNvSpPr/>
          <p:nvPr userDrawn="1"/>
        </p:nvSpPr>
        <p:spPr>
          <a:xfrm>
            <a:off x="0" y="203362"/>
            <a:ext cx="10691813" cy="3968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1B6F2F65-A2FD-96DF-2B5D-B5AA7B26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90" y="235995"/>
            <a:ext cx="4924266" cy="331566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727">
                <a:solidFill>
                  <a:schemeClr val="bg1"/>
                </a:solidFill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defRPr>
            </a:lvl1pPr>
          </a:lstStyle>
          <a:p>
            <a:pPr marL="0" lvl="0" defTabSz="447663" latinLnBrk="0"/>
            <a:r>
              <a:rPr lang="ko-KR" altLang="en-US"/>
              <a:t>마스터 제목 스타일 편집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80B8D52-AF5C-2F5C-9DE8-AA95CD3FA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923" y="248357"/>
            <a:ext cx="1698928" cy="30684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FEE8C81-1A8F-3DE0-26B7-AD0E1F5FBF00}"/>
              </a:ext>
            </a:extLst>
          </p:cNvPr>
          <p:cNvSpPr/>
          <p:nvPr userDrawn="1"/>
        </p:nvSpPr>
        <p:spPr>
          <a:xfrm>
            <a:off x="0" y="7242208"/>
            <a:ext cx="10691813" cy="317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7AA6E92-AE67-E6E6-0449-53D54C102880}"/>
              </a:ext>
            </a:extLst>
          </p:cNvPr>
          <p:cNvCxnSpPr>
            <a:cxnSpLocks/>
          </p:cNvCxnSpPr>
          <p:nvPr userDrawn="1"/>
        </p:nvCxnSpPr>
        <p:spPr>
          <a:xfrm>
            <a:off x="0" y="7242208"/>
            <a:ext cx="106918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12C593D7-08C4-E83E-99B4-4ACBF72C6F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390" y="7347245"/>
            <a:ext cx="2620885" cy="1073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75D9B39-84B3-7867-1853-AC5177A6434A}"/>
              </a:ext>
            </a:extLst>
          </p:cNvPr>
          <p:cNvSpPr/>
          <p:nvPr userDrawn="1"/>
        </p:nvSpPr>
        <p:spPr>
          <a:xfrm>
            <a:off x="155825" y="203362"/>
            <a:ext cx="124565" cy="396833"/>
          </a:xfrm>
          <a:prstGeom prst="rect">
            <a:avLst/>
          </a:prstGeom>
          <a:solidFill>
            <a:srgbClr val="1660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E1047AD-19D0-A83E-8F82-1EA0B0D21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37624" y="7242208"/>
            <a:ext cx="621227" cy="317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ko-KR" altLang="en-US" sz="97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fld id="{03E6EF8B-9C45-4EE7-88BB-BB1F036E7359}" type="slidenum">
              <a:rPr lang="en-US" altLang="ko-KR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6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3764-7DCF-A84F-9E9C-78B31E0589F3}" type="datetimeFigureOut">
              <a:rPr kumimoji="1" lang="ko-KR" altLang="en-US" smtClean="0"/>
              <a:t>2026-09-15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047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6924BB-BADD-5B7C-7903-7710B87ED826}"/>
              </a:ext>
            </a:extLst>
          </p:cNvPr>
          <p:cNvSpPr txBox="1"/>
          <p:nvPr/>
        </p:nvSpPr>
        <p:spPr>
          <a:xfrm>
            <a:off x="655466" y="3453657"/>
            <a:ext cx="2058577" cy="581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네오현대 B" panose="02020800000000000000" pitchFamily="18" charset="-127"/>
                <a:ea typeface="네오현대 B" panose="02020800000000000000" pitchFamily="18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11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수배로직설계팀</a:t>
            </a:r>
            <a:r>
              <a:rPr kumimoji="0" lang="ko-KR" altLang="en-US" sz="1511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 김영환</a:t>
            </a:r>
            <a:endParaRPr kumimoji="0" lang="en-US" altLang="ko-KR" sz="1511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네오현대 B" panose="02020800000000000000" pitchFamily="18" charset="-127"/>
              <a:ea typeface="네오현대 B" panose="02020800000000000000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11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2026.09.09</a:t>
            </a:r>
            <a:endParaRPr kumimoji="0" lang="ko-KR" altLang="en-US" sz="1511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네오현대 B" panose="02020800000000000000" pitchFamily="18" charset="-127"/>
              <a:ea typeface="네오현대 B" panose="02020800000000000000" pitchFamily="18" charset="-127"/>
              <a:cs typeface="+mn-cs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94DA535B-9824-94AE-EE93-B5652B10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6" y="1563809"/>
            <a:ext cx="9526880" cy="11387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3400" dirty="0" err="1">
                <a:solidFill>
                  <a:schemeClr val="tx1"/>
                </a:solidFill>
              </a:rPr>
              <a:t>수배로직</a:t>
            </a:r>
            <a:r>
              <a:rPr lang="ko-KR" altLang="en-US" sz="3400" dirty="0">
                <a:solidFill>
                  <a:schemeClr val="tx1"/>
                </a:solidFill>
              </a:rPr>
              <a:t> 업무를 위한 AI 플랫폼 적용</a:t>
            </a:r>
            <a:br>
              <a:rPr lang="en-US" altLang="ko-KR" sz="3400" dirty="0"/>
            </a:br>
            <a:br>
              <a:rPr lang="en-US" altLang="ko-KR" sz="2000" dirty="0"/>
            </a:br>
            <a:r>
              <a:rPr lang="en-US" altLang="ko-KR" sz="2000" dirty="0"/>
              <a:t>RAG</a:t>
            </a:r>
            <a:r>
              <a:rPr lang="ko-KR" altLang="en-US" sz="2000" dirty="0"/>
              <a:t> 기반의 </a:t>
            </a:r>
            <a:r>
              <a:rPr lang="en-US" altLang="ko-KR" sz="2000" dirty="0"/>
              <a:t>PLM </a:t>
            </a:r>
            <a:r>
              <a:rPr lang="ko-KR" altLang="en-US" sz="2000" dirty="0"/>
              <a:t>데이터 연동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59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Contents</a:t>
            </a:r>
          </a:p>
        </p:txBody>
      </p:sp>
      <p:pic>
        <p:nvPicPr>
          <p:cNvPr id="141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142" name="Line 142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02" name="Shape 102"/>
          <p:cNvSpPr/>
          <p:nvPr/>
        </p:nvSpPr>
        <p:spPr>
          <a:xfrm>
            <a:off x="607359" y="2146177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01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47359" y="2166177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배경 및 목표</a:t>
            </a:r>
          </a:p>
        </p:txBody>
      </p:sp>
      <p:cxnSp>
        <p:nvCxnSpPr>
          <p:cNvPr id="104" name="Line 104"/>
          <p:cNvCxnSpPr/>
          <p:nvPr/>
        </p:nvCxnSpPr>
        <p:spPr>
          <a:xfrm>
            <a:off x="607359" y="2536177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105" name="Shape 105"/>
          <p:cNvSpPr/>
          <p:nvPr/>
        </p:nvSpPr>
        <p:spPr>
          <a:xfrm>
            <a:off x="607359" y="2626177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02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47359" y="2646177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접근 방향</a:t>
            </a:r>
          </a:p>
        </p:txBody>
      </p:sp>
      <p:cxnSp>
        <p:nvCxnSpPr>
          <p:cNvPr id="107" name="Line 107"/>
          <p:cNvCxnSpPr/>
          <p:nvPr/>
        </p:nvCxnSpPr>
        <p:spPr>
          <a:xfrm>
            <a:off x="607359" y="3016177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108" name="Shape 108"/>
          <p:cNvSpPr/>
          <p:nvPr/>
        </p:nvSpPr>
        <p:spPr>
          <a:xfrm>
            <a:off x="607359" y="3106177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03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147359" y="3126177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시스템 아키텍처 — 처리 흐름</a:t>
            </a:r>
          </a:p>
        </p:txBody>
      </p:sp>
      <p:cxnSp>
        <p:nvCxnSpPr>
          <p:cNvPr id="110" name="Line 110"/>
          <p:cNvCxnSpPr/>
          <p:nvPr/>
        </p:nvCxnSpPr>
        <p:spPr>
          <a:xfrm>
            <a:off x="607359" y="3496177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111" name="Shape 111"/>
          <p:cNvSpPr/>
          <p:nvPr/>
        </p:nvSpPr>
        <p:spPr>
          <a:xfrm>
            <a:off x="607359" y="3586177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04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47359" y="3606177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이 구조가 가능한 이유</a:t>
            </a:r>
          </a:p>
        </p:txBody>
      </p:sp>
      <p:cxnSp>
        <p:nvCxnSpPr>
          <p:cNvPr id="113" name="Line 113"/>
          <p:cNvCxnSpPr/>
          <p:nvPr/>
        </p:nvCxnSpPr>
        <p:spPr>
          <a:xfrm>
            <a:off x="607359" y="3976177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114" name="Shape 114"/>
          <p:cNvSpPr/>
          <p:nvPr/>
        </p:nvSpPr>
        <p:spPr>
          <a:xfrm>
            <a:off x="607359" y="4066177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05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147359" y="4086177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서버 구성</a:t>
            </a:r>
          </a:p>
        </p:txBody>
      </p:sp>
      <p:cxnSp>
        <p:nvCxnSpPr>
          <p:cNvPr id="116" name="Line 116"/>
          <p:cNvCxnSpPr/>
          <p:nvPr/>
        </p:nvCxnSpPr>
        <p:spPr>
          <a:xfrm>
            <a:off x="607359" y="4456177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117" name="Shape 117"/>
          <p:cNvSpPr/>
          <p:nvPr/>
        </p:nvSpPr>
        <p:spPr>
          <a:xfrm>
            <a:off x="607359" y="4546177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06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147359" y="4566177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ko-KR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RPA</a:t>
            </a:r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와의 차이점</a:t>
            </a:r>
          </a:p>
        </p:txBody>
      </p:sp>
      <p:cxnSp>
        <p:nvCxnSpPr>
          <p:cNvPr id="119" name="Line 119"/>
          <p:cNvCxnSpPr/>
          <p:nvPr/>
        </p:nvCxnSpPr>
        <p:spPr>
          <a:xfrm>
            <a:off x="607359" y="4936177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2" name="Shape 117">
            <a:extLst>
              <a:ext uri="{FF2B5EF4-FFF2-40B4-BE49-F238E27FC236}">
                <a16:creationId xmlns:a16="http://schemas.microsoft.com/office/drawing/2014/main" id="{95458B27-7E78-A4F2-F8B5-30C2606F3493}"/>
              </a:ext>
            </a:extLst>
          </p:cNvPr>
          <p:cNvSpPr/>
          <p:nvPr/>
        </p:nvSpPr>
        <p:spPr>
          <a:xfrm>
            <a:off x="607359" y="5049965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en-US" altLang="ko-KR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07</a:t>
            </a:r>
            <a:endParaRPr lang="ko-KR" altLang="en-US" sz="1150" b="1" dirty="0">
              <a:solidFill>
                <a:srgbClr val="FFFFFF"/>
              </a:solidFill>
              <a:latin typeface="네오현대 EB" panose="02020800000000000000" pitchFamily="18" charset="-127"/>
              <a:ea typeface="네오현대 EB" panose="02020800000000000000" pitchFamily="18" charset="-127"/>
            </a:endParaRPr>
          </a:p>
        </p:txBody>
      </p:sp>
      <p:sp>
        <p:nvSpPr>
          <p:cNvPr id="3" name="TextBox 118">
            <a:extLst>
              <a:ext uri="{FF2B5EF4-FFF2-40B4-BE49-F238E27FC236}">
                <a16:creationId xmlns:a16="http://schemas.microsoft.com/office/drawing/2014/main" id="{E344CAC4-B210-AD5A-3DBF-794961C448D0}"/>
              </a:ext>
            </a:extLst>
          </p:cNvPr>
          <p:cNvSpPr txBox="1"/>
          <p:nvPr/>
        </p:nvSpPr>
        <p:spPr>
          <a:xfrm>
            <a:off x="1147359" y="5069965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확장 방향</a:t>
            </a:r>
          </a:p>
        </p:txBody>
      </p:sp>
      <p:cxnSp>
        <p:nvCxnSpPr>
          <p:cNvPr id="4" name="Line 119">
            <a:extLst>
              <a:ext uri="{FF2B5EF4-FFF2-40B4-BE49-F238E27FC236}">
                <a16:creationId xmlns:a16="http://schemas.microsoft.com/office/drawing/2014/main" id="{3F1610BD-14B8-1A55-582B-37DC1C7086DE}"/>
              </a:ext>
            </a:extLst>
          </p:cNvPr>
          <p:cNvCxnSpPr/>
          <p:nvPr/>
        </p:nvCxnSpPr>
        <p:spPr>
          <a:xfrm>
            <a:off x="607359" y="5439965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  <p:sp>
        <p:nvSpPr>
          <p:cNvPr id="5" name="Shape 117">
            <a:extLst>
              <a:ext uri="{FF2B5EF4-FFF2-40B4-BE49-F238E27FC236}">
                <a16:creationId xmlns:a16="http://schemas.microsoft.com/office/drawing/2014/main" id="{EDA4AF88-A532-CF10-331E-EFD6AB8FD77F}"/>
              </a:ext>
            </a:extLst>
          </p:cNvPr>
          <p:cNvSpPr/>
          <p:nvPr/>
        </p:nvSpPr>
        <p:spPr>
          <a:xfrm>
            <a:off x="607359" y="5489966"/>
            <a:ext cx="400000" cy="34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en-US" altLang="ko-KR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08</a:t>
            </a:r>
            <a:endParaRPr lang="ko-KR" altLang="en-US" sz="1150" b="1" dirty="0">
              <a:solidFill>
                <a:srgbClr val="FFFFFF"/>
              </a:solidFill>
              <a:latin typeface="네오현대 EB" panose="02020800000000000000" pitchFamily="18" charset="-127"/>
              <a:ea typeface="네오현대 EB" panose="02020800000000000000" pitchFamily="18" charset="-127"/>
            </a:endParaRPr>
          </a:p>
        </p:txBody>
      </p:sp>
      <p:sp>
        <p:nvSpPr>
          <p:cNvPr id="6" name="TextBox 118">
            <a:extLst>
              <a:ext uri="{FF2B5EF4-FFF2-40B4-BE49-F238E27FC236}">
                <a16:creationId xmlns:a16="http://schemas.microsoft.com/office/drawing/2014/main" id="{78D9500A-8209-F201-A0F0-03027E1E918D}"/>
              </a:ext>
            </a:extLst>
          </p:cNvPr>
          <p:cNvSpPr txBox="1"/>
          <p:nvPr/>
        </p:nvSpPr>
        <p:spPr>
          <a:xfrm>
            <a:off x="1147359" y="5509966"/>
            <a:ext cx="5360000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3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향후 계획</a:t>
            </a:r>
          </a:p>
        </p:txBody>
      </p:sp>
      <p:cxnSp>
        <p:nvCxnSpPr>
          <p:cNvPr id="7" name="Line 119">
            <a:extLst>
              <a:ext uri="{FF2B5EF4-FFF2-40B4-BE49-F238E27FC236}">
                <a16:creationId xmlns:a16="http://schemas.microsoft.com/office/drawing/2014/main" id="{BE649771-B3B3-2F87-36D8-F2EC9217460C}"/>
              </a:ext>
            </a:extLst>
          </p:cNvPr>
          <p:cNvCxnSpPr/>
          <p:nvPr/>
        </p:nvCxnSpPr>
        <p:spPr>
          <a:xfrm>
            <a:off x="607359" y="5879966"/>
            <a:ext cx="5900000" cy="0"/>
          </a:xfrm>
          <a:prstGeom prst="line">
            <a:avLst/>
          </a:prstGeom>
          <a:ln w="6350">
            <a:solidFill>
              <a:srgbClr val="E4E8EA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1. 배경 및 목표</a:t>
            </a:r>
          </a:p>
        </p:txBody>
      </p:sp>
      <p:pic>
        <p:nvPicPr>
          <p:cNvPr id="151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152" name="Line 152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3" name="TextBox 143"/>
          <p:cNvSpPr txBox="1"/>
          <p:nvPr/>
        </p:nvSpPr>
        <p:spPr>
          <a:xfrm>
            <a:off x="481012" y="103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buNone/>
            </a:pPr>
            <a:r>
              <a:rPr lang="ko-KR" altLang="en-US" sz="1250" b="1" dirty="0">
                <a:latin typeface="네오현대 B" panose="02020800000000000000" pitchFamily="18" charset="-127"/>
                <a:ea typeface="네오현대 B" panose="02020800000000000000" pitchFamily="18" charset="-127"/>
              </a:rPr>
              <a:t>설계 데이터는 대부분 PLM에 있지만, 그 데이터를 꺼내 쓰는 과정은 여전히 사람의 수작업에 의존하고 있습니다.</a:t>
            </a:r>
          </a:p>
        </p:txBody>
      </p:sp>
      <p:sp>
        <p:nvSpPr>
          <p:cNvPr id="144" name="SectionPill"/>
          <p:cNvSpPr/>
          <p:nvPr/>
        </p:nvSpPr>
        <p:spPr>
          <a:xfrm>
            <a:off x="481012" y="1560000"/>
            <a:ext cx="2448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배경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81012" y="1990000"/>
            <a:ext cx="9729787" cy="1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수배로직 검증 시 PLM 데이터 조회, Excel 다운로드, 파일 가공 작업이 반복됨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조건이 변경되면 재조회·재가공이 필요하여 검증 준비 시간이 증가함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직접 조회가 어려운 데이터는 정보기술팀 요청 후 회신을 대기해야 함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PLM 서버 부하로 대량 데이터 추출에 제약이 있어 표본 검증에 그침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데이터 수집에 시간이 쓰이면서 정작 로직 검증·원인 분석에 집중하기 어려움</a:t>
            </a:r>
          </a:p>
        </p:txBody>
      </p:sp>
      <p:sp>
        <p:nvSpPr>
          <p:cNvPr id="146" name="SectionPill"/>
          <p:cNvSpPr/>
          <p:nvPr/>
        </p:nvSpPr>
        <p:spPr>
          <a:xfrm>
            <a:off x="481012" y="3720000"/>
            <a:ext cx="2448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목표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481012" y="4150000"/>
            <a:ext cx="9729787" cy="1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사람이 데이터를 찾아 나르는 단계를 제거하고, AI가 직접 조회·분석하도록 전환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조회 · 검증 · 작성 업무를 하나의 공통 기반 위에서 통합 지원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개발자 개인의 도구가 아니라 팀 전체가 사용할 수 있는 플랫폼으로 구축</a:t>
            </a:r>
          </a:p>
          <a:p>
            <a:pPr marL="200000" indent="-200000" algn="l">
              <a:lnSpc>
                <a:spcPct val="105000"/>
              </a:lnSpc>
              <a:spcAft>
                <a:spcPts val="10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데이터 접근 범위와 시스템 부하를 통제할 수 있는 구조로 설계</a:t>
            </a:r>
          </a:p>
        </p:txBody>
      </p:sp>
      <p:sp>
        <p:nvSpPr>
          <p:cNvPr id="148" name="KeyBar"/>
          <p:cNvSpPr/>
          <p:nvPr/>
        </p:nvSpPr>
        <p:spPr>
          <a:xfrm>
            <a:off x="481012" y="6150000"/>
            <a:ext cx="9729787" cy="520000"/>
          </a:xfrm>
          <a:prstGeom prst="roundRect">
            <a:avLst>
              <a:gd name="adj" fmla="val 18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반복적인 데이터 조회·가공을 AI로 자동화하고, 이를 로직 작성·검증·BOM 검증까지 확장 가능한 공통 기반으로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2. 접근 방향 </a:t>
            </a:r>
            <a:r>
              <a:rPr lang="en-US" altLang="ko-KR" sz="1500" b="1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- </a:t>
            </a:r>
            <a:r>
              <a:rPr lang="ko-KR" altLang="en-US" sz="1500" b="1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빼자</a:t>
            </a:r>
            <a:endParaRPr lang="ko-KR" altLang="en-US" sz="1500" b="1" dirty="0">
              <a:solidFill>
                <a:srgbClr val="FFFFFF"/>
              </a:solidFill>
              <a:latin typeface="네오현대 EB" panose="02020800000000000000" pitchFamily="18" charset="-127"/>
              <a:ea typeface="네오현대 EB" panose="02020800000000000000" pitchFamily="18" charset="-127"/>
            </a:endParaRPr>
          </a:p>
        </p:txBody>
      </p:sp>
      <p:pic>
        <p:nvPicPr>
          <p:cNvPr id="166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167" name="Line 167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53" name="TextBox 153"/>
          <p:cNvSpPr txBox="1"/>
          <p:nvPr/>
        </p:nvSpPr>
        <p:spPr>
          <a:xfrm>
            <a:off x="481012" y="103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buNone/>
            </a:pP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AI를 도입한다고 바로 쓸 수 있는 것은 아닙니다. AI는 우리 회사의 데이터 구조를 전혀 모르기 때문입니다.</a:t>
            </a:r>
          </a:p>
        </p:txBody>
      </p:sp>
      <p:sp>
        <p:nvSpPr>
          <p:cNvPr id="154" name="Shape 154"/>
          <p:cNvSpPr/>
          <p:nvPr/>
        </p:nvSpPr>
        <p:spPr>
          <a:xfrm>
            <a:off x="481012" y="1560000"/>
            <a:ext cx="4690000" cy="400000"/>
          </a:xfrm>
          <a:prstGeom prst="roundRect">
            <a:avLst>
              <a:gd name="adj" fmla="val 14000"/>
            </a:avLst>
          </a:prstGeom>
          <a:solidFill>
            <a:srgbClr val="8A9296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범용 AI를 그대로 사용할 경우</a:t>
            </a:r>
          </a:p>
        </p:txBody>
      </p:sp>
      <p:sp>
        <p:nvSpPr>
          <p:cNvPr id="155" name="Shape 155"/>
          <p:cNvSpPr/>
          <p:nvPr/>
        </p:nvSpPr>
        <p:spPr>
          <a:xfrm>
            <a:off x="481012" y="1960000"/>
            <a:ext cx="4690000" cy="2050000"/>
          </a:xfrm>
          <a:prstGeom prst="rect">
            <a:avLst/>
          </a:prstGeom>
          <a:solidFill>
            <a:srgbClr val="F3F5F6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56" name="TextBox 156"/>
          <p:cNvSpPr txBox="1"/>
          <p:nvPr/>
        </p:nvSpPr>
        <p:spPr>
          <a:xfrm>
            <a:off x="741012" y="2170000"/>
            <a:ext cx="4170000" cy="1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8A9296"/>
              </a:buClr>
              <a:buFont typeface="Arial" panose="020B0604020202020204" pitchFamily="34" charset="0"/>
              <a:buChar char="–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사내 PLM 데이터에 접근할 수 없음</a:t>
            </a: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8A9296"/>
              </a:buClr>
              <a:buFont typeface="Arial" panose="020B0604020202020204" pitchFamily="34" charset="0"/>
              <a:buChar char="–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테이블·컬럼·로직 코드 체계를 알지 못함</a:t>
            </a: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8A9296"/>
              </a:buClr>
              <a:buFont typeface="Arial" panose="020B0604020202020204" pitchFamily="34" charset="0"/>
              <a:buChar char="–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답변은 생성되지만 근거 데이터가 없음</a:t>
            </a: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8A9296"/>
              </a:buClr>
              <a:buFont typeface="Arial" panose="020B0604020202020204" pitchFamily="34" charset="0"/>
              <a:buChar char="–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결과를 업무 판단에 그대로 사용할 수 없음</a:t>
            </a:r>
          </a:p>
        </p:txBody>
      </p:sp>
      <p:sp>
        <p:nvSpPr>
          <p:cNvPr id="157" name="Shape 157"/>
          <p:cNvSpPr/>
          <p:nvPr/>
        </p:nvSpPr>
        <p:spPr>
          <a:xfrm>
            <a:off x="5520799" y="1560000"/>
            <a:ext cx="4690000" cy="400000"/>
          </a:xfrm>
          <a:prstGeom prst="roundRect">
            <a:avLst>
              <a:gd name="adj" fmla="val 14000"/>
            </a:avLst>
          </a:prstGeom>
          <a:solidFill>
            <a:srgbClr val="229345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사내 데이터 연동 아키텍처 (본 방식)</a:t>
            </a:r>
          </a:p>
        </p:txBody>
      </p:sp>
      <p:sp>
        <p:nvSpPr>
          <p:cNvPr id="158" name="Shape 158"/>
          <p:cNvSpPr/>
          <p:nvPr/>
        </p:nvSpPr>
        <p:spPr>
          <a:xfrm>
            <a:off x="5520799" y="1960000"/>
            <a:ext cx="4690000" cy="2050000"/>
          </a:xfrm>
          <a:prstGeom prst="rect">
            <a:avLst/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59" name="TextBox 159"/>
          <p:cNvSpPr txBox="1"/>
          <p:nvPr/>
        </p:nvSpPr>
        <p:spPr>
          <a:xfrm>
            <a:off x="5780799" y="2170000"/>
            <a:ext cx="4170000" cy="1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PLM DB 정의서로 데이터 구조를 인식</a:t>
            </a: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150" b="1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질의 시점에</a:t>
            </a: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 실제 데이터를 조회해 근거 확보</a:t>
            </a:r>
            <a:endParaRPr lang="en-US" altLang="ko-KR" sz="1150" dirty="0">
              <a:solidFill>
                <a:srgbClr val="222222"/>
              </a:solidFill>
              <a:latin typeface="맑은 고딕" panose="02020800000000000000" pitchFamily="18" charset="-127"/>
              <a:ea typeface="맑은 고딕" panose="02020800000000000000" pitchFamily="18" charset="-127"/>
            </a:endParaRP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정형화된 고정 데이터는 </a:t>
            </a:r>
            <a:r>
              <a:rPr lang="en-US" altLang="ko-KR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API </a:t>
            </a: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개발을 통해 접근</a:t>
            </a: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조회 범위와 권한을 사내에서 직접 통제</a:t>
            </a:r>
          </a:p>
          <a:p>
            <a:pPr marL="200000" indent="-200000" algn="l">
              <a:lnSpc>
                <a:spcPct val="105000"/>
              </a:lnSpc>
              <a:spcAft>
                <a:spcPts val="10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결과를 검증·보고 업무에 바로 활용</a:t>
            </a:r>
          </a:p>
        </p:txBody>
      </p:sp>
      <p:sp>
        <p:nvSpPr>
          <p:cNvPr id="160" name="Shape 160"/>
          <p:cNvSpPr/>
          <p:nvPr/>
        </p:nvSpPr>
        <p:spPr>
          <a:xfrm>
            <a:off x="481012" y="4320000"/>
            <a:ext cx="9729787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29345"/>
            </a:solidFill>
          </a:ln>
        </p:spPr>
        <p:txBody>
          <a:bodyPr lIns="91440" tIns="45720" rIns="91440" bIns="45720" rtlCol="0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61" name="TextBox 161"/>
          <p:cNvSpPr txBox="1"/>
          <p:nvPr/>
        </p:nvSpPr>
        <p:spPr>
          <a:xfrm>
            <a:off x="781012" y="4530000"/>
            <a:ext cx="9129787" cy="3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4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데이터를 AI에 학습시키는 방식이 아닙니다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81012" y="4960000"/>
            <a:ext cx="9129787" cy="9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05000"/>
              </a:lnSpc>
              <a:spcAft>
                <a:spcPts val="8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모델을 학습(Fine-tuning)시키는 것이 아니라, </a:t>
            </a:r>
            <a:r>
              <a:rPr lang="ko-KR" altLang="en-US" sz="1200" b="1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질문이 들어온 시점에 필요한 데이터만 조회해 참조하는 방식</a:t>
            </a:r>
          </a:p>
          <a:p>
            <a:pPr marL="200000" indent="-200000" algn="l">
              <a:lnSpc>
                <a:spcPct val="105000"/>
              </a:lnSpc>
              <a:spcAft>
                <a:spcPts val="8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데이터는 사내 PLM · 설계 서버에 그대로 존재하며 외부로 이관되지 않음</a:t>
            </a:r>
          </a:p>
          <a:p>
            <a:pPr marL="200000" indent="-200000" algn="l">
              <a:lnSpc>
                <a:spcPct val="105000"/>
              </a:lnSpc>
              <a:spcAft>
                <a:spcPts val="80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조회 계정 · 조회 범위 · 조회 대상은 모두 사내에서 정의하고 관리함</a:t>
            </a:r>
          </a:p>
        </p:txBody>
      </p:sp>
      <p:sp>
        <p:nvSpPr>
          <p:cNvPr id="163" name="KeyBar"/>
          <p:cNvSpPr/>
          <p:nvPr/>
        </p:nvSpPr>
        <p:spPr>
          <a:xfrm>
            <a:off x="481012" y="6250000"/>
            <a:ext cx="9729787" cy="480000"/>
          </a:xfrm>
          <a:prstGeom prst="roundRect">
            <a:avLst>
              <a:gd name="adj" fmla="val 18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필요한 것은 AI 자체가 아니라, AI와 사내 데이터를 연결하는 통로와 그 통로를 통제하는 구조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3</a:t>
            </a:r>
            <a:r>
              <a:rPr lang="ko-KR" altLang="en-US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. 시스템 아키텍처 — 처리 흐름</a:t>
            </a:r>
          </a:p>
        </p:txBody>
      </p:sp>
      <p:pic>
        <p:nvPicPr>
          <p:cNvPr id="215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216" name="Line 216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8" name="TextBox 178"/>
          <p:cNvSpPr txBox="1"/>
          <p:nvPr/>
        </p:nvSpPr>
        <p:spPr>
          <a:xfrm>
            <a:off x="481012" y="100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buNone/>
            </a:pP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자연어 요청 한 건이 결과로 나오기까지의 5단계입니다. 어느 경로로 데이터를 가져올지는 매 요청마다 AI가 판단합니다.</a:t>
            </a:r>
          </a:p>
        </p:txBody>
      </p:sp>
      <p:sp>
        <p:nvSpPr>
          <p:cNvPr id="179" name="SectionPill"/>
          <p:cNvSpPr/>
          <p:nvPr/>
        </p:nvSpPr>
        <p:spPr>
          <a:xfrm>
            <a:off x="481012" y="1500000"/>
            <a:ext cx="27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처리 흐름 (WORKFLOW)</a:t>
            </a:r>
          </a:p>
        </p:txBody>
      </p:sp>
      <p:sp>
        <p:nvSpPr>
          <p:cNvPr id="180" name="Shape 180"/>
          <p:cNvSpPr/>
          <p:nvPr/>
        </p:nvSpPr>
        <p:spPr>
          <a:xfrm>
            <a:off x="486000" y="1960000"/>
            <a:ext cx="1380000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① 사용자 요청</a:t>
            </a:r>
          </a:p>
        </p:txBody>
      </p:sp>
      <p:sp>
        <p:nvSpPr>
          <p:cNvPr id="181" name="Shape 181"/>
          <p:cNvSpPr/>
          <p:nvPr/>
        </p:nvSpPr>
        <p:spPr>
          <a:xfrm>
            <a:off x="2106000" y="1960000"/>
            <a:ext cx="1380000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② AI 판단</a:t>
            </a:r>
          </a:p>
        </p:txBody>
      </p:sp>
      <p:sp>
        <p:nvSpPr>
          <p:cNvPr id="182" name="Shape 182"/>
          <p:cNvSpPr/>
          <p:nvPr/>
        </p:nvSpPr>
        <p:spPr>
          <a:xfrm>
            <a:off x="4046000" y="1960000"/>
            <a:ext cx="2600000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③ 데이터 추출</a:t>
            </a:r>
            <a:r>
              <a:rPr lang="en-US" altLang="ko-KR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(</a:t>
            </a: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설계 </a:t>
            </a:r>
            <a:r>
              <a:rPr lang="en-US" altLang="ko-KR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Server)</a:t>
            </a:r>
            <a:endParaRPr lang="ko-KR" altLang="en-US" sz="1150" b="1" dirty="0">
              <a:solidFill>
                <a:srgbClr val="FFFFFF"/>
              </a:solidFill>
              <a:latin typeface="네오현대 EB" panose="02020800000000000000" pitchFamily="18" charset="-127"/>
              <a:ea typeface="네오현대 EB" panose="02020800000000000000" pitchFamily="18" charset="-127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7206000" y="1960000"/>
            <a:ext cx="1380000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④ AI 분석</a:t>
            </a:r>
          </a:p>
        </p:txBody>
      </p:sp>
      <p:sp>
        <p:nvSpPr>
          <p:cNvPr id="184" name="Shape 184"/>
          <p:cNvSpPr/>
          <p:nvPr/>
        </p:nvSpPr>
        <p:spPr>
          <a:xfrm>
            <a:off x="8826000" y="1960000"/>
            <a:ext cx="1380000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⑤ 결과 제공</a:t>
            </a:r>
          </a:p>
        </p:txBody>
      </p:sp>
      <p:sp>
        <p:nvSpPr>
          <p:cNvPr id="185" name="Shape 185"/>
          <p:cNvSpPr/>
          <p:nvPr/>
        </p:nvSpPr>
        <p:spPr>
          <a:xfrm>
            <a:off x="486000" y="2730000"/>
            <a:ext cx="138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90000" tIns="45720" rIns="90000" bIns="45720" rtlCol="0" anchor="ctr"/>
          <a:lstStyle/>
          <a:p>
            <a:pPr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ko-KR" altLang="en-US" sz="120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자연어 질의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 목적과 조건을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문장으로 입력</a:t>
            </a:r>
          </a:p>
        </p:txBody>
      </p:sp>
      <p:sp>
        <p:nvSpPr>
          <p:cNvPr id="186" name="Shape 186"/>
          <p:cNvSpPr/>
          <p:nvPr/>
        </p:nvSpPr>
        <p:spPr>
          <a:xfrm>
            <a:off x="2106000" y="2730000"/>
            <a:ext cx="138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90000" tIns="45720" rIns="90000" bIns="45720" rtlCol="0" anchor="ctr"/>
          <a:lstStyle/>
          <a:p>
            <a:pPr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ko-KR" altLang="en-US" sz="120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요청 해석 · 경로 결정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필요 데이터 식별 후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SQL / API 중 선택</a:t>
            </a:r>
          </a:p>
        </p:txBody>
      </p:sp>
      <p:sp>
        <p:nvSpPr>
          <p:cNvPr id="187" name="Shape 187"/>
          <p:cNvSpPr/>
          <p:nvPr/>
        </p:nvSpPr>
        <p:spPr>
          <a:xfrm>
            <a:off x="7206000" y="2730000"/>
            <a:ext cx="138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90000" tIns="45720" rIns="90000" bIns="45720" rtlCol="0" anchor="ctr"/>
          <a:lstStyle/>
          <a:p>
            <a:pPr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ko-KR" altLang="en-US" sz="120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대조 · 검증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규칙 대비 비교 수행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누락 · 불일치 판정</a:t>
            </a:r>
          </a:p>
        </p:txBody>
      </p:sp>
      <p:sp>
        <p:nvSpPr>
          <p:cNvPr id="188" name="Shape 188"/>
          <p:cNvSpPr/>
          <p:nvPr/>
        </p:nvSpPr>
        <p:spPr>
          <a:xfrm>
            <a:off x="8826000" y="2730000"/>
            <a:ext cx="138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90000" tIns="45720" rIns="90000" bIns="45720" rtlCol="0" anchor="ctr"/>
          <a:lstStyle/>
          <a:p>
            <a:pPr algn="ctr">
              <a:lnSpc>
                <a:spcPct val="100000"/>
              </a:lnSpc>
              <a:spcAft>
                <a:spcPts val="900"/>
              </a:spcAft>
              <a:buNone/>
            </a:pPr>
            <a:r>
              <a:rPr lang="ko-KR" altLang="en-US" sz="120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결과 산출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검증 리스트 · 보고서</a:t>
            </a:r>
          </a:p>
          <a:p>
            <a:pPr algn="ctr">
              <a:lnSpc>
                <a:spcPct val="112000"/>
              </a:lnSpc>
              <a:buNone/>
            </a:pPr>
            <a:r>
              <a:rPr lang="ko-KR" altLang="en-US" sz="100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Excel · CSV 파일</a:t>
            </a:r>
          </a:p>
        </p:txBody>
      </p:sp>
      <p:sp>
        <p:nvSpPr>
          <p:cNvPr id="189" name="Shape 189"/>
          <p:cNvSpPr/>
          <p:nvPr/>
        </p:nvSpPr>
        <p:spPr>
          <a:xfrm>
            <a:off x="4046000" y="2470000"/>
            <a:ext cx="2600000" cy="980000"/>
          </a:xfrm>
          <a:prstGeom prst="roundRect">
            <a:avLst>
              <a:gd name="adj" fmla="val 10000"/>
            </a:avLst>
          </a:prstGeom>
          <a:solidFill>
            <a:srgbClr val="E7F1F7"/>
          </a:solidFill>
          <a:ln w="12700">
            <a:solidFill>
              <a:srgbClr val="1B6E9C"/>
            </a:solidFill>
          </a:ln>
        </p:spPr>
        <p:txBody>
          <a:bodyPr lIns="91440" tIns="45720" rIns="91440" bIns="45720" rtlCol="0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90" name="TextBox 190"/>
          <p:cNvSpPr txBox="1"/>
          <p:nvPr/>
        </p:nvSpPr>
        <p:spPr>
          <a:xfrm>
            <a:off x="4226000" y="2620000"/>
            <a:ext cx="2240000" cy="2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1B6E9C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경로 A  |  Text-to-SQL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4226000" y="2920000"/>
            <a:ext cx="2240000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8000"/>
              </a:lnSpc>
              <a:buNone/>
            </a:pPr>
            <a:r>
              <a:rPr lang="ko-KR" altLang="en-US" sz="98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DB 정의서 참조 → 쿼리 자동 생성 → VAULT 서버 → PLM DB 직접 조회</a:t>
            </a:r>
          </a:p>
        </p:txBody>
      </p:sp>
      <p:sp>
        <p:nvSpPr>
          <p:cNvPr id="192" name="Shape 192"/>
          <p:cNvSpPr/>
          <p:nvPr/>
        </p:nvSpPr>
        <p:spPr>
          <a:xfrm>
            <a:off x="4046000" y="3610000"/>
            <a:ext cx="2600000" cy="980000"/>
          </a:xfrm>
          <a:prstGeom prst="roundRect">
            <a:avLst>
              <a:gd name="adj" fmla="val 10000"/>
            </a:avLst>
          </a:prstGeom>
          <a:solidFill>
            <a:srgbClr val="FBF1E1"/>
          </a:solidFill>
          <a:ln w="12700">
            <a:solidFill>
              <a:srgbClr val="B8781A"/>
            </a:solidFill>
          </a:ln>
        </p:spPr>
        <p:txBody>
          <a:bodyPr lIns="91440" tIns="45720" rIns="91440" bIns="45720" rtlCol="0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93" name="TextBox 193"/>
          <p:cNvSpPr txBox="1"/>
          <p:nvPr/>
        </p:nvSpPr>
        <p:spPr>
          <a:xfrm>
            <a:off x="4226000" y="3760000"/>
            <a:ext cx="2240000" cy="2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00" b="1" dirty="0">
                <a:solidFill>
                  <a:srgbClr val="B8781A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경로 B  |  전용 API 호출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4226000" y="4060000"/>
            <a:ext cx="2240000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8000"/>
              </a:lnSpc>
              <a:buNone/>
            </a:pPr>
            <a:r>
              <a:rPr lang="ko-KR" altLang="en-US" sz="98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파라미터 전달 → VAULT 서버 기개발 로직 → PLM 시스템 → PLM DB</a:t>
            </a:r>
          </a:p>
        </p:txBody>
      </p:sp>
      <p:cxnSp>
        <p:nvCxnSpPr>
          <p:cNvPr id="195" name="Conn 195"/>
          <p:cNvCxnSpPr/>
          <p:nvPr/>
        </p:nvCxnSpPr>
        <p:spPr>
          <a:xfrm>
            <a:off x="1866000" y="3530000"/>
            <a:ext cx="24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6" name="Conn 196"/>
          <p:cNvCxnSpPr/>
          <p:nvPr/>
        </p:nvCxnSpPr>
        <p:spPr>
          <a:xfrm flipV="1">
            <a:off x="3486000" y="2960000"/>
            <a:ext cx="560000" cy="570000"/>
          </a:xfrm>
          <a:prstGeom prst="straightConnector1">
            <a:avLst/>
          </a:prstGeom>
          <a:ln w="19050">
            <a:solidFill>
              <a:srgbClr val="1B6E9C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7" name="Conn 197"/>
          <p:cNvCxnSpPr/>
          <p:nvPr/>
        </p:nvCxnSpPr>
        <p:spPr>
          <a:xfrm>
            <a:off x="3486000" y="3530000"/>
            <a:ext cx="560000" cy="570000"/>
          </a:xfrm>
          <a:prstGeom prst="straightConnector1">
            <a:avLst/>
          </a:prstGeom>
          <a:ln w="19050">
            <a:solidFill>
              <a:srgbClr val="B8781A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Conn 198"/>
          <p:cNvCxnSpPr/>
          <p:nvPr/>
        </p:nvCxnSpPr>
        <p:spPr>
          <a:xfrm>
            <a:off x="6646000" y="2960000"/>
            <a:ext cx="560000" cy="570000"/>
          </a:xfrm>
          <a:prstGeom prst="straightConnector1">
            <a:avLst/>
          </a:prstGeom>
          <a:ln w="19050">
            <a:solidFill>
              <a:srgbClr val="1B6E9C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Conn 199"/>
          <p:cNvCxnSpPr/>
          <p:nvPr/>
        </p:nvCxnSpPr>
        <p:spPr>
          <a:xfrm flipV="1">
            <a:off x="6646000" y="3530000"/>
            <a:ext cx="560000" cy="570000"/>
          </a:xfrm>
          <a:prstGeom prst="straightConnector1">
            <a:avLst/>
          </a:prstGeom>
          <a:ln w="19050">
            <a:solidFill>
              <a:srgbClr val="B8781A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0" name="Conn 200"/>
          <p:cNvCxnSpPr/>
          <p:nvPr/>
        </p:nvCxnSpPr>
        <p:spPr>
          <a:xfrm>
            <a:off x="8586000" y="3530000"/>
            <a:ext cx="24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1" name="TextBox 201"/>
          <p:cNvSpPr txBox="1"/>
          <p:nvPr/>
        </p:nvSpPr>
        <p:spPr>
          <a:xfrm>
            <a:off x="2106000" y="4390000"/>
            <a:ext cx="1380000" cy="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▲ AI가 경로 선택</a:t>
            </a:r>
          </a:p>
        </p:txBody>
      </p:sp>
      <p:sp>
        <p:nvSpPr>
          <p:cNvPr id="202" name="SectionPill"/>
          <p:cNvSpPr/>
          <p:nvPr/>
        </p:nvSpPr>
        <p:spPr>
          <a:xfrm>
            <a:off x="481012" y="484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예시 시나리오</a:t>
            </a:r>
          </a:p>
        </p:txBody>
      </p:sp>
      <p:sp>
        <p:nvSpPr>
          <p:cNvPr id="203" name="Shape 203"/>
          <p:cNvSpPr/>
          <p:nvPr/>
        </p:nvSpPr>
        <p:spPr>
          <a:xfrm>
            <a:off x="486000" y="5290000"/>
            <a:ext cx="1380000" cy="7800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>
            <a:noFill/>
          </a:ln>
        </p:spPr>
        <p:txBody>
          <a:bodyPr lIns="60000" tIns="45720" rIns="60000" bIns="45720" rtlCol="0" anchor="ctr"/>
          <a:lstStyle/>
          <a:p>
            <a:pPr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「</a:t>
            </a:r>
            <a:r>
              <a:rPr lang="en-US" altLang="ko-KR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2026</a:t>
            </a: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년 </a:t>
            </a:r>
            <a:r>
              <a:rPr lang="en-US" altLang="ko-KR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SUBWEIGHT </a:t>
            </a: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사용한 현장 브랜드별로 분석 해줘」</a:t>
            </a:r>
          </a:p>
        </p:txBody>
      </p:sp>
      <p:sp>
        <p:nvSpPr>
          <p:cNvPr id="204" name="Shape 204"/>
          <p:cNvSpPr/>
          <p:nvPr/>
        </p:nvSpPr>
        <p:spPr>
          <a:xfrm>
            <a:off x="2106000" y="5290000"/>
            <a:ext cx="1380000" cy="7800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>
            <a:noFill/>
          </a:ln>
        </p:spPr>
        <p:txBody>
          <a:bodyPr lIns="60000" tIns="45720" rIns="60000" bIns="45720" rtlCol="0" anchor="ctr"/>
          <a:lstStyle/>
          <a:p>
            <a:pPr algn="ctr"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제품 · BOM 테이블</a:t>
            </a:r>
          </a:p>
          <a:p>
            <a:pPr algn="ctr"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조회 필요 판단</a:t>
            </a:r>
          </a:p>
        </p:txBody>
      </p:sp>
      <p:sp>
        <p:nvSpPr>
          <p:cNvPr id="205" name="Shape 205"/>
          <p:cNvSpPr/>
          <p:nvPr/>
        </p:nvSpPr>
        <p:spPr>
          <a:xfrm>
            <a:off x="4046000" y="5290000"/>
            <a:ext cx="2600000" cy="7800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>
            <a:noFill/>
          </a:ln>
        </p:spPr>
        <p:txBody>
          <a:bodyPr lIns="60000" tIns="45720" rIns="60000" bIns="45720" rtlCol="0" anchor="ctr"/>
          <a:lstStyle/>
          <a:p>
            <a:pPr algn="ctr"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SQL 자동 생성 후</a:t>
            </a:r>
          </a:p>
          <a:p>
            <a:pPr algn="ctr"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PLM DB 조회</a:t>
            </a:r>
          </a:p>
        </p:txBody>
      </p:sp>
      <p:sp>
        <p:nvSpPr>
          <p:cNvPr id="206" name="Shape 206"/>
          <p:cNvSpPr/>
          <p:nvPr/>
        </p:nvSpPr>
        <p:spPr>
          <a:xfrm>
            <a:off x="7206000" y="5290000"/>
            <a:ext cx="1380000" cy="7800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>
            <a:noFill/>
          </a:ln>
        </p:spPr>
        <p:txBody>
          <a:bodyPr lIns="60000" tIns="45720" rIns="60000" bIns="45720" rtlCol="0" anchor="ctr"/>
          <a:lstStyle/>
          <a:p>
            <a:pPr algn="ctr"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요청 기반으로 </a:t>
            </a:r>
            <a:endParaRPr lang="en-US" altLang="ko-KR" sz="950" dirty="0">
              <a:solidFill>
                <a:srgbClr val="5C6468"/>
              </a:solidFill>
              <a:latin typeface="맑은 고딕" panose="02020800000000000000" pitchFamily="18" charset="-127"/>
              <a:ea typeface="맑은 고딕" panose="02020800000000000000" pitchFamily="18" charset="-127"/>
            </a:endParaRPr>
          </a:p>
          <a:p>
            <a:pPr algn="ctr">
              <a:lnSpc>
                <a:spcPct val="115000"/>
              </a:lnSpc>
              <a:buNone/>
            </a:pP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데이터 분석</a:t>
            </a:r>
          </a:p>
        </p:txBody>
      </p:sp>
      <p:sp>
        <p:nvSpPr>
          <p:cNvPr id="207" name="Shape 207"/>
          <p:cNvSpPr/>
          <p:nvPr/>
        </p:nvSpPr>
        <p:spPr>
          <a:xfrm>
            <a:off x="8826000" y="5290000"/>
            <a:ext cx="1380000" cy="780000"/>
          </a:xfrm>
          <a:prstGeom prst="roundRect">
            <a:avLst>
              <a:gd name="adj" fmla="val 10000"/>
            </a:avLst>
          </a:prstGeom>
          <a:solidFill>
            <a:srgbClr val="F3F5F6"/>
          </a:solidFill>
          <a:ln>
            <a:noFill/>
          </a:ln>
        </p:spPr>
        <p:txBody>
          <a:bodyPr lIns="60000" tIns="45720" rIns="60000" bIns="45720" rtlCol="0" anchor="ctr"/>
          <a:lstStyle/>
          <a:p>
            <a:pPr algn="ctr">
              <a:lnSpc>
                <a:spcPct val="115000"/>
              </a:lnSpc>
              <a:buNone/>
            </a:pPr>
            <a:r>
              <a:rPr lang="ko-KR" altLang="en-US" sz="950" dirty="0" err="1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블랜드</a:t>
            </a: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 별 통계 수치 </a:t>
            </a:r>
            <a:r>
              <a:rPr lang="en-US" altLang="ko-KR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+ </a:t>
            </a:r>
            <a:r>
              <a:rPr lang="ko-KR" altLang="en-US" sz="95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다양한 인사이트 제시</a:t>
            </a:r>
          </a:p>
        </p:txBody>
      </p:sp>
      <p:cxnSp>
        <p:nvCxnSpPr>
          <p:cNvPr id="208" name="Conn 208"/>
          <p:cNvCxnSpPr/>
          <p:nvPr/>
        </p:nvCxnSpPr>
        <p:spPr>
          <a:xfrm>
            <a:off x="1896000" y="5680000"/>
            <a:ext cx="180000" cy="0"/>
          </a:xfrm>
          <a:prstGeom prst="straightConnector1">
            <a:avLst/>
          </a:prstGeom>
          <a:ln w="12700">
            <a:solidFill>
              <a:srgbClr val="9AA3A7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Conn 209"/>
          <p:cNvCxnSpPr/>
          <p:nvPr/>
        </p:nvCxnSpPr>
        <p:spPr>
          <a:xfrm>
            <a:off x="3676000" y="5680000"/>
            <a:ext cx="180000" cy="0"/>
          </a:xfrm>
          <a:prstGeom prst="straightConnector1">
            <a:avLst/>
          </a:prstGeom>
          <a:ln w="12700">
            <a:solidFill>
              <a:srgbClr val="9AA3A7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Conn 210"/>
          <p:cNvCxnSpPr/>
          <p:nvPr/>
        </p:nvCxnSpPr>
        <p:spPr>
          <a:xfrm>
            <a:off x="6836000" y="5680000"/>
            <a:ext cx="180000" cy="0"/>
          </a:xfrm>
          <a:prstGeom prst="straightConnector1">
            <a:avLst/>
          </a:prstGeom>
          <a:ln w="12700">
            <a:solidFill>
              <a:srgbClr val="9AA3A7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1" name="Conn 211"/>
          <p:cNvCxnSpPr/>
          <p:nvPr/>
        </p:nvCxnSpPr>
        <p:spPr>
          <a:xfrm>
            <a:off x="8616000" y="5680000"/>
            <a:ext cx="180000" cy="0"/>
          </a:xfrm>
          <a:prstGeom prst="straightConnector1">
            <a:avLst/>
          </a:prstGeom>
          <a:ln w="12700">
            <a:solidFill>
              <a:srgbClr val="9AA3A7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2" name="KeyBar"/>
          <p:cNvSpPr/>
          <p:nvPr/>
        </p:nvSpPr>
        <p:spPr>
          <a:xfrm>
            <a:off x="481012" y="6320000"/>
            <a:ext cx="9729787" cy="480000"/>
          </a:xfrm>
          <a:prstGeom prst="roundRect">
            <a:avLst>
              <a:gd name="adj" fmla="val 18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경로 선택 · 쿼리 생성 · 판정 기준 적용이 모두 </a:t>
            </a:r>
            <a:r>
              <a:rPr lang="en-US" altLang="ko-KR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‘</a:t>
            </a:r>
            <a:r>
              <a:rPr lang="ko-KR" altLang="en-US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요청 시점</a:t>
            </a:r>
            <a:r>
              <a:rPr lang="en-US" altLang="ko-KR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’</a:t>
            </a:r>
            <a:r>
              <a:rPr lang="ko-KR" altLang="en-US" sz="1250" b="1" dirty="0">
                <a:solidFill>
                  <a:srgbClr val="13702F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에 결정됩니다 — 사전에 정의된 실행 시나리오가 없는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6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4</a:t>
            </a:r>
            <a:r>
              <a:rPr lang="en-US" altLang="ko-KR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.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 이 구조가 가능한 이유 — 기반 자산</a:t>
            </a:r>
          </a:p>
        </p:txBody>
      </p:sp>
      <p:pic>
        <p:nvPicPr>
          <p:cNvPr id="267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268" name="Line 268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48" name="TextBox 248"/>
          <p:cNvSpPr txBox="1"/>
          <p:nvPr/>
        </p:nvSpPr>
        <p:spPr>
          <a:xfrm>
            <a:off x="481012" y="103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앞의 처리 흐름이 동작하는 이유는 단순합니다. 우리 데이터의 구조와 업무의 의도를 AI가 읽을 수 있는 형태로 미리 정리해 두었기 때문입니다.</a:t>
            </a:r>
          </a:p>
        </p:txBody>
      </p:sp>
      <p:sp>
        <p:nvSpPr>
          <p:cNvPr id="249" name="Shape 249"/>
          <p:cNvSpPr/>
          <p:nvPr/>
        </p:nvSpPr>
        <p:spPr>
          <a:xfrm>
            <a:off x="481012" y="1560000"/>
            <a:ext cx="4690000" cy="350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6350">
            <a:solidFill>
              <a:srgbClr val="D3D9DC"/>
            </a:solidFill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3" name="TextBox 253"/>
          <p:cNvSpPr txBox="1"/>
          <p:nvPr/>
        </p:nvSpPr>
        <p:spPr>
          <a:xfrm>
            <a:off x="741012" y="2600000"/>
            <a:ext cx="41700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PLM DB 테이블 정의서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테이블 · 컬럼의 의미, 코드 체계, 테이블 간 관계를 문서로 정의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어떤 데이터가 어디에 있는지 AI가 스스로 판단할 수 있게 됨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질의에 필요한 부분만 선별해 읽고 SQL 생성의 근거로 사용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동시에 조회를 허용하는 범위의 기준 역할을 겸함</a:t>
            </a:r>
          </a:p>
        </p:txBody>
      </p:sp>
      <p:sp>
        <p:nvSpPr>
          <p:cNvPr id="254" name="Shape 254"/>
          <p:cNvSpPr/>
          <p:nvPr/>
        </p:nvSpPr>
        <p:spPr>
          <a:xfrm>
            <a:off x="741012" y="4320000"/>
            <a:ext cx="4170000" cy="560000"/>
          </a:xfrm>
          <a:prstGeom prst="roundRect">
            <a:avLst>
              <a:gd name="adj" fmla="val 14000"/>
            </a:avLst>
          </a:prstGeom>
          <a:solidFill>
            <a:srgbClr val="FDF4F4"/>
          </a:solidFill>
          <a:ln>
            <a:noFill/>
          </a:ln>
        </p:spPr>
        <p:txBody>
          <a:bodyPr lIns="120000" tIns="45720" rIns="12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이 정의서가 없으면 AI는 쿼리 자체를 만들 수 없습니다  </a:t>
            </a:r>
            <a:endParaRPr kumimoji="0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B03030"/>
              </a:solidFill>
              <a:effectLst/>
              <a:uLnTx/>
              <a:uFillTx/>
              <a:latin typeface="맑은 고딕" panose="02020800000000000000" pitchFamily="18" charset="-127"/>
              <a:ea typeface="맑은 고딕" panose="02020800000000000000" pitchFamily="18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(경로 A 불가)</a:t>
            </a:r>
          </a:p>
        </p:txBody>
      </p:sp>
      <p:sp>
        <p:nvSpPr>
          <p:cNvPr id="255" name="Shape 255"/>
          <p:cNvSpPr/>
          <p:nvPr/>
        </p:nvSpPr>
        <p:spPr>
          <a:xfrm>
            <a:off x="5520799" y="1560000"/>
            <a:ext cx="4690000" cy="350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6350">
            <a:solidFill>
              <a:srgbClr val="D3D9DC"/>
            </a:solidFill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9" name="TextBox 259"/>
          <p:cNvSpPr txBox="1"/>
          <p:nvPr/>
        </p:nvSpPr>
        <p:spPr>
          <a:xfrm>
            <a:off x="5780799" y="2600000"/>
            <a:ext cx="41700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설계서버(VAULT) 전용 API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단순 조회로는 나오지 않는 데이터를 업무 기준에 맞게 가공해 제공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대표 호기 BOM 추출 등 업무 목적에 맞춰 개별 개발</a:t>
            </a:r>
          </a:p>
          <a:p>
            <a:pPr marL="200000" marR="0" lvl="0" indent="-20000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Clr>
                <a:srgbClr val="22934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1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과 일관성과 시스템 및 검증이 끝난 반복 조회를 표준 통로로 고정하는 수단</a:t>
            </a:r>
          </a:p>
        </p:txBody>
      </p:sp>
      <p:sp>
        <p:nvSpPr>
          <p:cNvPr id="260" name="Shape 260"/>
          <p:cNvSpPr/>
          <p:nvPr/>
        </p:nvSpPr>
        <p:spPr>
          <a:xfrm>
            <a:off x="5780799" y="4320000"/>
            <a:ext cx="4170000" cy="560000"/>
          </a:xfrm>
          <a:prstGeom prst="roundRect">
            <a:avLst>
              <a:gd name="adj" fmla="val 14000"/>
            </a:avLst>
          </a:prstGeom>
          <a:solidFill>
            <a:srgbClr val="FDF4F4"/>
          </a:solidFill>
          <a:ln>
            <a:noFill/>
          </a:ln>
        </p:spPr>
        <p:txBody>
          <a:bodyPr lIns="120000" tIns="45720" rIns="12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이 API가 없으면 PLM 시스템 단계의 데이터에 접근할 수 없습니다  (경로 B 불가)</a:t>
            </a:r>
          </a:p>
        </p:txBody>
      </p:sp>
      <p:sp>
        <p:nvSpPr>
          <p:cNvPr id="261" name="Shape 261"/>
          <p:cNvSpPr/>
          <p:nvPr/>
        </p:nvSpPr>
        <p:spPr>
          <a:xfrm>
            <a:off x="481012" y="5260000"/>
            <a:ext cx="9729787" cy="11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29345"/>
            </a:solidFill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3" name="TextBox 263"/>
          <p:cNvSpPr txBox="1"/>
          <p:nvPr/>
        </p:nvSpPr>
        <p:spPr>
          <a:xfrm>
            <a:off x="741012" y="5579675"/>
            <a:ext cx="9129787" cy="4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정의서는 PLM 데이터 구조를 전량 정리한 것이고, API는 우리 업무가 무엇을 필요로 하는지를 알고 그 의도에 맞게 개발한 것입니다. 시중의 AI 도구를 도입해서 되는 부분이 아닙니다.</a:t>
            </a:r>
          </a:p>
        </p:txBody>
      </p:sp>
      <p:sp>
        <p:nvSpPr>
          <p:cNvPr id="264" name="KeyBar"/>
          <p:cNvSpPr/>
          <p:nvPr/>
        </p:nvSpPr>
        <p:spPr>
          <a:xfrm>
            <a:off x="481012" y="6560000"/>
            <a:ext cx="9729787" cy="470000"/>
          </a:xfrm>
          <a:prstGeom prst="roundRect">
            <a:avLst>
              <a:gd name="adj" fmla="val 18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AI가 잘해서 되는 것이 아니라, 우리 데이터와 업무 의도를 AI가 읽을 수 있게 정리해 두었기 때문에 동작하는 구조입니다</a:t>
            </a:r>
          </a:p>
        </p:txBody>
      </p:sp>
      <p:sp>
        <p:nvSpPr>
          <p:cNvPr id="3" name="Shape 180">
            <a:extLst>
              <a:ext uri="{FF2B5EF4-FFF2-40B4-BE49-F238E27FC236}">
                <a16:creationId xmlns:a16="http://schemas.microsoft.com/office/drawing/2014/main" id="{6970AD71-9404-FDC2-A3A8-7EE80D949850}"/>
              </a:ext>
            </a:extLst>
          </p:cNvPr>
          <p:cNvSpPr/>
          <p:nvPr/>
        </p:nvSpPr>
        <p:spPr>
          <a:xfrm>
            <a:off x="476250" y="1560000"/>
            <a:ext cx="4689999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en-US" altLang="ko-KR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PLM DB </a:t>
            </a: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테이블 정의서</a:t>
            </a:r>
          </a:p>
        </p:txBody>
      </p:sp>
      <p:sp>
        <p:nvSpPr>
          <p:cNvPr id="5" name="Shape 180">
            <a:extLst>
              <a:ext uri="{FF2B5EF4-FFF2-40B4-BE49-F238E27FC236}">
                <a16:creationId xmlns:a16="http://schemas.microsoft.com/office/drawing/2014/main" id="{F43E6BAB-5FEF-9FC7-9B3E-593D9F9900AD}"/>
              </a:ext>
            </a:extLst>
          </p:cNvPr>
          <p:cNvSpPr/>
          <p:nvPr/>
        </p:nvSpPr>
        <p:spPr>
          <a:xfrm>
            <a:off x="5516036" y="1555000"/>
            <a:ext cx="4689999" cy="350000"/>
          </a:xfrm>
          <a:prstGeom prst="roundRect">
            <a:avLst>
              <a:gd name="adj" fmla="val 25000"/>
            </a:avLst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설계 서버 전용 </a:t>
            </a:r>
            <a:r>
              <a:rPr lang="en-US" altLang="ko-KR" sz="115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API</a:t>
            </a:r>
            <a:endParaRPr lang="ko-KR" altLang="en-US" sz="1150" b="1" dirty="0">
              <a:solidFill>
                <a:srgbClr val="FFFFFF"/>
              </a:solidFill>
              <a:latin typeface="네오현대 EB" panose="02020800000000000000" pitchFamily="18" charset="-127"/>
              <a:ea typeface="네오현대 EB" panose="02020800000000000000" pitchFamily="18" charset="-127"/>
            </a:endParaRPr>
          </a:p>
        </p:txBody>
      </p:sp>
      <p:sp>
        <p:nvSpPr>
          <p:cNvPr id="7" name="TextBox 262">
            <a:extLst>
              <a:ext uri="{FF2B5EF4-FFF2-40B4-BE49-F238E27FC236}">
                <a16:creationId xmlns:a16="http://schemas.microsoft.com/office/drawing/2014/main" id="{C4C1EB39-7394-5796-9029-6CDEDC7FCC2F}"/>
              </a:ext>
            </a:extLst>
          </p:cNvPr>
          <p:cNvSpPr txBox="1"/>
          <p:nvPr/>
        </p:nvSpPr>
        <p:spPr>
          <a:xfrm>
            <a:off x="1503881" y="2076403"/>
            <a:ext cx="2634736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AI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가 데이터 구조를 이해하는 근거</a:t>
            </a:r>
          </a:p>
        </p:txBody>
      </p:sp>
      <p:sp>
        <p:nvSpPr>
          <p:cNvPr id="9" name="TextBox 262">
            <a:extLst>
              <a:ext uri="{FF2B5EF4-FFF2-40B4-BE49-F238E27FC236}">
                <a16:creationId xmlns:a16="http://schemas.microsoft.com/office/drawing/2014/main" id="{E904A32E-FACF-45CD-920C-17D86166B754}"/>
              </a:ext>
            </a:extLst>
          </p:cNvPr>
          <p:cNvSpPr txBox="1"/>
          <p:nvPr/>
        </p:nvSpPr>
        <p:spPr>
          <a:xfrm>
            <a:off x="6553196" y="2075373"/>
            <a:ext cx="2634736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업무의 의도가 반영된 </a:t>
            </a:r>
            <a:r>
              <a:rPr lang="ko-KR" altLang="en-US" sz="13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데이터 통로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13702F"/>
              </a:solidFill>
              <a:effectLst/>
              <a:uLnTx/>
              <a:uFillTx/>
              <a:latin typeface="네오현대 EB" panose="02020800000000000000" pitchFamily="18" charset="-127"/>
              <a:ea typeface="네오현대 EB" panose="02020800000000000000" pitchFamily="18" charset="-127"/>
              <a:cs typeface="+mn-cs"/>
            </a:endParaRPr>
          </a:p>
        </p:txBody>
      </p:sp>
      <p:cxnSp>
        <p:nvCxnSpPr>
          <p:cNvPr id="10" name="Line 299">
            <a:extLst>
              <a:ext uri="{FF2B5EF4-FFF2-40B4-BE49-F238E27FC236}">
                <a16:creationId xmlns:a16="http://schemas.microsoft.com/office/drawing/2014/main" id="{6D22F61A-99AA-9233-FD30-AF936AA94112}"/>
              </a:ext>
            </a:extLst>
          </p:cNvPr>
          <p:cNvCxnSpPr>
            <a:cxnSpLocks/>
          </p:cNvCxnSpPr>
          <p:nvPr/>
        </p:nvCxnSpPr>
        <p:spPr>
          <a:xfrm>
            <a:off x="1085851" y="2385643"/>
            <a:ext cx="31382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cxnSp>
        <p:nvCxnSpPr>
          <p:cNvPr id="12" name="Line 299">
            <a:extLst>
              <a:ext uri="{FF2B5EF4-FFF2-40B4-BE49-F238E27FC236}">
                <a16:creationId xmlns:a16="http://schemas.microsoft.com/office/drawing/2014/main" id="{9F920656-121E-132B-F905-C49FC938487E}"/>
              </a:ext>
            </a:extLst>
          </p:cNvPr>
          <p:cNvCxnSpPr>
            <a:cxnSpLocks/>
          </p:cNvCxnSpPr>
          <p:nvPr/>
        </p:nvCxnSpPr>
        <p:spPr>
          <a:xfrm>
            <a:off x="6291895" y="2385643"/>
            <a:ext cx="31382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7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5.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 서버 구성 및 데이터 흐름</a:t>
            </a:r>
          </a:p>
        </p:txBody>
      </p:sp>
      <p:pic>
        <p:nvPicPr>
          <p:cNvPr id="298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299" name="Line 299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69" name="TextBox 269"/>
          <p:cNvSpPr txBox="1"/>
          <p:nvPr/>
        </p:nvSpPr>
        <p:spPr>
          <a:xfrm>
            <a:off x="481012" y="102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앞의 처리 흐름을 서버 단위로 다시 그린 것입니다. 요청이 어느 서버를 거쳐 어디까지 내려가는지를 보여드립니다.</a:t>
            </a:r>
          </a:p>
        </p:txBody>
      </p:sp>
      <p:sp>
        <p:nvSpPr>
          <p:cNvPr id="270" name="Shape 270"/>
          <p:cNvSpPr/>
          <p:nvPr/>
        </p:nvSpPr>
        <p:spPr>
          <a:xfrm>
            <a:off x="520000" y="2768963"/>
            <a:ext cx="1350000" cy="7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txBody>
          <a:bodyPr lIns="60000" tIns="45720" rIns="6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사용자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설계 담당자</a:t>
            </a:r>
          </a:p>
        </p:txBody>
      </p:sp>
      <p:sp>
        <p:nvSpPr>
          <p:cNvPr id="271" name="Shape 271"/>
          <p:cNvSpPr/>
          <p:nvPr/>
        </p:nvSpPr>
        <p:spPr>
          <a:xfrm>
            <a:off x="2400000" y="2418963"/>
            <a:ext cx="2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29345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120000" tIns="45720" rIns="12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안티그래비티 IDE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사용자 PC</a:t>
            </a:r>
          </a:p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문서 검색 · 경로 판단 · 결과 분석</a:t>
            </a:r>
          </a:p>
        </p:txBody>
      </p:sp>
      <p:sp>
        <p:nvSpPr>
          <p:cNvPr id="272" name="Shape 272"/>
          <p:cNvSpPr/>
          <p:nvPr/>
        </p:nvSpPr>
        <p:spPr>
          <a:xfrm>
            <a:off x="2550000" y="4168963"/>
            <a:ext cx="1800000" cy="750000"/>
          </a:xfrm>
          <a:prstGeom prst="flowChartDocument">
            <a:avLst/>
          </a:prstGeom>
          <a:solidFill>
            <a:srgbClr val="E9F5EC"/>
          </a:solidFill>
          <a:ln w="6350">
            <a:solidFill>
              <a:srgbClr val="229345"/>
            </a:solidFill>
          </a:ln>
        </p:spPr>
        <p:txBody>
          <a:bodyPr lIns="80000" tIns="45720" rIns="8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PLM DB 정의서 · 업무 규칙 문서</a:t>
            </a:r>
          </a:p>
        </p:txBody>
      </p:sp>
      <p:sp>
        <p:nvSpPr>
          <p:cNvPr id="273" name="Shape 273"/>
          <p:cNvSpPr/>
          <p:nvPr/>
        </p:nvSpPr>
        <p:spPr>
          <a:xfrm>
            <a:off x="5000000" y="2418963"/>
            <a:ext cx="2100000" cy="1400000"/>
          </a:xfrm>
          <a:prstGeom prst="roundRect">
            <a:avLst>
              <a:gd name="adj" fmla="val 8000"/>
            </a:avLst>
          </a:prstGeom>
          <a:solidFill>
            <a:srgbClr val="229345"/>
          </a:solidFill>
          <a:ln>
            <a:noFill/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120000" tIns="45720" rIns="12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설계서버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8EED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연동 · 실행 계층</a:t>
            </a:r>
          </a:p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SQL 실행 · 전용 API 호출</a:t>
            </a:r>
          </a:p>
        </p:txBody>
      </p:sp>
      <p:sp>
        <p:nvSpPr>
          <p:cNvPr id="274" name="Shape 274"/>
          <p:cNvSpPr/>
          <p:nvPr/>
        </p:nvSpPr>
        <p:spPr>
          <a:xfrm>
            <a:off x="7600000" y="1868963"/>
            <a:ext cx="2600000" cy="850000"/>
          </a:xfrm>
          <a:prstGeom prst="roundRect">
            <a:avLst>
              <a:gd name="adj" fmla="val 12000"/>
            </a:avLst>
          </a:prstGeom>
          <a:solidFill>
            <a:srgbClr val="FBF1E1"/>
          </a:solidFill>
          <a:ln w="12700">
            <a:solidFill>
              <a:srgbClr val="B8781A"/>
            </a:solidFill>
          </a:ln>
        </p:spPr>
        <p:txBody>
          <a:bodyPr lIns="100000" tIns="45720" rIns="10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</a:rPr>
              <a:t>서버에서 실시간으로</a:t>
            </a:r>
            <a:endParaRPr kumimoji="0" lang="en-US" altLang="ko-KR" sz="12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네오현대 EB" panose="02020800000000000000" pitchFamily="18" charset="-127"/>
              <a:ea typeface="네오현대 EB" panose="02020800000000000000" pitchFamily="18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</a:rPr>
              <a:t>업무 기준에 맞춘 데이터 가공</a:t>
            </a:r>
          </a:p>
        </p:txBody>
      </p:sp>
      <p:sp>
        <p:nvSpPr>
          <p:cNvPr id="275" name="Shape 275"/>
          <p:cNvSpPr/>
          <p:nvPr/>
        </p:nvSpPr>
        <p:spPr>
          <a:xfrm>
            <a:off x="8000000" y="3468963"/>
            <a:ext cx="1800000" cy="900000"/>
          </a:xfrm>
          <a:prstGeom prst="can">
            <a:avLst/>
          </a:prstGeom>
          <a:solidFill>
            <a:srgbClr val="E7F1F7"/>
          </a:solidFill>
          <a:ln w="12700">
            <a:solidFill>
              <a:srgbClr val="1B6E9C"/>
            </a:solidFill>
          </a:ln>
        </p:spPr>
        <p:txBody>
          <a:bodyPr lIns="60000" tIns="45720" rIns="6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PLM DB</a:t>
            </a:r>
          </a:p>
        </p:txBody>
      </p:sp>
      <p:cxnSp>
        <p:nvCxnSpPr>
          <p:cNvPr id="276" name="Conn 276"/>
          <p:cNvCxnSpPr/>
          <p:nvPr/>
        </p:nvCxnSpPr>
        <p:spPr>
          <a:xfrm>
            <a:off x="1870000" y="3118963"/>
            <a:ext cx="53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7" name="Conn 277"/>
          <p:cNvCxnSpPr/>
          <p:nvPr/>
        </p:nvCxnSpPr>
        <p:spPr>
          <a:xfrm>
            <a:off x="3450000" y="3848963"/>
            <a:ext cx="0" cy="29000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8" name="Conn 278"/>
          <p:cNvCxnSpPr/>
          <p:nvPr/>
        </p:nvCxnSpPr>
        <p:spPr>
          <a:xfrm>
            <a:off x="4500000" y="3118963"/>
            <a:ext cx="50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9" name="Conn 279"/>
          <p:cNvCxnSpPr/>
          <p:nvPr/>
        </p:nvCxnSpPr>
        <p:spPr>
          <a:xfrm flipV="1">
            <a:off x="7100000" y="2293963"/>
            <a:ext cx="500000" cy="825000"/>
          </a:xfrm>
          <a:prstGeom prst="straightConnector1">
            <a:avLst/>
          </a:prstGeom>
          <a:ln w="19050">
            <a:solidFill>
              <a:srgbClr val="B8781A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0" name="Conn 280"/>
          <p:cNvCxnSpPr/>
          <p:nvPr/>
        </p:nvCxnSpPr>
        <p:spPr>
          <a:xfrm>
            <a:off x="7100000" y="3118963"/>
            <a:ext cx="900000" cy="800000"/>
          </a:xfrm>
          <a:prstGeom prst="straightConnector1">
            <a:avLst/>
          </a:prstGeom>
          <a:ln w="19050">
            <a:solidFill>
              <a:srgbClr val="1B6E9C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1" name="Conn 281"/>
          <p:cNvCxnSpPr/>
          <p:nvPr/>
        </p:nvCxnSpPr>
        <p:spPr>
          <a:xfrm>
            <a:off x="8900000" y="2738963"/>
            <a:ext cx="0" cy="700000"/>
          </a:xfrm>
          <a:prstGeom prst="straightConnector1">
            <a:avLst/>
          </a:prstGeom>
          <a:ln w="19050">
            <a:solidFill>
              <a:srgbClr val="B8781A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2" name="Line 282"/>
          <p:cNvCxnSpPr>
            <a:cxnSpLocks/>
          </p:cNvCxnSpPr>
          <p:nvPr/>
        </p:nvCxnSpPr>
        <p:spPr>
          <a:xfrm>
            <a:off x="6037130" y="1782924"/>
            <a:ext cx="0" cy="636039"/>
          </a:xfrm>
          <a:prstGeom prst="line">
            <a:avLst/>
          </a:prstGeom>
          <a:ln w="12700">
            <a:solidFill>
              <a:srgbClr val="9AA3A7"/>
            </a:solidFill>
            <a:prstDash val="dash"/>
          </a:ln>
        </p:spPr>
      </p:cxnSp>
      <p:cxnSp>
        <p:nvCxnSpPr>
          <p:cNvPr id="283" name="Line 283"/>
          <p:cNvCxnSpPr>
            <a:cxnSpLocks/>
          </p:cNvCxnSpPr>
          <p:nvPr/>
        </p:nvCxnSpPr>
        <p:spPr>
          <a:xfrm>
            <a:off x="3450000" y="1777232"/>
            <a:ext cx="2600000" cy="5692"/>
          </a:xfrm>
          <a:prstGeom prst="line">
            <a:avLst/>
          </a:prstGeom>
          <a:ln w="12700">
            <a:solidFill>
              <a:srgbClr val="9AA3A7"/>
            </a:solidFill>
            <a:prstDash val="dash"/>
          </a:ln>
        </p:spPr>
      </p:cxnSp>
      <p:cxnSp>
        <p:nvCxnSpPr>
          <p:cNvPr id="284" name="Conn 284"/>
          <p:cNvCxnSpPr>
            <a:cxnSpLocks/>
            <a:endCxn id="271" idx="0"/>
          </p:cNvCxnSpPr>
          <p:nvPr/>
        </p:nvCxnSpPr>
        <p:spPr>
          <a:xfrm>
            <a:off x="3450000" y="1778176"/>
            <a:ext cx="0" cy="640787"/>
          </a:xfrm>
          <a:prstGeom prst="straightConnector1">
            <a:avLst/>
          </a:prstGeom>
          <a:ln w="12700">
            <a:solidFill>
              <a:srgbClr val="9AA3A7"/>
            </a:solidFill>
            <a:prstDash val="dash"/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5" name="Shape 285"/>
          <p:cNvSpPr/>
          <p:nvPr/>
        </p:nvSpPr>
        <p:spPr>
          <a:xfrm>
            <a:off x="1995000" y="2668963"/>
            <a:ext cx="280000" cy="280000"/>
          </a:xfrm>
          <a:prstGeom prst="ellipse">
            <a:avLst/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1</a:t>
            </a:r>
          </a:p>
        </p:txBody>
      </p:sp>
      <p:sp>
        <p:nvSpPr>
          <p:cNvPr id="286" name="Shape 286"/>
          <p:cNvSpPr/>
          <p:nvPr/>
        </p:nvSpPr>
        <p:spPr>
          <a:xfrm>
            <a:off x="3650000" y="3853963"/>
            <a:ext cx="280000" cy="280000"/>
          </a:xfrm>
          <a:prstGeom prst="ellipse">
            <a:avLst/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2</a:t>
            </a:r>
          </a:p>
        </p:txBody>
      </p:sp>
      <p:sp>
        <p:nvSpPr>
          <p:cNvPr id="287" name="Shape 287"/>
          <p:cNvSpPr/>
          <p:nvPr/>
        </p:nvSpPr>
        <p:spPr>
          <a:xfrm>
            <a:off x="4610000" y="2668963"/>
            <a:ext cx="280000" cy="280000"/>
          </a:xfrm>
          <a:prstGeom prst="ellipse">
            <a:avLst/>
          </a:prstGeom>
          <a:solidFill>
            <a:srgbClr val="229345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3</a:t>
            </a:r>
          </a:p>
        </p:txBody>
      </p:sp>
      <p:sp>
        <p:nvSpPr>
          <p:cNvPr id="288" name="Shape 288"/>
          <p:cNvSpPr/>
          <p:nvPr/>
        </p:nvSpPr>
        <p:spPr>
          <a:xfrm>
            <a:off x="7380000" y="3338963"/>
            <a:ext cx="280000" cy="280000"/>
          </a:xfrm>
          <a:prstGeom prst="ellipse">
            <a:avLst/>
          </a:prstGeom>
          <a:solidFill>
            <a:srgbClr val="1B6E9C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4</a:t>
            </a:r>
          </a:p>
        </p:txBody>
      </p:sp>
      <p:sp>
        <p:nvSpPr>
          <p:cNvPr id="289" name="Shape 289"/>
          <p:cNvSpPr/>
          <p:nvPr/>
        </p:nvSpPr>
        <p:spPr>
          <a:xfrm>
            <a:off x="7260000" y="2458963"/>
            <a:ext cx="280000" cy="280000"/>
          </a:xfrm>
          <a:prstGeom prst="ellipse">
            <a:avLst/>
          </a:prstGeom>
          <a:solidFill>
            <a:srgbClr val="B8781A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5</a:t>
            </a:r>
          </a:p>
        </p:txBody>
      </p:sp>
      <p:sp>
        <p:nvSpPr>
          <p:cNvPr id="290" name="Shape 290"/>
          <p:cNvSpPr/>
          <p:nvPr/>
        </p:nvSpPr>
        <p:spPr>
          <a:xfrm>
            <a:off x="9090000" y="2948963"/>
            <a:ext cx="280000" cy="280000"/>
          </a:xfrm>
          <a:prstGeom prst="ellipse">
            <a:avLst/>
          </a:prstGeom>
          <a:solidFill>
            <a:srgbClr val="B8781A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6</a:t>
            </a:r>
          </a:p>
        </p:txBody>
      </p:sp>
      <p:sp>
        <p:nvSpPr>
          <p:cNvPr id="291" name="Shape 291"/>
          <p:cNvSpPr/>
          <p:nvPr/>
        </p:nvSpPr>
        <p:spPr>
          <a:xfrm>
            <a:off x="4388290" y="1441594"/>
            <a:ext cx="280000" cy="280000"/>
          </a:xfrm>
          <a:prstGeom prst="ellipse">
            <a:avLst/>
          </a:prstGeom>
          <a:solidFill>
            <a:srgbClr val="6E787C"/>
          </a:solidFill>
          <a:ln>
            <a:noFill/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7</a:t>
            </a:r>
          </a:p>
        </p:txBody>
      </p:sp>
      <p:sp>
        <p:nvSpPr>
          <p:cNvPr id="292" name="TextBox 292"/>
          <p:cNvSpPr txBox="1"/>
          <p:nvPr/>
        </p:nvSpPr>
        <p:spPr>
          <a:xfrm>
            <a:off x="4750000" y="1502091"/>
            <a:ext cx="1094209" cy="2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결과 데이터 반환</a:t>
            </a:r>
          </a:p>
        </p:txBody>
      </p:sp>
      <p:sp>
        <p:nvSpPr>
          <p:cNvPr id="293" name="SectionPill"/>
          <p:cNvSpPr/>
          <p:nvPr/>
        </p:nvSpPr>
        <p:spPr>
          <a:xfrm>
            <a:off x="481012" y="545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처리 순서</a:t>
            </a:r>
          </a:p>
        </p:txBody>
      </p:sp>
      <p:sp>
        <p:nvSpPr>
          <p:cNvPr id="294" name="TextBox 294"/>
          <p:cNvSpPr txBox="1"/>
          <p:nvPr/>
        </p:nvSpPr>
        <p:spPr>
          <a:xfrm>
            <a:off x="481012" y="5880000"/>
            <a:ext cx="4690000" cy="12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① 사용자가 안티그래비티에 자연어로 업무 요청</a:t>
            </a: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② 정의서 · 규칙 문서에서 필요한 내용을 선별 검색 (RAG)</a:t>
            </a: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③ 조회 경로를 결정하고 VAULT 설계서버에 요청</a:t>
            </a: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④ 경로 A — VAULT가 PLM DB를 직접 조회 (Text-to-SQL)</a:t>
            </a:r>
          </a:p>
        </p:txBody>
      </p:sp>
      <p:sp>
        <p:nvSpPr>
          <p:cNvPr id="295" name="TextBox 295"/>
          <p:cNvSpPr txBox="1"/>
          <p:nvPr/>
        </p:nvSpPr>
        <p:spPr>
          <a:xfrm>
            <a:off x="5520799" y="5880000"/>
            <a:ext cx="4690000" cy="9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⑤ 경로 B — VAULT가 전용 API로 PLM 시스템 호출</a:t>
            </a: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⑥ PLM 시스템이 업무 기준에 맞게 가공하여 반환</a:t>
            </a: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⑦ 결과를 분석해 사용자에게 검증 결과 · 보고로 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6</a:t>
            </a:r>
            <a:r>
              <a:rPr lang="ko-KR" altLang="en-US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. RPA와의 차이</a:t>
            </a:r>
          </a:p>
        </p:txBody>
      </p:sp>
      <p:pic>
        <p:nvPicPr>
          <p:cNvPr id="300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301" name="Line 301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90" name="TextBox 290"/>
          <p:cNvSpPr txBox="1"/>
          <p:nvPr/>
        </p:nvSpPr>
        <p:spPr>
          <a:xfrm>
            <a:off x="481012" y="103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buNone/>
            </a:pPr>
            <a:r>
              <a:rPr lang="en-US" altLang="ko-KR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RPA</a:t>
            </a: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는 정해진 규칙에 따라 실행하지만</a:t>
            </a:r>
            <a:r>
              <a:rPr lang="en-US" altLang="ko-KR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, LLM AI</a:t>
            </a: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는 상황과 문맥을 이해합니다</a:t>
            </a:r>
            <a:r>
              <a:rPr lang="en-US" altLang="ko-KR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.</a:t>
            </a:r>
            <a:endParaRPr lang="ko-KR" altLang="en-US" sz="1250" b="1" dirty="0">
              <a:latin typeface="맑은 고딕" panose="02020800000000000000" pitchFamily="18" charset="-127"/>
              <a:ea typeface="맑은 고딕" panose="02020800000000000000" pitchFamily="18" charset="-127"/>
            </a:endParaRPr>
          </a:p>
        </p:txBody>
      </p:sp>
      <p:graphicFrame>
        <p:nvGraphicFramePr>
          <p:cNvPr id="291" name="Table 2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728031"/>
              </p:ext>
            </p:extLst>
          </p:nvPr>
        </p:nvGraphicFramePr>
        <p:xfrm>
          <a:off x="481012" y="1720000"/>
          <a:ext cx="9729787" cy="2580000"/>
        </p:xfrm>
        <a:graphic>
          <a:graphicData uri="http://schemas.openxmlformats.org/drawingml/2006/table">
            <a:tbl>
              <a:tblPr first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구분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RPA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본 아키텍처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229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자동화 대상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정해진 절차 (클릭 · 입력)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조회 대상의 판단과 데이터의 해석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E9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실행 시나리오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사전에 고정되어 있음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요청 시점에 매번 생성됨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E9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새 업무 추가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시나리오를 새로 개발해야 함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규칙 문서를 추가하면 됨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E9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규칙 변경 시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개발자가 스크립트를 수정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문서 수정만으로 반영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E9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산출물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AFB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정해진 실행 결과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dirty="0">
                          <a:solidFill>
                            <a:srgbClr val="222222"/>
                          </a:solidFill>
                          <a:latin typeface="맑은 고딕" panose="02020800000000000000" pitchFamily="18" charset="-127"/>
                          <a:ea typeface="맑은 고딕" panose="02020800000000000000" pitchFamily="18" charset="-127"/>
                        </a:rPr>
                        <a:t>분석 결과와 판정 근거</a:t>
                      </a:r>
                    </a:p>
                  </a:txBody>
                  <a:tcPr marL="82296" marR="82296" marT="27432" marB="27432" anchor="ctr">
                    <a:lnL w="6350">
                      <a:solidFill>
                        <a:srgbClr val="D3D9DC"/>
                      </a:solidFill>
                    </a:lnL>
                    <a:lnR w="6350">
                      <a:solidFill>
                        <a:srgbClr val="D3D9DC"/>
                      </a:solidFill>
                    </a:lnR>
                    <a:lnT w="6350">
                      <a:solidFill>
                        <a:srgbClr val="D3D9DC"/>
                      </a:solidFill>
                    </a:lnT>
                    <a:lnB w="6350">
                      <a:solidFill>
                        <a:srgbClr val="D3D9DC"/>
                      </a:solidFill>
                    </a:lnB>
                    <a:solidFill>
                      <a:srgbClr val="E9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2" name="Shape 292"/>
          <p:cNvSpPr/>
          <p:nvPr/>
        </p:nvSpPr>
        <p:spPr>
          <a:xfrm>
            <a:off x="476251" y="5349675"/>
            <a:ext cx="9729787" cy="11800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293" name="TextBox 293"/>
          <p:cNvSpPr txBox="1"/>
          <p:nvPr/>
        </p:nvSpPr>
        <p:spPr>
          <a:xfrm>
            <a:off x="776251" y="5539675"/>
            <a:ext cx="9129787" cy="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lang="ko-KR" altLang="en-US" sz="13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가장 실질적인 차이는 확장할 때 나타납니다</a:t>
            </a:r>
          </a:p>
        </p:txBody>
      </p:sp>
      <p:sp>
        <p:nvSpPr>
          <p:cNvPr id="294" name="TextBox 294"/>
          <p:cNvSpPr txBox="1"/>
          <p:nvPr/>
        </p:nvSpPr>
        <p:spPr>
          <a:xfrm>
            <a:off x="776251" y="5929675"/>
            <a:ext cx="9129787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  <a:buNone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RPA는 업무가 하나 늘면 시나리오를 하나 더 개발해야 합니다. </a:t>
            </a:r>
            <a:r>
              <a:rPr lang="ko-KR" altLang="en-US" sz="1200" b="1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본 아키텍처는 규칙 문서를 하나 더 얹으면 되며, 별도의 개발이 필요하지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1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7</a:t>
            </a:r>
            <a:r>
              <a:rPr lang="ko-KR" altLang="en-US" sz="1500" b="1" dirty="0">
                <a:solidFill>
                  <a:srgbClr val="FFFFF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. 확장 방향</a:t>
            </a:r>
          </a:p>
        </p:txBody>
      </p:sp>
      <p:pic>
        <p:nvPicPr>
          <p:cNvPr id="342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343" name="Line 343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7" name="TextBox 327"/>
          <p:cNvSpPr txBox="1"/>
          <p:nvPr/>
        </p:nvSpPr>
        <p:spPr>
          <a:xfrm>
            <a:off x="481012" y="103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buNone/>
            </a:pP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다른 부서에도 동일한 방식으로 적용할 수 있습니다. 다만 적용 조건과 준비 단계가 있습니다.</a:t>
            </a:r>
          </a:p>
        </p:txBody>
      </p:sp>
      <p:sp>
        <p:nvSpPr>
          <p:cNvPr id="328" name="SectionPill"/>
          <p:cNvSpPr/>
          <p:nvPr/>
        </p:nvSpPr>
        <p:spPr>
          <a:xfrm>
            <a:off x="481012" y="1540000"/>
            <a:ext cx="22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적용 가능 조건</a:t>
            </a:r>
          </a:p>
        </p:txBody>
      </p:sp>
      <p:sp>
        <p:nvSpPr>
          <p:cNvPr id="329" name="Shape 329"/>
          <p:cNvSpPr/>
          <p:nvPr/>
        </p:nvSpPr>
        <p:spPr>
          <a:xfrm>
            <a:off x="481012" y="1990000"/>
            <a:ext cx="3143262" cy="12200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>
            <a:noFill/>
          </a:ln>
        </p:spPr>
        <p:txBody>
          <a:bodyPr lIns="170000" tIns="45720" rIns="170000" bIns="45720" rtlCol="0" anchor="ctr"/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데이터가 시스템에 있을 것</a:t>
            </a:r>
          </a:p>
          <a:p>
            <a:pPr algn="ct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판단에 필요한 데이터가 PLM 등 사내 시스템에 축적되어 있어야 함</a:t>
            </a:r>
          </a:p>
        </p:txBody>
      </p:sp>
      <p:sp>
        <p:nvSpPr>
          <p:cNvPr id="330" name="Shape 330"/>
          <p:cNvSpPr/>
          <p:nvPr/>
        </p:nvSpPr>
        <p:spPr>
          <a:xfrm>
            <a:off x="3774274" y="1990000"/>
            <a:ext cx="3143262" cy="12200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>
            <a:noFill/>
          </a:ln>
        </p:spPr>
        <p:txBody>
          <a:bodyPr lIns="170000" tIns="45720" rIns="170000" bIns="45720" rtlCol="0" anchor="ctr"/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판단 규칙을 글로 쓸 수 있을 것</a:t>
            </a:r>
          </a:p>
          <a:p>
            <a:pPr algn="ct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담당자의 판단 기준을 문서로 정리할 수 있어야 함</a:t>
            </a:r>
          </a:p>
        </p:txBody>
      </p:sp>
      <p:sp>
        <p:nvSpPr>
          <p:cNvPr id="331" name="Shape 331"/>
          <p:cNvSpPr/>
          <p:nvPr/>
        </p:nvSpPr>
        <p:spPr>
          <a:xfrm>
            <a:off x="7067536" y="1990000"/>
            <a:ext cx="3143262" cy="12200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>
            <a:noFill/>
          </a:ln>
        </p:spPr>
        <p:txBody>
          <a:bodyPr lIns="170000" tIns="45720" rIns="170000" bIns="45720" rtlCol="0" anchor="ctr"/>
          <a:lstStyle/>
          <a:p>
            <a:pPr algn="ctr">
              <a:lnSpc>
                <a:spcPct val="100000"/>
              </a:lnSpc>
              <a:spcAft>
                <a:spcPts val="1000"/>
              </a:spcAft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조회 범위를 정의할 수 있을 것</a:t>
            </a:r>
          </a:p>
          <a:p>
            <a:pPr algn="ctr">
              <a:lnSpc>
                <a:spcPct val="118000"/>
              </a:lnSpc>
              <a:buNone/>
            </a:pPr>
            <a:r>
              <a:rPr lang="ko-KR" altLang="en-US" sz="105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어디까지 조회를 허용할지 사전에 정의할 수 있어야 함</a:t>
            </a:r>
          </a:p>
        </p:txBody>
      </p:sp>
      <p:sp>
        <p:nvSpPr>
          <p:cNvPr id="332" name="SectionPill"/>
          <p:cNvSpPr/>
          <p:nvPr/>
        </p:nvSpPr>
        <p:spPr>
          <a:xfrm>
            <a:off x="481012" y="345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확장 단계</a:t>
            </a:r>
          </a:p>
        </p:txBody>
      </p:sp>
      <p:sp>
        <p:nvSpPr>
          <p:cNvPr id="333" name="Shape 333"/>
          <p:cNvSpPr/>
          <p:nvPr/>
        </p:nvSpPr>
        <p:spPr>
          <a:xfrm>
            <a:off x="481012" y="3900000"/>
            <a:ext cx="2900000" cy="1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200000" tIns="45720" rIns="200000" bIns="45720" rtlCol="0" anchor="ctr"/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sz="980" b="1" dirty="0">
                <a:solidFill>
                  <a:srgbClr val="229345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STEP 1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기반 준비</a:t>
            </a:r>
          </a:p>
          <a:p>
            <a:pPr algn="l">
              <a:lnSpc>
                <a:spcPct val="118000"/>
              </a:lnSpc>
              <a:buNone/>
            </a:pPr>
            <a:r>
              <a:rPr lang="ko-KR" altLang="en-US" sz="103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해당 업무 영역의 DB 정의서 작성 및 연동 API 개발</a:t>
            </a:r>
          </a:p>
        </p:txBody>
      </p:sp>
      <p:cxnSp>
        <p:nvCxnSpPr>
          <p:cNvPr id="334" name="Conn 334"/>
          <p:cNvCxnSpPr/>
          <p:nvPr/>
        </p:nvCxnSpPr>
        <p:spPr>
          <a:xfrm>
            <a:off x="3511012" y="4450000"/>
            <a:ext cx="25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5" name="Shape 335"/>
          <p:cNvSpPr/>
          <p:nvPr/>
        </p:nvSpPr>
        <p:spPr>
          <a:xfrm>
            <a:off x="3896012" y="3900000"/>
            <a:ext cx="2900000" cy="1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200000" tIns="45720" rIns="200000" bIns="45720" rtlCol="0" anchor="ctr"/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sz="980" b="1" dirty="0">
                <a:solidFill>
                  <a:srgbClr val="229345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STEP 2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규칙 작성</a:t>
            </a:r>
          </a:p>
          <a:p>
            <a:pPr algn="l">
              <a:lnSpc>
                <a:spcPct val="118000"/>
              </a:lnSpc>
              <a:buNone/>
            </a:pPr>
            <a:r>
              <a:rPr lang="ko-KR" altLang="en-US" sz="103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담당 부서가 업무 판단 기준을 문서로 작성</a:t>
            </a:r>
          </a:p>
        </p:txBody>
      </p:sp>
      <p:cxnSp>
        <p:nvCxnSpPr>
          <p:cNvPr id="336" name="Conn 336"/>
          <p:cNvCxnSpPr/>
          <p:nvPr/>
        </p:nvCxnSpPr>
        <p:spPr>
          <a:xfrm>
            <a:off x="6926012" y="4450000"/>
            <a:ext cx="25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7" name="Shape 337"/>
          <p:cNvSpPr/>
          <p:nvPr/>
        </p:nvSpPr>
        <p:spPr>
          <a:xfrm>
            <a:off x="7311012" y="3900000"/>
            <a:ext cx="2900000" cy="1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200000" tIns="45720" rIns="200000" bIns="45720" rtlCol="0" anchor="ctr"/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sz="980" b="1" dirty="0">
                <a:solidFill>
                  <a:srgbClr val="229345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STEP 3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적용 · 통제</a:t>
            </a:r>
          </a:p>
          <a:p>
            <a:pPr algn="l">
              <a:lnSpc>
                <a:spcPct val="118000"/>
              </a:lnSpc>
              <a:buNone/>
            </a:pPr>
            <a:r>
              <a:rPr lang="ko-KR" altLang="en-US" sz="1030" dirty="0">
                <a:solidFill>
                  <a:srgbClr val="5C6468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조회 범위를 등록하고 검증 절차와 함께 운영</a:t>
            </a:r>
          </a:p>
        </p:txBody>
      </p:sp>
      <p:sp>
        <p:nvSpPr>
          <p:cNvPr id="338" name="SectionPill"/>
          <p:cNvSpPr/>
          <p:nvPr/>
        </p:nvSpPr>
        <p:spPr>
          <a:xfrm>
            <a:off x="481012" y="532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3702F"/>
                </a:solidFill>
                <a:latin typeface="네오현대 EB" panose="02020800000000000000" pitchFamily="18" charset="-127"/>
                <a:ea typeface="네오현대 EB" panose="02020800000000000000" pitchFamily="18" charset="-127"/>
              </a:rPr>
              <a:t>향후 계획</a:t>
            </a:r>
          </a:p>
        </p:txBody>
      </p:sp>
      <p:sp>
        <p:nvSpPr>
          <p:cNvPr id="339" name="TextBox 339"/>
          <p:cNvSpPr txBox="1"/>
          <p:nvPr/>
        </p:nvSpPr>
        <p:spPr>
          <a:xfrm>
            <a:off x="481012" y="5750000"/>
            <a:ext cx="9729787" cy="9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0000" indent="-200000" algn="l">
              <a:lnSpc>
                <a:spcPct val="105000"/>
              </a:lnSpc>
              <a:spcAft>
                <a:spcPts val="9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로직 작성·검증·BOM 검증 규칙을 개별 파일 공유 방식에서 </a:t>
            </a:r>
            <a:r>
              <a:rPr lang="ko-KR" altLang="en-US" sz="1200" b="1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DB 중앙 저장 방식 </a:t>
            </a:r>
            <a:r>
              <a:rPr lang="ko-KR" altLang="en-US" sz="1200" dirty="0" err="1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으로</a:t>
            </a: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 전환</a:t>
            </a:r>
          </a:p>
          <a:p>
            <a:pPr marL="200000" indent="-200000" algn="l">
              <a:lnSpc>
                <a:spcPct val="105000"/>
              </a:lnSpc>
              <a:spcAft>
                <a:spcPts val="9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반복 사용되는 검증 조회를 전용 API로 순차 전환하여 부하와 결과 편차를 축소</a:t>
            </a:r>
          </a:p>
          <a:p>
            <a:pPr marL="200000" indent="-200000" algn="l">
              <a:lnSpc>
                <a:spcPct val="105000"/>
              </a:lnSpc>
              <a:spcAft>
                <a:spcPts val="950"/>
              </a:spcAft>
              <a:buClr>
                <a:srgbClr val="229345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2222"/>
                </a:solidFill>
                <a:latin typeface="맑은 고딕" panose="02020800000000000000" pitchFamily="18" charset="-127"/>
                <a:ea typeface="맑은 고딕" panose="02020800000000000000" pitchFamily="18" charset="-127"/>
              </a:rPr>
              <a:t>타 부서 적용 시 필요한 DB 정의서 범위를 사전 정의하여 확산 기반 마련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HeaderBar"/>
          <p:cNvSpPr/>
          <p:nvPr/>
        </p:nvSpPr>
        <p:spPr>
          <a:xfrm>
            <a:off x="481012" y="387627"/>
            <a:ext cx="9729787" cy="407504"/>
          </a:xfrm>
          <a:prstGeom prst="rect">
            <a:avLst/>
          </a:prstGeom>
          <a:solidFill>
            <a:srgbClr val="229345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6" name="SlideTitle"/>
          <p:cNvSpPr txBox="1"/>
          <p:nvPr/>
        </p:nvSpPr>
        <p:spPr>
          <a:xfrm>
            <a:off x="607359" y="430000"/>
            <a:ext cx="7900000" cy="3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8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. 향후 계획 — 개인 맞춤형 Agent</a:t>
            </a:r>
          </a:p>
        </p:txBody>
      </p:sp>
      <p:pic>
        <p:nvPicPr>
          <p:cNvPr id="377" name="HyundaiLog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5278" y="496957"/>
            <a:ext cx="1087879" cy="159202"/>
          </a:xfrm>
          <a:prstGeom prst="rect">
            <a:avLst/>
          </a:prstGeom>
        </p:spPr>
      </p:pic>
      <p:cxnSp>
        <p:nvCxnSpPr>
          <p:cNvPr id="378" name="Line 378"/>
          <p:cNvCxnSpPr/>
          <p:nvPr/>
        </p:nvCxnSpPr>
        <p:spPr>
          <a:xfrm>
            <a:off x="476251" y="7370283"/>
            <a:ext cx="9729787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47" name="TextBox 347"/>
          <p:cNvSpPr txBox="1"/>
          <p:nvPr/>
        </p:nvSpPr>
        <p:spPr>
          <a:xfrm>
            <a:off x="481012" y="1030000"/>
            <a:ext cx="9729787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개발역량이 없는 각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개인들도 </a:t>
            </a:r>
            <a:r>
              <a:rPr lang="en-US" altLang="ko-KR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＇</a:t>
            </a: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업무 도메인 지식 문서</a:t>
            </a:r>
            <a:r>
              <a:rPr lang="en-US" altLang="ko-KR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’</a:t>
            </a:r>
            <a:r>
              <a:rPr lang="ko-KR" altLang="en-US" sz="1250" b="1" dirty="0">
                <a:latin typeface="맑은 고딕" panose="02020800000000000000" pitchFamily="18" charset="-127"/>
                <a:ea typeface="맑은 고딕" panose="02020800000000000000" pitchFamily="18" charset="-127"/>
              </a:rPr>
              <a:t>를 통해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자기 업무에 맞는 에이전트를 직접 만들어 쓰는 구조를 구상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.</a:t>
            </a:r>
            <a:endParaRPr kumimoji="0" lang="ko-KR" altLang="en-US" sz="12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20800000000000000" pitchFamily="18" charset="-127"/>
              <a:ea typeface="맑은 고딕" panose="02020800000000000000" pitchFamily="18" charset="-127"/>
              <a:cs typeface="+mn-cs"/>
            </a:endParaRPr>
          </a:p>
        </p:txBody>
      </p:sp>
      <p:sp>
        <p:nvSpPr>
          <p:cNvPr id="348" name="SectionPill"/>
          <p:cNvSpPr/>
          <p:nvPr/>
        </p:nvSpPr>
        <p:spPr>
          <a:xfrm>
            <a:off x="476363" y="2005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구성 방식</a:t>
            </a:r>
          </a:p>
        </p:txBody>
      </p:sp>
      <p:sp>
        <p:nvSpPr>
          <p:cNvPr id="349" name="Shape 349"/>
          <p:cNvSpPr/>
          <p:nvPr/>
        </p:nvSpPr>
        <p:spPr>
          <a:xfrm>
            <a:off x="2695351" y="2005000"/>
            <a:ext cx="1300000" cy="3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</p:spPr>
        <p:txBody>
          <a:bodyPr lIns="0" tIns="45720" rIns="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구상 단계</a:t>
            </a:r>
          </a:p>
        </p:txBody>
      </p:sp>
      <p:sp>
        <p:nvSpPr>
          <p:cNvPr id="350" name="Shape 350"/>
          <p:cNvSpPr/>
          <p:nvPr/>
        </p:nvSpPr>
        <p:spPr>
          <a:xfrm>
            <a:off x="476251" y="2455000"/>
            <a:ext cx="2200000" cy="14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130000" tIns="45720" rIns="13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29345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01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명세서 작성</a:t>
            </a:r>
          </a:p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담당자가 본인 업무의 검증 항목과 판정 기준을 문서로 정리</a:t>
            </a:r>
          </a:p>
        </p:txBody>
      </p:sp>
      <p:cxnSp>
        <p:nvCxnSpPr>
          <p:cNvPr id="351" name="Conn 351"/>
          <p:cNvCxnSpPr/>
          <p:nvPr/>
        </p:nvCxnSpPr>
        <p:spPr>
          <a:xfrm>
            <a:off x="2731251" y="3170000"/>
            <a:ext cx="20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2" name="Shape 352"/>
          <p:cNvSpPr/>
          <p:nvPr/>
        </p:nvSpPr>
        <p:spPr>
          <a:xfrm>
            <a:off x="2986251" y="2455000"/>
            <a:ext cx="2200000" cy="1430000"/>
          </a:xfrm>
          <a:prstGeom prst="roundRect">
            <a:avLst>
              <a:gd name="adj" fmla="val 8000"/>
            </a:avLst>
          </a:prstGeom>
          <a:solidFill>
            <a:srgbClr val="E9F5EC"/>
          </a:solidFill>
          <a:ln w="12700">
            <a:solidFill>
              <a:srgbClr val="229345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130000" tIns="45720" rIns="13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29345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02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공통 플랫폼 결합</a:t>
            </a:r>
          </a:p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이미 구축된 PLM DB 정의서와 설계 API 서버에 연결</a:t>
            </a:r>
          </a:p>
        </p:txBody>
      </p:sp>
      <p:cxnSp>
        <p:nvCxnSpPr>
          <p:cNvPr id="353" name="Conn 353"/>
          <p:cNvCxnSpPr/>
          <p:nvPr/>
        </p:nvCxnSpPr>
        <p:spPr>
          <a:xfrm>
            <a:off x="5241251" y="3170000"/>
            <a:ext cx="20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4" name="Shape 354"/>
          <p:cNvSpPr/>
          <p:nvPr/>
        </p:nvSpPr>
        <p:spPr>
          <a:xfrm>
            <a:off x="5496251" y="2455000"/>
            <a:ext cx="2200000" cy="14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130000" tIns="45720" rIns="13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29345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03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개인 전용 에이전트 생성</a:t>
            </a:r>
          </a:p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업무 규칙과 데이터 통로가 결합된 나만의 에이전트 구성</a:t>
            </a:r>
          </a:p>
        </p:txBody>
      </p:sp>
      <p:cxnSp>
        <p:nvCxnSpPr>
          <p:cNvPr id="355" name="Conn 355"/>
          <p:cNvCxnSpPr/>
          <p:nvPr/>
        </p:nvCxnSpPr>
        <p:spPr>
          <a:xfrm>
            <a:off x="7751251" y="3170000"/>
            <a:ext cx="200000" cy="0"/>
          </a:xfrm>
          <a:prstGeom prst="straightConnector1">
            <a:avLst/>
          </a:prstGeom>
          <a:ln w="19050">
            <a:solidFill>
              <a:srgbClr val="229345"/>
            </a:solidFill>
            <a:tailEnd type="triangle" w="med" len="med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6" name="Shape 356"/>
          <p:cNvSpPr/>
          <p:nvPr/>
        </p:nvSpPr>
        <p:spPr>
          <a:xfrm>
            <a:off x="8006251" y="2455000"/>
            <a:ext cx="2200000" cy="143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3D9DC"/>
            </a:solidFill>
          </a:ln>
          <a:effectLst>
            <a:outerShdw blurRad="50800" dist="25400" dir="5400000" algn="t" rotWithShape="0">
              <a:srgbClr val="000000">
                <a:alpha val="12000"/>
              </a:srgbClr>
            </a:outerShdw>
          </a:effectLst>
        </p:spPr>
        <p:txBody>
          <a:bodyPr lIns="130000" tIns="45720" rIns="13000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29345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04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rPr>
              <a:t>본인 업무에 활용</a:t>
            </a:r>
          </a:p>
          <a:p>
            <a:pPr marL="0" marR="0" lvl="0" indent="0" algn="ctr" defTabSz="4572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6468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조회 · 검증 · 보고를 담당자가 직접 수행</a:t>
            </a:r>
          </a:p>
        </p:txBody>
      </p:sp>
      <p:sp>
        <p:nvSpPr>
          <p:cNvPr id="357" name="TextBox 357"/>
          <p:cNvSpPr txBox="1"/>
          <p:nvPr/>
        </p:nvSpPr>
        <p:spPr>
          <a:xfrm>
            <a:off x="2986251" y="3975000"/>
            <a:ext cx="2200000" cy="2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▲ 기구축 자산 재사용</a:t>
            </a:r>
          </a:p>
        </p:txBody>
      </p:sp>
      <p:sp>
        <p:nvSpPr>
          <p:cNvPr id="374" name="KeyBar"/>
          <p:cNvSpPr/>
          <p:nvPr/>
        </p:nvSpPr>
        <p:spPr>
          <a:xfrm>
            <a:off x="481012" y="6130000"/>
            <a:ext cx="9729787" cy="470000"/>
          </a:xfrm>
          <a:prstGeom prst="roundRect">
            <a:avLst>
              <a:gd name="adj" fmla="val 18000"/>
            </a:avLst>
          </a:prstGeom>
          <a:solidFill>
            <a:srgbClr val="E9F5EC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개발 역량이 아니라 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‘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업무 지식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’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3702F"/>
                </a:solidFill>
                <a:effectLst/>
                <a:uLnTx/>
                <a:uFillTx/>
                <a:latin typeface="맑은 고딕" panose="02020800000000000000" pitchFamily="18" charset="-127"/>
                <a:ea typeface="맑은 고딕" panose="02020800000000000000" pitchFamily="18" charset="-127"/>
                <a:cs typeface="+mn-cs"/>
              </a:rPr>
              <a:t>을 가진 사람이 자기 도구를 직접 만들 수 있는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9085A3F26677D43A7D69A72AE1C81D7" ma:contentTypeVersion="16" ma:contentTypeDescription="새 문서를 만듭니다." ma:contentTypeScope="" ma:versionID="4ff5c77734558d617f1c76f03b331a51">
  <xsd:schema xmlns:xsd="http://www.w3.org/2001/XMLSchema" xmlns:xs="http://www.w3.org/2001/XMLSchema" xmlns:p="http://schemas.microsoft.com/office/2006/metadata/properties" xmlns:ns2="6958f0ef-3070-4482-8557-148c1a91fbe3" xmlns:ns3="5635ba4f-014a-4f8b-94d8-3608e4164aef" targetNamespace="http://schemas.microsoft.com/office/2006/metadata/properties" ma:root="true" ma:fieldsID="966c4902775629bba53aad19182a2afd" ns2:_="" ns3:_="">
    <xsd:import namespace="6958f0ef-3070-4482-8557-148c1a91fbe3"/>
    <xsd:import namespace="5635ba4f-014a-4f8b-94d8-3608e4164a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8f0ef-3070-4482-8557-148c1a91fb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fa2f7d99-32ea-4507-aec9-074d197001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35ba4f-014a-4f8b-94d8-3608e4164ae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9b98908-a97b-44ef-a11f-1f9ad44bba4c}" ma:internalName="TaxCatchAll" ma:showField="CatchAllData" ma:web="5635ba4f-014a-4f8b-94d8-3608e4164a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8f0ef-3070-4482-8557-148c1a91fbe3">
      <Terms xmlns="http://schemas.microsoft.com/office/infopath/2007/PartnerControls"/>
    </lcf76f155ced4ddcb4097134ff3c332f>
    <TaxCatchAll xmlns="5635ba4f-014a-4f8b-94d8-3608e4164ae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6D21E8-2BB7-4416-AF4D-F6E9A0835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58f0ef-3070-4482-8557-148c1a91fbe3"/>
    <ds:schemaRef ds:uri="5635ba4f-014a-4f8b-94d8-3608e4164a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7E84E9-4B16-4B5A-8009-DDABEB91C63B}">
  <ds:schemaRefs>
    <ds:schemaRef ds:uri="http://schemas.microsoft.com/office/2006/metadata/properties"/>
    <ds:schemaRef ds:uri="http://schemas.microsoft.com/office/infopath/2007/PartnerControls"/>
    <ds:schemaRef ds:uri="6958f0ef-3070-4482-8557-148c1a91fbe3"/>
    <ds:schemaRef ds:uri="5635ba4f-014a-4f8b-94d8-3608e4164aef"/>
  </ds:schemaRefs>
</ds:datastoreItem>
</file>

<file path=customXml/itemProps3.xml><?xml version="1.0" encoding="utf-8"?>
<ds:datastoreItem xmlns:ds="http://schemas.openxmlformats.org/officeDocument/2006/customXml" ds:itemID="{D4CEF760-4CBD-4C7D-B2D8-C5471CF75A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1244</TotalTime>
  <Words>1278</Words>
  <Application>Microsoft Office PowerPoint</Application>
  <PresentationFormat>사용자 지정</PresentationFormat>
  <Paragraphs>200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맑은 고딕</vt:lpstr>
      <vt:lpstr>Arial</vt:lpstr>
      <vt:lpstr>네오현대 EBK</vt:lpstr>
      <vt:lpstr>네오현대 EB</vt:lpstr>
      <vt:lpstr>Calibri</vt:lpstr>
      <vt:lpstr>Calibri Light</vt:lpstr>
      <vt:lpstr>네오현대 B</vt:lpstr>
      <vt:lpstr>Office 테마</vt:lpstr>
      <vt:lpstr>수배로직 업무를 위한 AI 플랫폼 적용  RAG 기반의 PLM 데이터 연동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김영환/KIM YOUNG HWAN</dc:creator>
  <cp:lastModifiedBy>김영환/KIM YOUNG HWAN</cp:lastModifiedBy>
  <cp:revision>95</cp:revision>
  <dcterms:created xsi:type="dcterms:W3CDTF">2023-02-23T00:36:52Z</dcterms:created>
  <dcterms:modified xsi:type="dcterms:W3CDTF">2026-09-15T04:48:54Z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0x01010089085A3F26677D43A7D69A72AE1C81D7</vt:lpwstr>
  </property>
  <property fmtid="{D5CDD505-2E9C-101B-9397-08002B2CF9AE}" pid="3" name="MSIP_Label_1fd51960-f5ab-455f-8de0-bc0d6c02aaf3_Enabled">
    <vt:lpwstr>true</vt:lpwstr>
  </property>
  <property fmtid="{D5CDD505-2E9C-101B-9397-08002B2CF9AE}" pid="4" name="MSIP_Label_1fd51960-f5ab-455f-8de0-bc0d6c02aaf3_SetDate">
    <vt:lpwstr>2026-04-20T01:06:19Z</vt:lpwstr>
  </property>
  <property fmtid="{D5CDD505-2E9C-101B-9397-08002B2CF9AE}" pid="5" name="MSIP_Label_1fd51960-f5ab-455f-8de0-bc0d6c02aaf3_Method">
    <vt:lpwstr>Standard</vt:lpwstr>
  </property>
  <property fmtid="{D5CDD505-2E9C-101B-9397-08002B2CF9AE}" pid="6" name="MSIP_Label_1fd51960-f5ab-455f-8de0-bc0d6c02aaf3_Name">
    <vt:lpwstr>Public</vt:lpwstr>
  </property>
  <property fmtid="{D5CDD505-2E9C-101B-9397-08002B2CF9AE}" pid="7" name="MSIP_Label_1fd51960-f5ab-455f-8de0-bc0d6c02aaf3_SiteId">
    <vt:lpwstr>f8d5ac98-8fa9-4355-8cd9-84f322fb0a78</vt:lpwstr>
  </property>
  <property fmtid="{D5CDD505-2E9C-101B-9397-08002B2CF9AE}" pid="8" name="MSIP_Label_1fd51960-f5ab-455f-8de0-bc0d6c02aaf3_ActionId">
    <vt:lpwstr>74f345c5-bd27-4957-9a8d-46de5532c8b8</vt:lpwstr>
  </property>
  <property fmtid="{D5CDD505-2E9C-101B-9397-08002B2CF9AE}" pid="9" name="MSIP_Label_1fd51960-f5ab-455f-8de0-bc0d6c02aaf3_ContentBits">
    <vt:lpwstr>0</vt:lpwstr>
  </property>
  <property fmtid="{D5CDD505-2E9C-101B-9397-08002B2CF9AE}" pid="10" name="MSIP_Label_1fd51960-f5ab-455f-8de0-bc0d6c02aaf3_Tag">
    <vt:lpwstr>10, 3, 0, 1</vt:lpwstr>
  </property>
</Properties>
</file>