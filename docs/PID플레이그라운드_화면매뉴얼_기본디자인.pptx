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ad70ea6d-49df-d25f-8ef0-115d6f2c6b41}">
          <p14:sldIdLst>
            <p14:sldId id="256"/>
            <p14:sldId id="257"/>
            <p14:sldId id="258"/>
            <p14:sldId id="259"/>
            <p14:sldId id="260"/>
          </p14:sldIdLst>
        </p14:section>
        <p14:section name="불러오기 · 실행" id="{79313f47-ece5-7c04-0bd6-0a50b7e9ccf3}">
          <p14:sldIdLst>
            <p14:sldId id="261"/>
            <p14:sldId id="262"/>
            <p14:sldId id="263"/>
          </p14:sldIdLst>
        </p14:section>
        <p14:section name="편집 표" id="{ede613b8-a1ab-4a54-f600-1f1c8a894b8b}">
          <p14:sldIdLst>
            <p14:sldId id="264"/>
            <p14:sldId id="265"/>
            <p14:sldId id="266"/>
            <p14:sldId id="267"/>
            <p14:sldId id="268"/>
          </p14:sldIdLst>
        </p14:section>
        <p14:section name="디버그 패널" id="{05143421-71a0-0097-47f3-7ca63272e57c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참고" id="{f0e8a164-161c-1f76-b0bd-504262aad0d1}">
          <p14:sldIdLst>
            <p14:sldId id="276"/>
            <p14:sldId id="277"/>
            <p14:sldId id="278"/>
            <p14:sldId id="279"/>
          </p14:sldIdLst>
        </p14:section>
        <p14:section name="문의" id="{8d341380-f4e5-6abb-4869-e525bb0430b2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686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0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5B6676"/>
                </a:solidFill>
              </a:rPr>
              <a:t>PID 플레이그라운드 · 화면 사용 매뉴얼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1097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LuFlaskConic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14450"/>
            <a:ext cx="434340" cy="4343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488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4800" b="1" dirty="0">
                <a:solidFill>
                  <a:schemeClr val="bg1"/>
                </a:solidFill>
              </a:rPr>
              <a:t>PID 플레이그라운드</a:t>
            </a:r>
            <a:endParaRPr lang="ko-KR" alt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474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dirty="0">
                <a:solidFill>
                  <a:srgbClr val="CBD5E1"/>
                </a:solidFill>
              </a:rPr>
              <a:t>DB 저장 없이 PID 로직을 고쳐서 바로 실행해 보는 화면 — 사용 매뉴얼</a:t>
            </a:r>
            <a:endParaRPr lang="ko-KR" altLang="en-US" sz="2000" dirty="0"/>
          </a:p>
        </p:txBody>
      </p:sp>
      <p:sp>
        <p:nvSpPr>
          <p:cNvPr id="6" name="path-chip"/>
          <p:cNvSpPr/>
          <p:nvPr/>
        </p:nvSpPr>
        <p:spPr>
          <a:xfrm>
            <a:off x="548640" y="475488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754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/simulplay/pidSimulPlayGround</a:t>
            </a:r>
            <a:endParaRPr lang="ko-KR" alt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94A3B8"/>
                </a:solidFill>
              </a:rPr>
              <a:t>수배로직설계팀 · 문서 버전 1.0 · 2026-10-12</a:t>
            </a:r>
            <a:endParaRPr lang="ko-KR" altLang="en-US" sz="1400" dirty="0"/>
          </a:p>
        </p:txBody>
      </p:sp>
      <p:sp>
        <p:nvSpPr>
          <p:cNvPr id="9" name="nosave-chip"/>
          <p:cNvSpPr/>
          <p:nvPr/>
        </p:nvSpPr>
        <p:spPr>
          <a:xfrm>
            <a:off x="9539935" y="5486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39935" y="548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FED7AA"/>
                </a:solidFill>
              </a:rPr>
              <a:t>DB 미저장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한눈에 보기</a:t>
            </a:r>
            <a:endParaRPr lang="ko-KR" alt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PID 로직을 불러와 </a:t>
            </a:r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엑셀처럼 표에서 직접 고친 뒤, DB 에 저장하지 않고 바로 실행</a:t>
            </a:r>
            <a:pPr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해 보는 화면입니다.</a:t>
            </a:r>
            <a:endParaRPr lang="ko-KR" altLang="en-US" sz="1800" dirty="0"/>
          </a:p>
        </p:txBody>
      </p:sp>
      <p:sp>
        <p:nvSpPr>
          <p:cNvPr id="4" name="card"/>
          <p:cNvSpPr/>
          <p:nvPr/>
        </p:nvSpPr>
        <p:spPr>
          <a:xfrm>
            <a:off x="548640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LuPenci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4574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편집</a:t>
            </a:r>
            <a:endParaRPr lang="ko-KR" alt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엑셀처럼 셀을 고치고 라인을 추가 · 복제 · 삭제 · 순서 변경. 수정한 칸은 표시되고 DB 원본 값을 확인할 수 있습니다.</a:t>
            </a:r>
            <a:endParaRPr lang="ko-KR" alt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90824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3665144" y="2286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LuZ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594" y="24574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실행</a:t>
            </a:r>
            <a:endParaRPr lang="ko-KR" alt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공사번호를 넣고 실행하면 라인마다 TRUE / FALSE / 미실행과 그 시점의 값이 표시됩니다. 실시간 실행을 켜면 고칠 때마다 자동 재실행.</a:t>
            </a:r>
            <a:endParaRPr lang="ko-KR" alt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233008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6507328" y="22860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-LuFootpri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78" y="24574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추적</a:t>
            </a:r>
            <a:endParaRPr lang="ko-KR" alt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디버거처럼 한 단계씩 앞뒤로 이동하며 변수(resultMap)가 어디서 어떻게 바뀌는지 따라갑니다.</a:t>
            </a:r>
            <a:endParaRPr lang="ko-KR" alt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9075191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20" name="icon-circle"/>
          <p:cNvSpPr/>
          <p:nvPr/>
        </p:nvSpPr>
        <p:spPr>
          <a:xfrm>
            <a:off x="9349511" y="22860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-LuFileDiff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961" y="24574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정리</a:t>
            </a:r>
            <a:endParaRPr lang="ko-KR" alt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변경 내역 탭에서 DB 원본 → 수정 내용을 정리해, PLM 에 옮겨 적을 때 참고합니다.</a:t>
            </a:r>
            <a:endParaRPr lang="ko-KR" altLang="en-US" sz="1400" dirty="0"/>
          </a:p>
        </p:txBody>
      </p:sp>
      <p:sp>
        <p:nvSpPr>
          <p:cNvPr id="24" name="note"/>
          <p:cNvSpPr/>
          <p:nvPr/>
        </p:nvSpPr>
        <p:spPr>
          <a:xfrm>
            <a:off x="548640" y="53035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635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530352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수정한 로직은 이 화면에서 실행할 때만 사용되며 </a:t>
            </a:r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DB 에는 저장되지 않습니다.</a:t>
            </a:r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 실제 반영은 PLM 에서 진행합니다.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언제 어떤 화면을 쓰나요?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18608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-LuScanSear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91640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PID 실행 시뮬레이터</a:t>
            </a:r>
            <a:endParaRPr lang="ko-KR" alt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103120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5B6676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/pid/pidSimulView</a:t>
            </a:r>
            <a:endParaRPr lang="ko-KR" alt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8892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i="1" dirty="0">
                <a:solidFill>
                  <a:schemeClr val="tx2"/>
                </a:solidFill>
              </a:rPr>
              <a:t>"지금 DB 로직이 왜 이런 결과를 냈는가?"</a:t>
            </a:r>
            <a:endParaRPr lang="ko-KR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749040"/>
            <a:ext cx="458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DB 에 등록된 로직 그대로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PLM 실행 결과를 라인별로 확인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결과가 예상과 다를 때 원인 라인 찾기</a:t>
            </a:r>
            <a:endParaRPr lang="ko-KR" alt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324448" y="1371600"/>
            <a:ext cx="5318608" cy="4663440"/>
          </a:xfrm>
          <a:prstGeom prst="roundRect">
            <a:avLst>
              <a:gd name="adj" fmla="val 1569"/>
            </a:avLst>
          </a:prstGeom>
          <a:solidFill>
            <a:srgbClr val="ECFDF3"/>
          </a:solidFill>
          <a:ln/>
        </p:spPr>
      </p:sp>
      <p:sp>
        <p:nvSpPr>
          <p:cNvPr id="11" name="icon-circle"/>
          <p:cNvSpPr/>
          <p:nvPr/>
        </p:nvSpPr>
        <p:spPr>
          <a:xfrm>
            <a:off x="6690208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LuFlaskConic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088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04608" y="1691640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PID 플레이그라운드</a:t>
            </a:r>
            <a:endParaRPr lang="ko-KR" alt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604608" y="2103120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5B6676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/simulplay/pidSimulPlayGround</a:t>
            </a:r>
            <a:endParaRPr lang="ko-KR" alt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278892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i="1" dirty="0">
                <a:solidFill>
                  <a:srgbClr val="16A34A"/>
                </a:solidFill>
              </a:rPr>
              <a:t>"이렇게 고치면 결과가 어떻게 바뀌는가?"</a:t>
            </a:r>
            <a:endParaRPr lang="ko-KR" alt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690208" y="3749040"/>
            <a:ext cx="458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로직을 화면에서 직접 고쳐서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DB 를 건드리지 않고 수정안을 미리 검증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단계별 디버거로 변수 변화 추적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화면 구성</a:t>
            </a:r>
            <a:endParaRPr lang="ko-KR" altLang="en-US" sz="3200" dirty="0"/>
          </a:p>
        </p:txBody>
      </p:sp>
      <p:pic>
        <p:nvPicPr>
          <p:cNvPr id="3" name="screenshot-image24.png" descr="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589520" cy="4347105"/>
          </a:xfrm>
          <a:prstGeom prst="rect">
            <a:avLst/>
          </a:prstGeom>
        </p:spPr>
      </p:pic>
      <p:sp>
        <p:nvSpPr>
          <p:cNvPr id="4" name="screenshot-frame"/>
          <p:cNvSpPr/>
          <p:nvPr/>
        </p:nvSpPr>
        <p:spPr>
          <a:xfrm>
            <a:off x="548640" y="1234440"/>
            <a:ext cx="7589520" cy="4347105"/>
          </a:xfrm>
          <a:prstGeom prst="rect">
            <a:avLst/>
          </a:prstGeom>
          <a:ln w="12700">
            <a:solidFill>
              <a:srgbClr val="D9DEE5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134782" y="1255332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34782" y="12553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7" name="mark-2"/>
          <p:cNvSpPr/>
          <p:nvPr/>
        </p:nvSpPr>
        <p:spPr>
          <a:xfrm>
            <a:off x="5119662" y="1565840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9662" y="156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mark-3"/>
          <p:cNvSpPr/>
          <p:nvPr/>
        </p:nvSpPr>
        <p:spPr>
          <a:xfrm>
            <a:off x="3746263" y="1864405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6263" y="186440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mark-4"/>
          <p:cNvSpPr/>
          <p:nvPr/>
        </p:nvSpPr>
        <p:spPr>
          <a:xfrm>
            <a:off x="3985115" y="4432063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85115" y="443206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13" name="mark-5"/>
          <p:cNvSpPr/>
          <p:nvPr/>
        </p:nvSpPr>
        <p:spPr>
          <a:xfrm>
            <a:off x="3805976" y="5309844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05976" y="53098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15" name="list-mark"/>
          <p:cNvSpPr/>
          <p:nvPr/>
        </p:nvSpPr>
        <p:spPr>
          <a:xfrm>
            <a:off x="8503920" y="12344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961120" y="121615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헤더 ① PID 불러오기</a:t>
            </a:r>
            <a:endParaRPr lang="ko-KR" alt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1581912"/>
            <a:ext cx="2681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PID · 버전을 고르고 [불러오기]</a:t>
            </a:r>
            <a:endParaRPr lang="ko-KR" altLang="en-US" sz="1300" dirty="0"/>
          </a:p>
        </p:txBody>
      </p:sp>
      <p:sp>
        <p:nvSpPr>
          <p:cNvPr id="19" name="list-mark"/>
          <p:cNvSpPr/>
          <p:nvPr/>
        </p:nvSpPr>
        <p:spPr>
          <a:xfrm>
            <a:off x="8503920" y="21488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50392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13055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헤더 ② 실행 대상 · 실행</a:t>
            </a:r>
            <a:endParaRPr lang="ko-KR" alt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2496312"/>
            <a:ext cx="2681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공사번호 입력 → [실행]. 오른쪽에 불러온 PID 정보</a:t>
            </a:r>
            <a:endParaRPr lang="ko-KR" altLang="en-US" sz="1300" dirty="0"/>
          </a:p>
        </p:txBody>
      </p:sp>
      <p:sp>
        <p:nvSpPr>
          <p:cNvPr id="23" name="list-mark"/>
          <p:cNvSpPr/>
          <p:nvPr/>
        </p:nvSpPr>
        <p:spPr>
          <a:xfrm>
            <a:off x="8503920" y="30632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50392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304495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편집 도구 줄</a:t>
            </a:r>
            <a:endParaRPr lang="ko-KR" alt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0" y="3410712"/>
            <a:ext cx="2681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수정 현황, SPEC/KEY 열 추가, 확대/축소, DB 원본으로 되돌리기</a:t>
            </a:r>
            <a:endParaRPr lang="ko-KR" altLang="en-US" sz="1300" dirty="0"/>
          </a:p>
        </p:txBody>
      </p:sp>
      <p:sp>
        <p:nvSpPr>
          <p:cNvPr id="27" name="list-mark"/>
          <p:cNvSpPr/>
          <p:nvPr/>
        </p:nvSpPr>
        <p:spPr>
          <a:xfrm>
            <a:off x="8503920" y="39776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5039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961120" y="395935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편집 표</a:t>
            </a:r>
            <a:endParaRPr lang="ko-KR" alt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0" y="4325112"/>
            <a:ext cx="2681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PID 로직. 직접 고칠 수 있고 실행 결과 색 · 단계가 함께 표시</a:t>
            </a:r>
            <a:endParaRPr lang="ko-KR" altLang="en-US" sz="1300" dirty="0"/>
          </a:p>
        </p:txBody>
      </p:sp>
      <p:sp>
        <p:nvSpPr>
          <p:cNvPr id="31" name="list-mark"/>
          <p:cNvSpPr/>
          <p:nvPr/>
        </p:nvSpPr>
        <p:spPr>
          <a:xfrm>
            <a:off x="8503920" y="48920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50392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961120" y="487375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디버그 패널 (접힌 상태)</a:t>
            </a:r>
            <a:endParaRPr lang="ko-KR" alt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961120" y="5239512"/>
            <a:ext cx="2681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실행 요약 · 단계 이동. [펼치기]로 상세 결과 탭을 엽니다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기본 사용 순서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658368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1200882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LuDownloa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482" y="2286000"/>
            <a:ext cx="457200" cy="457200"/>
          </a:xfrm>
          <a:prstGeom prst="rect">
            <a:avLst/>
          </a:prstGeom>
        </p:spPr>
      </p:pic>
      <p:sp>
        <p:nvSpPr>
          <p:cNvPr id="6" name="num-1"/>
          <p:cNvSpPr/>
          <p:nvPr/>
        </p:nvSpPr>
        <p:spPr>
          <a:xfrm>
            <a:off x="185925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5925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1</a:t>
            </a:r>
            <a:endParaRPr lang="ko-KR" alt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PID 불러오기</a:t>
            </a:r>
            <a:endParaRPr lang="ko-KR" alt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PID 입력, 버전 선택(기본 최신) 후 [불러오기]</a:t>
            </a:r>
            <a:endParaRPr lang="ko-KR" altLang="en-US" sz="1400" dirty="0"/>
          </a:p>
        </p:txBody>
      </p:sp>
      <p:sp>
        <p:nvSpPr>
          <p:cNvPr id="10" name="flow-arrow"/>
          <p:cNvSpPr/>
          <p:nvPr/>
        </p:nvSpPr>
        <p:spPr>
          <a:xfrm>
            <a:off x="2676083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2877251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3419765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LuPenci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65" y="2286000"/>
            <a:ext cx="457200" cy="457200"/>
          </a:xfrm>
          <a:prstGeom prst="rect">
            <a:avLst/>
          </a:prstGeom>
        </p:spPr>
      </p:pic>
      <p:sp>
        <p:nvSpPr>
          <p:cNvPr id="14" name="num-2"/>
          <p:cNvSpPr/>
          <p:nvPr/>
        </p:nvSpPr>
        <p:spPr>
          <a:xfrm>
            <a:off x="4078133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078133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2</a:t>
            </a:r>
            <a:endParaRPr lang="ko-KR" alt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041843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수정</a:t>
            </a:r>
            <a:endParaRPr lang="ko-KR" alt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041843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편집 표에서 SPEC / CON / KEY / VAL 등을 고침 (생략 가능)</a:t>
            </a:r>
            <a:endParaRPr lang="ko-KR" altLang="en-US" sz="1400" dirty="0"/>
          </a:p>
        </p:txBody>
      </p:sp>
      <p:sp>
        <p:nvSpPr>
          <p:cNvPr id="18" name="flow-arrow"/>
          <p:cNvSpPr/>
          <p:nvPr/>
        </p:nvSpPr>
        <p:spPr>
          <a:xfrm>
            <a:off x="4894966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card"/>
          <p:cNvSpPr/>
          <p:nvPr/>
        </p:nvSpPr>
        <p:spPr>
          <a:xfrm>
            <a:off x="5096134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20" name="icon-circle"/>
          <p:cNvSpPr/>
          <p:nvPr/>
        </p:nvSpPr>
        <p:spPr>
          <a:xfrm>
            <a:off x="5638648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LuPla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286000"/>
            <a:ext cx="457200" cy="457200"/>
          </a:xfrm>
          <a:prstGeom prst="rect">
            <a:avLst/>
          </a:prstGeom>
        </p:spPr>
      </p:pic>
      <p:sp>
        <p:nvSpPr>
          <p:cNvPr id="22" name="num-3"/>
          <p:cNvSpPr/>
          <p:nvPr/>
        </p:nvSpPr>
        <p:spPr>
          <a:xfrm>
            <a:off x="6297016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9701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3</a:t>
            </a:r>
            <a:endParaRPr lang="ko-KR" alt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260726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실행</a:t>
            </a:r>
            <a:endParaRPr lang="ko-KR" alt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260726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공사번호 입력 후 [실행] 또는 Ctrl+Enter</a:t>
            </a:r>
            <a:endParaRPr lang="ko-KR" altLang="en-US" sz="1400" dirty="0"/>
          </a:p>
        </p:txBody>
      </p:sp>
      <p:sp>
        <p:nvSpPr>
          <p:cNvPr id="26" name="flow-arrow"/>
          <p:cNvSpPr/>
          <p:nvPr/>
        </p:nvSpPr>
        <p:spPr>
          <a:xfrm>
            <a:off x="7113849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card"/>
          <p:cNvSpPr/>
          <p:nvPr/>
        </p:nvSpPr>
        <p:spPr>
          <a:xfrm>
            <a:off x="7315017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28" name="icon-circle"/>
          <p:cNvSpPr/>
          <p:nvPr/>
        </p:nvSpPr>
        <p:spPr>
          <a:xfrm>
            <a:off x="7857531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-LuFootprint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31" y="2286000"/>
            <a:ext cx="457200" cy="457200"/>
          </a:xfrm>
          <a:prstGeom prst="rect">
            <a:avLst/>
          </a:prstGeom>
        </p:spPr>
      </p:pic>
      <p:sp>
        <p:nvSpPr>
          <p:cNvPr id="30" name="num-4"/>
          <p:cNvSpPr/>
          <p:nvPr/>
        </p:nvSpPr>
        <p:spPr>
          <a:xfrm>
            <a:off x="8515899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515899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4</a:t>
            </a:r>
            <a:endParaRPr lang="ko-KR" alt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479609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확인</a:t>
            </a:r>
            <a:endParaRPr lang="ko-KR" alt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7479609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표 색과 디버그 패널로 결과 확인, F10 으로 단계 추적</a:t>
            </a:r>
            <a:endParaRPr lang="ko-KR" altLang="en-US" sz="1400" dirty="0"/>
          </a:p>
        </p:txBody>
      </p:sp>
      <p:sp>
        <p:nvSpPr>
          <p:cNvPr id="34" name="flow-arrow"/>
          <p:cNvSpPr/>
          <p:nvPr/>
        </p:nvSpPr>
        <p:spPr>
          <a:xfrm>
            <a:off x="9332732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card"/>
          <p:cNvSpPr/>
          <p:nvPr/>
        </p:nvSpPr>
        <p:spPr>
          <a:xfrm>
            <a:off x="9533900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36" name="icon-circle"/>
          <p:cNvSpPr/>
          <p:nvPr/>
        </p:nvSpPr>
        <p:spPr>
          <a:xfrm>
            <a:off x="10076414" y="205740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7" name="icon-LuFileDiff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014" y="2286000"/>
            <a:ext cx="457200" cy="457200"/>
          </a:xfrm>
          <a:prstGeom prst="rect">
            <a:avLst/>
          </a:prstGeom>
        </p:spPr>
      </p:pic>
      <p:sp>
        <p:nvSpPr>
          <p:cNvPr id="38" name="num-5"/>
          <p:cNvSpPr/>
          <p:nvPr/>
        </p:nvSpPr>
        <p:spPr>
          <a:xfrm>
            <a:off x="10734782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1073478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5</a:t>
            </a:r>
            <a:endParaRPr lang="ko-KR" alt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9698492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반영 (선택)</a:t>
            </a:r>
            <a:endParaRPr lang="ko-KR" alt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9698492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변경 내역 탭을 참고해 PLM 에서 실제 반영</a:t>
            </a:r>
            <a:endParaRPr lang="ko-KR" altLang="en-US" sz="1400" dirty="0"/>
          </a:p>
        </p:txBody>
      </p:sp>
      <p:sp>
        <p:nvSpPr>
          <p:cNvPr id="42" name="note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E0E7FF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646420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325880" y="5532120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실시간 실행</a:t>
            </a:r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 을 켜 두면 3 → 4 단계가 자동입니다. 표를 고칠 때마다 0.8초 뒤 다시 실행됩니다.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LuPla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94894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불러오기 · 실행</a:t>
            </a:r>
            <a:endParaRPr lang="ko-KR" alt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800" dirty="0">
                <a:solidFill>
                  <a:srgbClr val="CBD5E1"/>
                </a:solidFill>
              </a:rPr>
              <a:t>PID 를 불러오고 공사번호로 실행하기</a:t>
            </a:r>
            <a:endParaRPr lang="ko-KR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357055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6000" b="1" dirty="0">
                <a:solidFill>
                  <a:srgbClr val="475569"/>
                </a:solidFill>
              </a:rPr>
              <a:t>01</a:t>
            </a:r>
            <a:endParaRPr lang="ko-KR" alt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① PID 불러오기 · ② 실행 대상</a:t>
            </a:r>
            <a:endParaRPr lang="ko-KR" altLang="en-US" sz="3200" dirty="0"/>
          </a:p>
        </p:txBody>
      </p:sp>
      <p:sp>
        <p:nvSpPr>
          <p:cNvPr id="3" name="num-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PID 불러오기</a:t>
            </a:r>
            <a:endParaRPr lang="ko-KR" alt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6432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927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PID *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예: </a:t>
                      </a:r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D375A</a:t>
                      </a:r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. 입력하면 버전 목록이 자동 갱신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버전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최신(기본) · TEST · vN · 등록일 중 선택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불러오기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DB 에서 로직을 읽어 편집 표에 표시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88620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층별 PID</a:t>
            </a:r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 태그 → 추가 조건의 층(FLOOR_NAME) 입력 가능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JAVA</a:t>
            </a:r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 태그 → 편집 불가, 실행 결과만 확인</a:t>
            </a:r>
            <a:endParaRPr lang="ko-KR" altLang="en-US" sz="1400" dirty="0"/>
          </a:p>
        </p:txBody>
      </p:sp>
      <p:sp>
        <p:nvSpPr>
          <p:cNvPr id="8" name="num-2"/>
          <p:cNvSpPr/>
          <p:nvPr/>
        </p:nvSpPr>
        <p:spPr>
          <a:xfrm>
            <a:off x="6278728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787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73088" y="13258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실행 대상</a:t>
            </a:r>
            <a:endParaRPr lang="ko-KR" altLang="en-US" sz="2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920240"/>
          <a:ext cx="536432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098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공사번호 *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공사번호(</a:t>
                      </a:r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206663L01</a:t>
                      </a:r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) 또는 공사정보 ouid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층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추가 조건에서 입력. 층별 PID 일 때만 가능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전처리 PID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먼저 돌릴 PID. 쉼표로 여러 개 (</a:t>
                      </a:r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EL_P001, EL_P002</a:t>
                      </a:r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note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263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512064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CALL 로 호출되는 하위 PID 와 전처리 PID 는 항상 </a:t>
            </a:r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최신 버전(DB 원본)</a:t>
            </a:r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으로 실행됩니다. 수정본은 </a:t>
            </a:r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불러온 PID 에만</a:t>
            </a:r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 적용됩니다.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실행 · 실시간 실행 · 주소 공유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LuPla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▶ 실행</a:t>
            </a:r>
            <a:endParaRPr lang="ko-KR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지금 편집 표의 내용(수정본)으로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PID 를 불러온 뒤에만 활성화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단축키 Ctrl+Enter</a:t>
            </a:r>
            <a:endParaRPr lang="ko-KR" alt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8218" y="13716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con-LuZ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58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9778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실시간 실행</a:t>
            </a:r>
            <a:endParaRPr lang="ko-KR" alt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5146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켜 두면 표를 고칠 때마다 0.8초 뒤 자동 재실행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셀 입력 중에는 기다렸다가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기본 켜짐, 설정은 브라우저에 기억</a:t>
            </a:r>
            <a:endParaRPr lang="ko-KR" alt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7797" y="13716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-LuShare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37" y="18059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9357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주소로 공유</a:t>
            </a:r>
            <a:endParaRPr lang="ko-KR" alt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5146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실행하면 주소창에 PID · 버전 · 공사번호 반영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주소를 열면 바로 불러와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수정 내용은 주소에 포함되지 않음</a:t>
            </a:r>
            <a:endParaRPr lang="ko-KR" alt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2"/>
                </a:solidFill>
              </a:rPr>
              <a:t>공유 주소 예시</a:t>
            </a:r>
            <a:endParaRPr lang="ko-KR" altLang="en-US" sz="1400" dirty="0"/>
          </a:p>
        </p:txBody>
      </p:sp>
      <p:sp>
        <p:nvSpPr>
          <p:cNvPr id="19" name="code-box"/>
          <p:cNvSpPr/>
          <p:nvPr/>
        </p:nvSpPr>
        <p:spPr>
          <a:xfrm>
            <a:off x="548640" y="512064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31520" y="51206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/simulplay/pidSimulPlayGround?pid=D375A&amp;version=12&amp;project=206663L01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LuTab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94894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편집 표</a:t>
            </a:r>
            <a:endParaRPr lang="ko-KR" alt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800" dirty="0">
                <a:solidFill>
                  <a:srgbClr val="CBD5E1"/>
                </a:solidFill>
              </a:rPr>
              <a:t>엑셀처럼 PID 로직을 고치고 결과를 같은 표에서 보기</a:t>
            </a:r>
            <a:endParaRPr lang="ko-KR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357055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6000" b="1" dirty="0">
                <a:solidFill>
                  <a:srgbClr val="475569"/>
                </a:solidFill>
              </a:rPr>
              <a:t>02</a:t>
            </a:r>
            <a:endParaRPr lang="ko-KR" alt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편집 표 컬럼</a:t>
            </a:r>
            <a:endParaRPr lang="ko-KR" alt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4297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편집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단계·결과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5B6676"/>
                          </a:solidFill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단계번호. TRUE / FALSE, 미실행은 </a:t>
                      </a:r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5B6676"/>
                          </a:solidFill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DB 라인 번호 (새로 추가한 라인은 비어 있음)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ADDR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라인 주소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SPECn / CONn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조건. 기본 3쌍, 최대 30쌍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KEYn / VALn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결과. 기본 2쌍, 최대 20쌍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GOTO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이동할 ADDR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REMARKS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비고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OUTPUT (실행 결과)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5B6676"/>
                          </a:solidFill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그 라인에서 계산된 출력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8412480" y="1371600"/>
            <a:ext cx="3230575" cy="43891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686800" y="16459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con-LuP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7830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72600" y="1645920"/>
            <a:ext cx="2041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왼쪽 고정</a:t>
            </a:r>
            <a:endParaRPr lang="ko-KR" alt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331720"/>
            <a:ext cx="2681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단계·결과 · NO · ADDR 은 가로로 스크롤해도 항상 보입니다.</a:t>
            </a:r>
            <a:endParaRPr lang="ko-KR" altLang="en-US" sz="1400" dirty="0"/>
          </a:p>
        </p:txBody>
      </p:sp>
      <p:sp>
        <p:nvSpPr>
          <p:cNvPr id="9" name="icon-circle"/>
          <p:cNvSpPr/>
          <p:nvPr/>
        </p:nvSpPr>
        <p:spPr>
          <a:xfrm>
            <a:off x="8686800" y="3429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-LuCircleSlas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35661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72600" y="3429000"/>
            <a:ext cx="2041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빈 칸 = NULL</a:t>
            </a:r>
            <a:endParaRPr lang="ko-KR" alt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686800" y="4114800"/>
            <a:ext cx="2681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빈 칸은 DB 의 NULL 과 같게 취급합니다.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편집 방법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LuPenci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값 수정</a:t>
            </a:r>
            <a:endParaRPr lang="ko-KR" alt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셀 더블클릭 또는 바로 입력. 엑셀에서 복사 · 붙여넣기</a:t>
            </a:r>
            <a:endParaRPr lang="ko-KR" alt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824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icon-circle"/>
          <p:cNvSpPr/>
          <p:nvPr/>
        </p:nvSpPr>
        <p:spPr>
          <a:xfrm>
            <a:off x="3665144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LuListPlu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0944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라인 추가</a:t>
            </a:r>
            <a:endParaRPr lang="ko-KR" alt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오른쪽 클릭 → 위/아래에 라인 추가, 또는 맨 아래 빈 줄에 입력</a:t>
            </a:r>
            <a:endParaRPr lang="ko-KR" alt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3008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6507328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-LuCop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7830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93128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라인 복제</a:t>
            </a:r>
            <a:endParaRPr lang="ko-KR" alt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오른쪽 클릭 → 라인 복제 (아래에)</a:t>
            </a:r>
            <a:endParaRPr lang="ko-KR" alt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5191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9349511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LuTrash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7830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035311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라인 삭제</a:t>
            </a:r>
            <a:endParaRPr lang="ko-KR" alt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오른쪽 클릭 → 라인 삭제</a:t>
            </a:r>
            <a:endParaRPr lang="ko-KR" alt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-LuGripVertica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1605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순서 변경</a:t>
            </a:r>
            <a:endParaRPr lang="ko-KR" alt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왼쪽 행 번호를 끌어서 이동</a:t>
            </a:r>
            <a:endParaRPr lang="ko-KR" alt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390824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3665144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-LuUndo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2304" y="41605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350944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되돌리기</a:t>
            </a:r>
            <a:endParaRPr lang="ko-KR" alt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3665144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Ctrl+Z 되돌리기 · Ctrl+Y 다시 실행</a:t>
            </a:r>
            <a:endParaRPr lang="ko-KR" alt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233008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4" name="icon-circle"/>
          <p:cNvSpPr/>
          <p:nvPr/>
        </p:nvSpPr>
        <p:spPr>
          <a:xfrm>
            <a:off x="6507328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con-LuColumns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488" y="416052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93128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열 추가</a:t>
            </a:r>
            <a:endParaRPr lang="ko-KR" alt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6507328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편집 도구 줄의 + SPEC 열 / + KEY 열</a:t>
            </a:r>
            <a:endParaRPr lang="ko-KR" alt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9075191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9" name="icon-circle"/>
          <p:cNvSpPr/>
          <p:nvPr/>
        </p:nvSpPr>
        <p:spPr>
          <a:xfrm>
            <a:off x="9349511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con-LuMoveHorizontal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671" y="416052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035311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열 너비</a:t>
            </a:r>
            <a:endParaRPr lang="ko-KR" altLang="en-US" sz="1800" dirty="0"/>
          </a:p>
        </p:txBody>
      </p:sp>
      <p:sp>
        <p:nvSpPr>
          <p:cNvPr id="42" name="Text 32"/>
          <p:cNvSpPr txBox="1"/>
          <p:nvPr/>
        </p:nvSpPr>
        <p:spPr>
          <a:xfrm>
            <a:off x="9349511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헤더 경계를 끌어서 조절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색 · 표시 읽는 법</a:t>
            </a:r>
            <a:endParaRPr lang="ko-KR" altLang="en-US" sz="3200" dirty="0"/>
          </a:p>
        </p:txBody>
      </p:sp>
      <p:sp>
        <p:nvSpPr>
          <p:cNvPr id="3" name="swatch"/>
          <p:cNvSpPr/>
          <p:nvPr/>
        </p:nvSpPr>
        <p:spPr>
          <a:xfrm>
            <a:off x="548640" y="1389888"/>
            <a:ext cx="731520" cy="365760"/>
          </a:xfrm>
          <a:prstGeom prst="rect">
            <a:avLst/>
          </a:prstGeom>
          <a:solidFill>
            <a:srgbClr val="E7F6E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132588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TRUE 행</a:t>
            </a:r>
            <a:endParaRPr lang="ko-KR" alt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32588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조건을 만족해 실행된 라인</a:t>
            </a:r>
            <a:endParaRPr lang="ko-KR" altLang="en-US" sz="1400" dirty="0"/>
          </a:p>
        </p:txBody>
      </p:sp>
      <p:sp>
        <p:nvSpPr>
          <p:cNvPr id="6" name="swatch"/>
          <p:cNvSpPr/>
          <p:nvPr/>
        </p:nvSpPr>
        <p:spPr>
          <a:xfrm>
            <a:off x="548640" y="1911096"/>
            <a:ext cx="731520" cy="365760"/>
          </a:xfrm>
          <a:prstGeom prst="rect">
            <a:avLst/>
          </a:prstGeom>
          <a:solidFill>
            <a:srgbClr val="FDECE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8470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FALSE 행</a:t>
            </a:r>
            <a:endParaRPr lang="ko-KR" alt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8470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실행했지만 조건 불만족</a:t>
            </a:r>
            <a:endParaRPr lang="ko-KR" altLang="en-US" sz="1400" dirty="0"/>
          </a:p>
        </p:txBody>
      </p:sp>
      <p:sp>
        <p:nvSpPr>
          <p:cNvPr id="9" name="swatch"/>
          <p:cNvSpPr/>
          <p:nvPr/>
        </p:nvSpPr>
        <p:spPr>
          <a:xfrm>
            <a:off x="548640" y="2432304"/>
            <a:ext cx="731520" cy="365760"/>
          </a:xfrm>
          <a:prstGeom prst="rect">
            <a:avLst/>
          </a:prstGeom>
          <a:solidFill>
            <a:srgbClr val="EEF0F3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236829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미실행 행</a:t>
            </a:r>
            <a:endParaRPr lang="ko-KR" alt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36829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GOTO / STOP 으로 건너뜀</a:t>
            </a:r>
            <a:endParaRPr lang="ko-KR" altLang="en-US" sz="1400" dirty="0"/>
          </a:p>
        </p:txBody>
      </p:sp>
      <p:sp>
        <p:nvSpPr>
          <p:cNvPr id="12" name="swatch"/>
          <p:cNvSpPr/>
          <p:nvPr/>
        </p:nvSpPr>
        <p:spPr>
          <a:xfrm>
            <a:off x="548640" y="2953512"/>
            <a:ext cx="731520" cy="365760"/>
          </a:xfrm>
          <a:prstGeom prst="rect">
            <a:avLst/>
          </a:prstGeom>
          <a:solidFill>
            <a:srgbClr val="B9E8C8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535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15803D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88950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조건 일치 칸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88950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해당 SPEC 조건 일치</a:t>
            </a:r>
            <a:endParaRPr lang="ko-KR" altLang="en-US" sz="1400" dirty="0"/>
          </a:p>
        </p:txBody>
      </p:sp>
      <p:sp>
        <p:nvSpPr>
          <p:cNvPr id="16" name="swatch"/>
          <p:cNvSpPr/>
          <p:nvPr/>
        </p:nvSpPr>
        <p:spPr>
          <a:xfrm>
            <a:off x="548640" y="3474720"/>
            <a:ext cx="731520" cy="365760"/>
          </a:xfrm>
          <a:prstGeom prst="rect">
            <a:avLst/>
          </a:prstGeom>
          <a:solidFill>
            <a:srgbClr val="F7C1C1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B91C1C"/>
                </a:solidFill>
              </a:rPr>
              <a:t>✗</a:t>
            </a:r>
            <a:endParaRPr lang="ko-KR" alt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41071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조건 불일치 칸</a:t>
            </a:r>
            <a:endParaRPr lang="ko-KR" alt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41071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해당 SPEC 조건 불일치</a:t>
            </a:r>
            <a:endParaRPr lang="ko-KR" altLang="en-US" sz="1400" dirty="0"/>
          </a:p>
        </p:txBody>
      </p:sp>
      <p:sp>
        <p:nvSpPr>
          <p:cNvPr id="20" name="swatch"/>
          <p:cNvSpPr/>
          <p:nvPr/>
        </p:nvSpPr>
        <p:spPr>
          <a:xfrm>
            <a:off x="548640" y="3995928"/>
            <a:ext cx="731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watch-edit-mark"/>
          <p:cNvSpPr/>
          <p:nvPr/>
        </p:nvSpPr>
        <p:spPr>
          <a:xfrm>
            <a:off x="548640" y="3995928"/>
            <a:ext cx="64008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63040" y="39319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수정한 칸</a:t>
            </a:r>
            <a:endParaRPr lang="ko-KR" alt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93192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왼쪽 주황 줄 + 굵게. 마우스를 올리면 DB 원본 값</a:t>
            </a:r>
            <a:endParaRPr lang="ko-KR" altLang="en-US" sz="1400" dirty="0"/>
          </a:p>
        </p:txBody>
      </p:sp>
      <p:sp>
        <p:nvSpPr>
          <p:cNvPr id="24" name="swatch"/>
          <p:cNvSpPr/>
          <p:nvPr/>
        </p:nvSpPr>
        <p:spPr>
          <a:xfrm>
            <a:off x="548640" y="4517136"/>
            <a:ext cx="73152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44531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새 라인</a:t>
            </a:r>
            <a:endParaRPr lang="ko-KR" alt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445312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하늘색 테두리</a:t>
            </a:r>
            <a:endParaRPr lang="ko-KR" altLang="en-US" sz="1400" dirty="0"/>
          </a:p>
        </p:txBody>
      </p:sp>
      <p:sp>
        <p:nvSpPr>
          <p:cNvPr id="27" name="swatch"/>
          <p:cNvSpPr/>
          <p:nvPr/>
        </p:nvSpPr>
        <p:spPr>
          <a:xfrm>
            <a:off x="548640" y="5038344"/>
            <a:ext cx="73152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63040" y="497433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현재 단계</a:t>
            </a:r>
            <a:endParaRPr lang="ko-KR" alt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497433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디버거가 가리키는 라인 (보라색)</a:t>
            </a:r>
            <a:endParaRPr lang="ko-KR" altLang="en-US" sz="1400" dirty="0"/>
          </a:p>
        </p:txBody>
      </p:sp>
      <p:sp>
        <p:nvSpPr>
          <p:cNvPr id="30" name="swatch"/>
          <p:cNvSpPr/>
          <p:nvPr/>
        </p:nvSpPr>
        <p:spPr>
          <a:xfrm>
            <a:off x="548640" y="5559552"/>
            <a:ext cx="731520" cy="365760"/>
          </a:xfrm>
          <a:prstGeom prst="rect">
            <a:avLst/>
          </a:prstGeom>
          <a:solidFill>
            <a:srgbClr val="E7F6EC">
              <a:alpha val="55000"/>
            </a:srgbClr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63040" y="549554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흐린 표시</a:t>
            </a:r>
            <a:endParaRPr lang="ko-KR" alt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549554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 후 또 수정함 → 다시 실행 필요</a:t>
            </a:r>
            <a:endParaRPr lang="ko-KR" alt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7680960" y="1371600"/>
            <a:ext cx="3962095" cy="4480560"/>
          </a:xfrm>
          <a:prstGeom prst="roundRect">
            <a:avLst>
              <a:gd name="adj" fmla="val 1846"/>
            </a:avLst>
          </a:prstGeom>
          <a:solidFill>
            <a:schemeClr val="bg2"/>
          </a:solidFill>
          <a:ln/>
        </p:spPr>
      </p:sp>
      <p:sp>
        <p:nvSpPr>
          <p:cNvPr id="34" name="icon-circle"/>
          <p:cNvSpPr/>
          <p:nvPr/>
        </p:nvSpPr>
        <p:spPr>
          <a:xfrm>
            <a:off x="795528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5" name="icon-LuMousePointer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783080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641080" y="164592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조건 칸에 마우스를 올리면</a:t>
            </a:r>
            <a:endParaRPr lang="ko-KR" altLang="en-US" sz="1600" dirty="0"/>
          </a:p>
        </p:txBody>
      </p:sp>
      <p:sp>
        <p:nvSpPr>
          <p:cNvPr id="37" name="code-box"/>
          <p:cNvSpPr/>
          <p:nvPr/>
        </p:nvSpPr>
        <p:spPr>
          <a:xfrm>
            <a:off x="7955280" y="2423160"/>
            <a:ext cx="3413455" cy="1371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138160" y="2423160"/>
            <a:ext cx="3047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SPEC2 불일치</a:t>
            </a:r>
            <a:endParaRPr lang="ko-KR" altLang="en-US" sz="1500" dirty="0"/>
          </a:p>
          <a:p>
            <a:pPr indent="0" marL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EL_SPEED 값 : 105</a:t>
            </a:r>
            <a:endParaRPr lang="ko-KR" altLang="en-US" sz="1500" dirty="0"/>
          </a:p>
          <a:p>
            <a:pPr indent="0" marL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CON : {EL_X} → 90</a:t>
            </a:r>
            <a:endParaRPr lang="ko-KR" alt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955280" y="4023360"/>
            <a:ext cx="3413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그 라인을 실행하던 시점의 실제 값과, CON 이 계산식이면 계산된 값까지 비교해 보여줍니다.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편집 도구 줄 · 수정 내용 보관</a:t>
            </a:r>
            <a:endParaRPr lang="ko-KR" alt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수정 현황</a:t>
            </a:r>
            <a:endParaRPr lang="ko-KR" altLang="en-US" sz="1800" dirty="0"/>
          </a:p>
        </p:txBody>
      </p:sp>
      <p:sp>
        <p:nvSpPr>
          <p:cNvPr id="4" name="pill"/>
          <p:cNvSpPr/>
          <p:nvPr/>
        </p:nvSpPr>
        <p:spPr>
          <a:xfrm>
            <a:off x="548640" y="1828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334155"/>
                </a:solidFill>
              </a:rPr>
              <a:t>DB 원본과 같음</a:t>
            </a:r>
            <a:endParaRPr lang="ko-KR" alt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828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수정 없음</a:t>
            </a:r>
            <a:endParaRPr lang="ko-KR" altLang="en-US" sz="1400" dirty="0"/>
          </a:p>
        </p:txBody>
      </p:sp>
      <p:sp>
        <p:nvSpPr>
          <p:cNvPr id="7" name="pill"/>
          <p:cNvSpPr/>
          <p:nvPr/>
        </p:nvSpPr>
        <p:spPr>
          <a:xfrm>
            <a:off x="548640" y="2377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92400E"/>
                </a:solidFill>
              </a:rPr>
              <a:t>수정 3칸 (2라인)</a:t>
            </a:r>
            <a:endParaRPr lang="ko-KR" alt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77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값이 바뀐 칸 / 라인 수</a:t>
            </a:r>
            <a:endParaRPr lang="ko-KR" altLang="en-US" sz="1400" dirty="0"/>
          </a:p>
        </p:txBody>
      </p:sp>
      <p:sp>
        <p:nvSpPr>
          <p:cNvPr id="10" name="pill"/>
          <p:cNvSpPr/>
          <p:nvPr/>
        </p:nvSpPr>
        <p:spPr>
          <a:xfrm>
            <a:off x="548640" y="29260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55E75"/>
                </a:solidFill>
              </a:rPr>
              <a:t>추가 1라인</a:t>
            </a:r>
            <a:endParaRPr lang="ko-KR" alt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새로 넣은 라인</a:t>
            </a:r>
            <a:endParaRPr lang="ko-KR" altLang="en-US" sz="1400" dirty="0"/>
          </a:p>
        </p:txBody>
      </p:sp>
      <p:sp>
        <p:nvSpPr>
          <p:cNvPr id="13" name="pill"/>
          <p:cNvSpPr/>
          <p:nvPr/>
        </p:nvSpPr>
        <p:spPr>
          <a:xfrm>
            <a:off x="548640" y="3474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991B1B"/>
                </a:solidFill>
              </a:rPr>
              <a:t>삭제 1라인</a:t>
            </a:r>
            <a:endParaRPr lang="ko-KR" alt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474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지운 라인</a:t>
            </a:r>
            <a:endParaRPr lang="ko-KR" altLang="en-US" sz="1400" dirty="0"/>
          </a:p>
        </p:txBody>
      </p:sp>
      <p:sp>
        <p:nvSpPr>
          <p:cNvPr id="16" name="pill"/>
          <p:cNvSpPr/>
          <p:nvPr/>
        </p:nvSpPr>
        <p:spPr>
          <a:xfrm>
            <a:off x="548640" y="40233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23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92400E"/>
                </a:solidFill>
              </a:rPr>
              <a:t>순서 변경</a:t>
            </a:r>
            <a:endParaRPr lang="ko-KR" alt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4023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라인 순서가 DB 원본과 다름</a:t>
            </a:r>
            <a:endParaRPr lang="ko-KR" alt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325880"/>
            <a:ext cx="5242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버튼</a:t>
            </a:r>
            <a:endParaRPr lang="ko-KR" alt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4225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001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버튼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+ SPEC 열 / + KEY 열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조건 · 결과 열 한 쌍 추가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− 100% +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편집 표 확대/축소 (Ctrl+휠)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B91C1C"/>
                          </a:solidFill>
                        </a:rPr>
                        <a:t>DB 원본으로 되돌리기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모든 수정을 버리고 DB 원본을 다시 불러옴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범례 / 단축키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색 의미와 단축키 안내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note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18922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25880" y="4846320"/>
            <a:ext cx="10134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수정 내용은 어디에도 저장되지 않습니다.</a:t>
            </a:r>
            <a:endParaRPr lang="ko-KR" altLang="en-US" sz="1400" dirty="0"/>
          </a:p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새로고침하거나 다른 PID 를 불러오면 사라집니다 (떠나기 전 확인 창이 뜸). 남기려면 편집 표에서 셀을 선택해 Ctrl+C → 엑셀에 붙여넣어 보관하세요.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LuBu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94894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디버그 패널</a:t>
            </a:r>
            <a:endParaRPr lang="ko-KR" alt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800" dirty="0">
                <a:solidFill>
                  <a:srgbClr val="CBD5E1"/>
                </a:solidFill>
              </a:rPr>
              <a:t>단계별로 실행을 따라가며 값의 변화를 확인하기</a:t>
            </a:r>
            <a:endParaRPr lang="ko-KR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357055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6000" b="1" dirty="0">
                <a:solidFill>
                  <a:srgbClr val="475569"/>
                </a:solidFill>
              </a:rPr>
              <a:t>03</a:t>
            </a:r>
            <a:endParaRPr lang="ko-KR" alt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메인 화면 읽는 법</a:t>
            </a:r>
            <a:endParaRPr lang="ko-KR" altLang="en-US" sz="3200" dirty="0"/>
          </a:p>
        </p:txBody>
      </p:sp>
      <p:pic>
        <p:nvPicPr>
          <p:cNvPr id="3" name="screenshot-image24.png" descr="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589520" cy="4347105"/>
          </a:xfrm>
          <a:prstGeom prst="rect">
            <a:avLst/>
          </a:prstGeom>
        </p:spPr>
      </p:pic>
      <p:sp>
        <p:nvSpPr>
          <p:cNvPr id="4" name="screenshot-frame"/>
          <p:cNvSpPr/>
          <p:nvPr/>
        </p:nvSpPr>
        <p:spPr>
          <a:xfrm>
            <a:off x="548640" y="1234440"/>
            <a:ext cx="7589520" cy="4347105"/>
          </a:xfrm>
          <a:prstGeom prst="rect">
            <a:avLst/>
          </a:prstGeom>
          <a:ln w="12700">
            <a:solidFill>
              <a:srgbClr val="D9DEE5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850183" y="2580961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183" y="25809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7" name="mark-2"/>
          <p:cNvSpPr/>
          <p:nvPr/>
        </p:nvSpPr>
        <p:spPr>
          <a:xfrm>
            <a:off x="3746263" y="4103642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46263" y="41036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mark-3"/>
          <p:cNvSpPr/>
          <p:nvPr/>
        </p:nvSpPr>
        <p:spPr>
          <a:xfrm>
            <a:off x="533705" y="3805077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3705" y="38050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mark-4"/>
          <p:cNvSpPr/>
          <p:nvPr/>
        </p:nvSpPr>
        <p:spPr>
          <a:xfrm>
            <a:off x="1298031" y="5076963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98031" y="507696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13" name="mark-5"/>
          <p:cNvSpPr/>
          <p:nvPr/>
        </p:nvSpPr>
        <p:spPr>
          <a:xfrm>
            <a:off x="5418226" y="5076963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18226" y="507696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15" name="mark-6"/>
          <p:cNvSpPr/>
          <p:nvPr/>
        </p:nvSpPr>
        <p:spPr>
          <a:xfrm>
            <a:off x="7657463" y="5076963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57463" y="507696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6</a:t>
            </a:r>
            <a:endParaRPr lang="ko-KR" altLang="en-US" sz="1200" dirty="0"/>
          </a:p>
        </p:txBody>
      </p:sp>
      <p:sp>
        <p:nvSpPr>
          <p:cNvPr id="17" name="list-mark"/>
          <p:cNvSpPr/>
          <p:nvPr/>
        </p:nvSpPr>
        <p:spPr>
          <a:xfrm>
            <a:off x="8503920" y="12344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03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961120" y="121615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단계 · 결과</a:t>
            </a:r>
            <a:endParaRPr lang="ko-KR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961120" y="1581912"/>
            <a:ext cx="2681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실행 순서 + 결과. 초록 TRUE · 빨강 FALSE</a:t>
            </a:r>
            <a:endParaRPr lang="ko-KR" altLang="en-US" sz="1300" dirty="0"/>
          </a:p>
        </p:txBody>
      </p:sp>
      <p:sp>
        <p:nvSpPr>
          <p:cNvPr id="21" name="list-mark"/>
          <p:cNvSpPr/>
          <p:nvPr/>
        </p:nvSpPr>
        <p:spPr>
          <a:xfrm>
            <a:off x="8503920" y="20391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961120" y="2020824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조건 칸 ✓ / ✗</a:t>
            </a:r>
            <a:endParaRPr lang="ko-KR" alt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961120" y="2386584"/>
            <a:ext cx="2681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✓ 일치 · ✗ 불일치. 마우스를 올리면 그 시점 값</a:t>
            </a:r>
            <a:endParaRPr lang="ko-KR" altLang="en-US" sz="1300" dirty="0"/>
          </a:p>
        </p:txBody>
      </p:sp>
      <p:sp>
        <p:nvSpPr>
          <p:cNvPr id="25" name="list-mark"/>
          <p:cNvSpPr/>
          <p:nvPr/>
        </p:nvSpPr>
        <p:spPr>
          <a:xfrm>
            <a:off x="8503920" y="284378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50392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0" y="2825496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보라 테두리</a:t>
            </a:r>
            <a:endParaRPr lang="ko-KR" alt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961120" y="3191256"/>
            <a:ext cx="2681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지금 보고 있는 단계의 라인</a:t>
            </a:r>
            <a:endParaRPr lang="ko-KR" altLang="en-US" sz="1300" dirty="0"/>
          </a:p>
        </p:txBody>
      </p:sp>
      <p:sp>
        <p:nvSpPr>
          <p:cNvPr id="29" name="list-mark"/>
          <p:cNvSpPr/>
          <p:nvPr/>
        </p:nvSpPr>
        <p:spPr>
          <a:xfrm>
            <a:off x="8503920" y="36484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50392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961120" y="3630168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실행 요약</a:t>
            </a:r>
            <a:endParaRPr lang="ko-KR" alt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3995928"/>
            <a:ext cx="2681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건수 · 실행 시간. "수정 후 미실행"이면 다시 실행</a:t>
            </a:r>
            <a:endParaRPr lang="ko-KR" altLang="en-US" sz="1300" dirty="0"/>
          </a:p>
        </p:txBody>
      </p:sp>
      <p:sp>
        <p:nvSpPr>
          <p:cNvPr id="33" name="list-mark"/>
          <p:cNvSpPr/>
          <p:nvPr/>
        </p:nvSpPr>
        <p:spPr>
          <a:xfrm>
            <a:off x="8503920" y="44531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50392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961120" y="443484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단계 이동</a:t>
            </a:r>
            <a:endParaRPr lang="ko-KR" alt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961120" y="4800600"/>
            <a:ext cx="2681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|◀ ◀ ▶ ▶| 또는 F10. 예: 단계 12 / 19 · NO 12</a:t>
            </a:r>
            <a:endParaRPr lang="ko-KR" altLang="en-US" sz="1300" dirty="0"/>
          </a:p>
        </p:txBody>
      </p:sp>
      <p:sp>
        <p:nvSpPr>
          <p:cNvPr id="37" name="list-mark"/>
          <p:cNvSpPr/>
          <p:nvPr/>
        </p:nvSpPr>
        <p:spPr>
          <a:xfrm>
            <a:off x="8503920" y="5257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503920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6</a:t>
            </a:r>
            <a:endParaRPr lang="ko-KR" alt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961120" y="523951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펼치기</a:t>
            </a:r>
            <a:endParaRPr lang="ko-KR" alt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961120" y="5605272"/>
            <a:ext cx="2681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디버그 패널을 열어 상세 탭 보기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펼치기 → 라인별 결과</a:t>
            </a:r>
            <a:endParaRPr lang="ko-KR" altLang="en-US" sz="3200" dirty="0"/>
          </a:p>
        </p:txBody>
      </p:sp>
      <p:pic>
        <p:nvPicPr>
          <p:cNvPr id="3" name="screenshot-image25.png" descr="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3272762"/>
          </a:xfrm>
          <a:prstGeom prst="rect">
            <a:avLst/>
          </a:prstGeom>
        </p:spPr>
      </p:pic>
      <p:sp>
        <p:nvSpPr>
          <p:cNvPr id="4" name="screenshot-frame"/>
          <p:cNvSpPr/>
          <p:nvPr/>
        </p:nvSpPr>
        <p:spPr>
          <a:xfrm>
            <a:off x="548640" y="1234440"/>
            <a:ext cx="6949440" cy="3272762"/>
          </a:xfrm>
          <a:prstGeom prst="rect">
            <a:avLst/>
          </a:prstGeom>
          <a:ln w="12700">
            <a:solidFill>
              <a:srgbClr val="D9DEE5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3509388" y="2522558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09388" y="25225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7" name="mark-2"/>
          <p:cNvSpPr/>
          <p:nvPr/>
        </p:nvSpPr>
        <p:spPr>
          <a:xfrm>
            <a:off x="2836194" y="2641662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36194" y="26416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mark-3"/>
          <p:cNvSpPr/>
          <p:nvPr/>
        </p:nvSpPr>
        <p:spPr>
          <a:xfrm>
            <a:off x="4363828" y="2641662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63828" y="26416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mark-4"/>
          <p:cNvSpPr/>
          <p:nvPr/>
        </p:nvSpPr>
        <p:spPr>
          <a:xfrm>
            <a:off x="7082498" y="2517380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2498" y="251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13" name="mark-5"/>
          <p:cNvSpPr/>
          <p:nvPr/>
        </p:nvSpPr>
        <p:spPr>
          <a:xfrm>
            <a:off x="4363828" y="2879869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63828" y="287986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15" name="mark-6"/>
          <p:cNvSpPr/>
          <p:nvPr/>
        </p:nvSpPr>
        <p:spPr>
          <a:xfrm>
            <a:off x="5244159" y="3066293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44159" y="30662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6</a:t>
            </a:r>
            <a:endParaRPr lang="ko-KR" altLang="en-US" sz="1200" dirty="0"/>
          </a:p>
        </p:txBody>
      </p:sp>
      <p:sp>
        <p:nvSpPr>
          <p:cNvPr id="17" name="mark-7"/>
          <p:cNvSpPr/>
          <p:nvPr/>
        </p:nvSpPr>
        <p:spPr>
          <a:xfrm>
            <a:off x="3509388" y="3521994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09388" y="35219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7</a:t>
            </a:r>
            <a:endParaRPr lang="ko-KR" altLang="en-US" sz="1200" dirty="0"/>
          </a:p>
        </p:txBody>
      </p:sp>
      <p:sp>
        <p:nvSpPr>
          <p:cNvPr id="19" name="list-mark"/>
          <p:cNvSpPr/>
          <p:nvPr/>
        </p:nvSpPr>
        <p:spPr>
          <a:xfrm>
            <a:off x="7818120" y="11887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1812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1170432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경계선</a:t>
            </a:r>
            <a:endParaRPr lang="ko-KR" alt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1536192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끌어서 높이 조절 · 더블클릭 크게/작게</a:t>
            </a:r>
            <a:endParaRPr lang="ko-KR" altLang="en-US" sz="1300" dirty="0"/>
          </a:p>
        </p:txBody>
      </p:sp>
      <p:sp>
        <p:nvSpPr>
          <p:cNvPr id="23" name="list-mark"/>
          <p:cNvSpPr/>
          <p:nvPr/>
        </p:nvSpPr>
        <p:spPr>
          <a:xfrm>
            <a:off x="7818120" y="19019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1812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1883664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실행 요약</a:t>
            </a:r>
            <a:endParaRPr lang="ko-KR" alt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2249424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결과 건수 · 공사번호 · 실행 시간</a:t>
            </a:r>
            <a:endParaRPr lang="ko-KR" altLang="en-US" sz="1300" dirty="0"/>
          </a:p>
        </p:txBody>
      </p:sp>
      <p:sp>
        <p:nvSpPr>
          <p:cNvPr id="27" name="list-mark"/>
          <p:cNvSpPr/>
          <p:nvPr/>
        </p:nvSpPr>
        <p:spPr>
          <a:xfrm>
            <a:off x="7818120" y="261518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8181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2596896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단계 이동</a:t>
            </a:r>
            <a:endParaRPr lang="ko-KR" alt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2962656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단계 5 / 19 · MAIN TRUE = 현재 라인</a:t>
            </a:r>
            <a:endParaRPr lang="ko-KR" altLang="en-US" sz="1300" dirty="0"/>
          </a:p>
        </p:txBody>
      </p:sp>
      <p:sp>
        <p:nvSpPr>
          <p:cNvPr id="31" name="list-mark"/>
          <p:cNvSpPr/>
          <p:nvPr/>
        </p:nvSpPr>
        <p:spPr>
          <a:xfrm>
            <a:off x="7818120" y="332841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81812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3310128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접기</a:t>
            </a:r>
            <a:endParaRPr lang="ko-KR" alt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3675888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패널을 접어 편집 표를 넓게</a:t>
            </a:r>
            <a:endParaRPr lang="ko-KR" altLang="en-US" sz="1300" dirty="0"/>
          </a:p>
        </p:txBody>
      </p:sp>
      <p:sp>
        <p:nvSpPr>
          <p:cNvPr id="35" name="list-mark"/>
          <p:cNvSpPr/>
          <p:nvPr/>
        </p:nvSpPr>
        <p:spPr>
          <a:xfrm>
            <a:off x="7818120" y="40416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81812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275320" y="4023360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탭</a:t>
            </a:r>
            <a:endParaRPr lang="ko-KR" alt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275320" y="4389120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숫자는 건수 (변수 139, 하위 PID 17)</a:t>
            </a:r>
            <a:endParaRPr lang="ko-KR" altLang="en-US" sz="1300" dirty="0"/>
          </a:p>
        </p:txBody>
      </p:sp>
      <p:sp>
        <p:nvSpPr>
          <p:cNvPr id="39" name="list-mark"/>
          <p:cNvSpPr/>
          <p:nvPr/>
        </p:nvSpPr>
        <p:spPr>
          <a:xfrm>
            <a:off x="7818120" y="4754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81812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6</a:t>
            </a:r>
            <a:endParaRPr lang="ko-KR" alt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275320" y="4736592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필터 · 검색</a:t>
            </a:r>
            <a:endParaRPr lang="ko-KR" alt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275320" y="5102352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결과별 필터 · 값이 바뀐 라인만 · 키워드</a:t>
            </a:r>
            <a:endParaRPr lang="ko-KR" altLang="en-US" sz="1300" dirty="0"/>
          </a:p>
        </p:txBody>
      </p:sp>
      <p:sp>
        <p:nvSpPr>
          <p:cNvPr id="43" name="list-mark"/>
          <p:cNvSpPr/>
          <p:nvPr/>
        </p:nvSpPr>
        <p:spPr>
          <a:xfrm>
            <a:off x="7818120" y="54681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818120" y="5468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7</a:t>
            </a:r>
            <a:endParaRPr lang="ko-KR" alt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8275320" y="5449824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조건 칩</a:t>
            </a:r>
            <a:endParaRPr lang="ko-KR" alt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8275320" y="5815584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[ ] 안 = 그 시점 실제 값 (왼쪽 아래 예시)</a:t>
            </a:r>
            <a:endParaRPr lang="ko-KR" altLang="en-US" sz="1300" dirty="0"/>
          </a:p>
        </p:txBody>
      </p:sp>
      <p:sp>
        <p:nvSpPr>
          <p:cNvPr id="47" name="card"/>
          <p:cNvSpPr/>
          <p:nvPr/>
        </p:nvSpPr>
        <p:spPr>
          <a:xfrm>
            <a:off x="548640" y="4781522"/>
            <a:ext cx="6949440" cy="1390678"/>
          </a:xfrm>
          <a:prstGeom prst="roundRect">
            <a:avLst>
              <a:gd name="adj" fmla="val 5260"/>
            </a:avLst>
          </a:prstGeom>
          <a:solidFill>
            <a:srgbClr val="FEF2F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77240" y="4781522"/>
            <a:ext cx="6492240" cy="139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B91C1C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✗ PICK = EL_PB189C99 [(빈 값)]</a:t>
            </a:r>
            <a:endParaRPr lang="ko-KR" altLang="en-US" sz="1400" dirty="0"/>
          </a:p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조건은 PICK 이 EL_PB189C99 여야 하는데, 이 라인을 실행할 때 PICK 값이 비어 있어 불일치 → FALSE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최종 OUTPUT — 변수 전체 값</a:t>
            </a:r>
            <a:endParaRPr lang="ko-KR" altLang="en-US" sz="3200" dirty="0"/>
          </a:p>
        </p:txBody>
      </p:sp>
      <p:pic>
        <p:nvPicPr>
          <p:cNvPr id="3" name="screenshot-image26.png" descr="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3376773"/>
          </a:xfrm>
          <a:prstGeom prst="rect">
            <a:avLst/>
          </a:prstGeom>
        </p:spPr>
      </p:pic>
      <p:sp>
        <p:nvSpPr>
          <p:cNvPr id="4" name="screenshot-frame"/>
          <p:cNvSpPr/>
          <p:nvPr/>
        </p:nvSpPr>
        <p:spPr>
          <a:xfrm>
            <a:off x="792328" y="1234440"/>
            <a:ext cx="10607040" cy="3376773"/>
          </a:xfrm>
          <a:prstGeom prst="rect">
            <a:avLst/>
          </a:prstGeom>
          <a:ln w="12700">
            <a:solidFill>
              <a:srgbClr val="D9DEE5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3307715" y="1445677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307715" y="14456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7" name="mark-2"/>
          <p:cNvSpPr/>
          <p:nvPr/>
        </p:nvSpPr>
        <p:spPr>
          <a:xfrm>
            <a:off x="3029628" y="1906507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29628" y="190650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mark-3"/>
          <p:cNvSpPr/>
          <p:nvPr/>
        </p:nvSpPr>
        <p:spPr>
          <a:xfrm>
            <a:off x="2274820" y="2597752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74820" y="259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48640" y="4885533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2" name="card-mark"/>
          <p:cNvSpPr/>
          <p:nvPr/>
        </p:nvSpPr>
        <p:spPr>
          <a:xfrm>
            <a:off x="731520" y="5068413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50684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5050125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최종 OUTPUT 탭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489037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실행이 끝난 뒤 남은 변수(KEY) 전체 값 (예: 140건)</a:t>
            </a:r>
            <a:endParaRPr lang="ko-KR" alt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338218" y="4885533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card-mark"/>
          <p:cNvSpPr/>
          <p:nvPr/>
        </p:nvSpPr>
        <p:spPr>
          <a:xfrm>
            <a:off x="4521098" y="5068413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21098" y="50684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78298" y="5050125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키 / 값 검색</a:t>
            </a:r>
            <a:endParaRPr lang="ko-KR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21098" y="5489037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KEY 이름이나 값 일부를 입력하면 해당 줄만 표시</a:t>
            </a:r>
            <a:endParaRPr lang="ko-KR" alt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8127797" y="4885533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2" name="card-mark"/>
          <p:cNvSpPr/>
          <p:nvPr/>
        </p:nvSpPr>
        <p:spPr>
          <a:xfrm>
            <a:off x="8310677" y="5068413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310677" y="50684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67877" y="5050125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변수 탭과 차이</a:t>
            </a:r>
            <a:endParaRPr lang="ko-KR" alt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310677" y="5489037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변수 = 지금 단계까지의 값, 최종 OUTPUT = 끝까지 실행한 값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최종 영업사양 — 공사번호의 사양 값</a:t>
            </a:r>
            <a:endParaRPr lang="ko-KR" altLang="en-US" sz="3200" dirty="0"/>
          </a:p>
        </p:txBody>
      </p:sp>
      <p:pic>
        <p:nvPicPr>
          <p:cNvPr id="3" name="screenshot-image27.png" descr="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1234440"/>
            <a:ext cx="10424160" cy="3417502"/>
          </a:xfrm>
          <a:prstGeom prst="rect">
            <a:avLst/>
          </a:prstGeom>
        </p:spPr>
      </p:pic>
      <p:sp>
        <p:nvSpPr>
          <p:cNvPr id="4" name="screenshot-frame"/>
          <p:cNvSpPr/>
          <p:nvPr/>
        </p:nvSpPr>
        <p:spPr>
          <a:xfrm>
            <a:off x="883768" y="1234440"/>
            <a:ext cx="10424160" cy="3417502"/>
          </a:xfrm>
          <a:prstGeom prst="rect">
            <a:avLst/>
          </a:prstGeom>
          <a:ln w="12700">
            <a:solidFill>
              <a:srgbClr val="D9DEE5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4404646" y="1493867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04646" y="14938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7" name="mark-2"/>
          <p:cNvSpPr/>
          <p:nvPr/>
        </p:nvSpPr>
        <p:spPr>
          <a:xfrm>
            <a:off x="4794771" y="2016635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94771" y="20166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mark-3"/>
          <p:cNvSpPr/>
          <p:nvPr/>
        </p:nvSpPr>
        <p:spPr>
          <a:xfrm>
            <a:off x="4794771" y="2406761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94771" y="24067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48640" y="4926262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2" name="card-mark"/>
          <p:cNvSpPr/>
          <p:nvPr/>
        </p:nvSpPr>
        <p:spPr>
          <a:xfrm>
            <a:off x="731520" y="510914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51091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5090854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최종 영업사양 탭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529766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입력한 공사번호의 영업사양(특성코드 = 값) 전체. PID 실행 후 기준 (예: 1113건)</a:t>
            </a:r>
            <a:endParaRPr lang="ko-KR" alt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338218" y="4926262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card-mark"/>
          <p:cNvSpPr/>
          <p:nvPr/>
        </p:nvSpPr>
        <p:spPr>
          <a:xfrm>
            <a:off x="4521098" y="510914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21098" y="51091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78298" y="5090854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(빈 값)</a:t>
            </a:r>
            <a:endParaRPr lang="ko-KR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21098" y="5529766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해당 특성코드에 값이 없는 경우. 조건 불일치 원인을 찾을 때 확인</a:t>
            </a:r>
            <a:endParaRPr lang="ko-KR" alt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8127797" y="4926262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2" name="card-mark"/>
          <p:cNvSpPr/>
          <p:nvPr/>
        </p:nvSpPr>
        <p:spPr>
          <a:xfrm>
            <a:off x="8310677" y="510914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310677" y="51091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67877" y="5090854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값 확인 · 검색</a:t>
            </a:r>
            <a:endParaRPr lang="ko-KR" alt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310677" y="5529766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탭 위쪽 검색창에서 특성코드나 값으로 찾기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하위 PID — CALL 추적</a:t>
            </a:r>
            <a:endParaRPr lang="ko-KR" altLang="en-US" sz="3200" dirty="0"/>
          </a:p>
        </p:txBody>
      </p:sp>
      <p:pic>
        <p:nvPicPr>
          <p:cNvPr id="3" name="screenshot-image28.png" descr="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368" y="1234440"/>
            <a:ext cx="9966960" cy="3481354"/>
          </a:xfrm>
          <a:prstGeom prst="rect">
            <a:avLst/>
          </a:prstGeom>
        </p:spPr>
      </p:pic>
      <p:sp>
        <p:nvSpPr>
          <p:cNvPr id="4" name="screenshot-frame"/>
          <p:cNvSpPr/>
          <p:nvPr/>
        </p:nvSpPr>
        <p:spPr>
          <a:xfrm>
            <a:off x="1112368" y="1234440"/>
            <a:ext cx="9966960" cy="3481354"/>
          </a:xfrm>
          <a:prstGeom prst="rect">
            <a:avLst/>
          </a:prstGeom>
          <a:ln w="12700">
            <a:solidFill>
              <a:srgbClr val="D9DEE5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1935177" y="2139251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35177" y="21392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7" name="mark-2"/>
          <p:cNvSpPr/>
          <p:nvPr/>
        </p:nvSpPr>
        <p:spPr>
          <a:xfrm>
            <a:off x="5737084" y="2139251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37084" y="21392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mark-3"/>
          <p:cNvSpPr/>
          <p:nvPr/>
        </p:nvSpPr>
        <p:spPr>
          <a:xfrm>
            <a:off x="7824406" y="2139251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24406" y="21392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mark-4"/>
          <p:cNvSpPr/>
          <p:nvPr/>
        </p:nvSpPr>
        <p:spPr>
          <a:xfrm>
            <a:off x="9874453" y="2139251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4453" y="21392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13" name="mark-5"/>
          <p:cNvSpPr/>
          <p:nvPr/>
        </p:nvSpPr>
        <p:spPr>
          <a:xfrm>
            <a:off x="10694473" y="2139251"/>
            <a:ext cx="292608" cy="292608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94473" y="21392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990114"/>
            <a:ext cx="1999427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6" name="card-mark"/>
          <p:cNvSpPr/>
          <p:nvPr/>
        </p:nvSpPr>
        <p:spPr>
          <a:xfrm>
            <a:off x="731520" y="517299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51729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5154706"/>
            <a:ext cx="1176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하위 PID</a:t>
            </a:r>
            <a:endParaRPr lang="ko-KR" alt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593618"/>
            <a:ext cx="16336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↳ 가 많을수록 깊이 호출된 PID</a:t>
            </a:r>
            <a:endParaRPr lang="ko-KR" alt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2822387" y="4990114"/>
            <a:ext cx="1999427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1" name="card-mark"/>
          <p:cNvSpPr/>
          <p:nvPr/>
        </p:nvSpPr>
        <p:spPr>
          <a:xfrm>
            <a:off x="3005267" y="517299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005267" y="51729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462467" y="5154706"/>
            <a:ext cx="1176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이름</a:t>
            </a:r>
            <a:endParaRPr lang="ko-KR" alt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005267" y="5593618"/>
            <a:ext cx="16336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PID 설명</a:t>
            </a:r>
            <a:endParaRPr lang="ko-KR" alt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096134" y="4990114"/>
            <a:ext cx="1999427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6" name="card-mark"/>
          <p:cNvSpPr/>
          <p:nvPr/>
        </p:nvSpPr>
        <p:spPr>
          <a:xfrm>
            <a:off x="5279014" y="517299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279014" y="51729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736214" y="5154706"/>
            <a:ext cx="1176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실행 버전</a:t>
            </a:r>
            <a:endParaRPr lang="ko-KR" alt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279014" y="5593618"/>
            <a:ext cx="16336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하위 PID 는 항상 최신 버전으로 실행</a:t>
            </a:r>
            <a:endParaRPr lang="ko-KR" alt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7369881" y="4990114"/>
            <a:ext cx="1999427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1" name="card-mark"/>
          <p:cNvSpPr/>
          <p:nvPr/>
        </p:nvSpPr>
        <p:spPr>
          <a:xfrm>
            <a:off x="7552761" y="517299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552761" y="51729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9961" y="5154706"/>
            <a:ext cx="1176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호출</a:t>
            </a:r>
            <a:endParaRPr lang="ko-KR" alt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7552761" y="5593618"/>
            <a:ext cx="16336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실행 중 CALL 된 횟수</a:t>
            </a:r>
            <a:endParaRPr lang="ko-KR" altLang="en-US" sz="1300" dirty="0"/>
          </a:p>
        </p:txBody>
      </p:sp>
      <p:sp>
        <p:nvSpPr>
          <p:cNvPr id="35" name="card"/>
          <p:cNvSpPr/>
          <p:nvPr/>
        </p:nvSpPr>
        <p:spPr>
          <a:xfrm>
            <a:off x="9643628" y="4990114"/>
            <a:ext cx="1999427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6" name="card-mark"/>
          <p:cNvSpPr/>
          <p:nvPr/>
        </p:nvSpPr>
        <p:spPr>
          <a:xfrm>
            <a:off x="9826508" y="517299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826508" y="51729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0283708" y="5154706"/>
            <a:ext cx="1176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깊이</a:t>
            </a:r>
            <a:endParaRPr lang="ko-KR" alt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9826508" y="5593618"/>
            <a:ext cx="16336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호출 단계. 실패하면 오른쪽에 오류 표시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그 밖의 탭 : 라인 상세 · 변수 · 변경 내역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57200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-LuScanSear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라인 상세</a:t>
            </a:r>
            <a:endParaRPr lang="ko-KR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라인별 결과에서 줄을 더블클릭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조건마다 그 시점 값 · CON 계산값 · 일치/불일치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이 라인으로 바뀐 값 (이전 → 이후)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CALL 라인이면 하위 PID 실행 직후 resultMap</a:t>
            </a:r>
            <a:endParaRPr lang="ko-KR" alt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57200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-LuVariab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58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9778" y="160020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변수</a:t>
            </a:r>
            <a:endParaRPr lang="ko-KR" alt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51460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지금 단계까지 실행했을 때의 값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노란색 = 이 단계에서 바뀐 값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감시할 키를 넣으면 맨 위에 고정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F10 으로 넘기며 값 변화 추적</a:t>
            </a:r>
            <a:endParaRPr lang="ko-KR" alt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57200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-LuFileDiff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37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9357" y="160020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변경 내역</a:t>
            </a:r>
            <a:endParaRPr lang="ko-KR" alt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51460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DB 원본 대비 고친 내용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라인 · 칸 · DB 원본 → 수정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추가 · 삭제 · 순서 변경 표시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PLM 에 옮겨 적을 때 참고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LuLightbul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94894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참고</a:t>
            </a:r>
            <a:endParaRPr lang="ko-KR" alt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800" dirty="0">
                <a:solidFill>
                  <a:srgbClr val="CBD5E1"/>
                </a:solidFill>
              </a:rPr>
              <a:t>단축키 · 활용 예 · 자주 묻는 질문</a:t>
            </a:r>
            <a:endParaRPr lang="ko-KR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357055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6000" b="1" dirty="0">
                <a:solidFill>
                  <a:srgbClr val="475569"/>
                </a:solidFill>
              </a:rPr>
              <a:t>04</a:t>
            </a:r>
            <a:endParaRPr lang="ko-KR" alt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단축키</a:t>
            </a:r>
            <a:endParaRPr lang="ko-KR" alt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18608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182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키 · 동작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Ctrl + Enter</a:t>
                      </a:r>
                      <a:endParaRPr lang="ko-KR" alt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실행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F10 / Shift + F10</a:t>
                      </a:r>
                      <a:endParaRPr lang="ko-KR" alt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다음 / 이전 단계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Ctrl + Z / Ctrl + Y</a:t>
                      </a:r>
                      <a:endParaRPr lang="ko-KR" alt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되돌리기 / 다시 실행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오른쪽 클릭 (편집 표)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라인 추가 · 복제 · 삭제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행 번호 끌기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라인 순서 변경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라인별 결과 더블클릭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라인 상세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1371600"/>
          <a:ext cx="5318608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182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키 · 동작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Ctrl + 휠 (편집 표 위)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편집 표 확대/축소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Ctrl + 휠 · + - 0 (디버그 패널)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결과 표 확대/축소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Esc</a:t>
                      </a:r>
                      <a:endParaRPr lang="ko-KR" alt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팝업 닫기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패널 경계선 더블클릭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패널 크게 ↔ 작게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▾ 접기 / ▴ 펼치기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패널 접기 / 펼치기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활용 예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LuGitCompa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조건 바꿔 보기</a:t>
            </a:r>
            <a:endParaRPr lang="ko-KR" altLang="en-US" sz="1800" dirty="0"/>
          </a:p>
        </p:txBody>
      </p:sp>
      <p:sp>
        <p:nvSpPr>
          <p:cNvPr id="7" name="num-1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1</a:t>
            </a:r>
            <a:endParaRPr lang="ko-KR" alt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56946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PID 불러오기 → 공사번호 → 실행 (실시간 실행 켬)</a:t>
            </a:r>
            <a:endParaRPr lang="ko-KR" altLang="en-US" sz="1400" dirty="0"/>
          </a:p>
        </p:txBody>
      </p:sp>
      <p:sp>
        <p:nvSpPr>
          <p:cNvPr id="10" name="num-2"/>
          <p:cNvSpPr/>
          <p:nvPr/>
        </p:nvSpPr>
        <p:spPr>
          <a:xfrm>
            <a:off x="822960" y="36118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2</a:t>
            </a:r>
            <a:endParaRPr lang="ko-KR" alt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57530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바꿀 CON 셀 수정 → 0.8초 뒤 자동 재실행</a:t>
            </a:r>
            <a:endParaRPr lang="ko-KR" altLang="en-US" sz="1400" dirty="0"/>
          </a:p>
        </p:txBody>
      </p:sp>
      <p:sp>
        <p:nvSpPr>
          <p:cNvPr id="13" name="num-3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3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58114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최종 OUTPUT 비교, TRUE/FALSE 가 바뀐 라인 확인</a:t>
            </a:r>
            <a:endParaRPr lang="ko-KR" alt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338218" y="137160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17" name="icon-circle"/>
          <p:cNvSpPr/>
          <p:nvPr/>
        </p:nvSpPr>
        <p:spPr>
          <a:xfrm>
            <a:off x="4612538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LuTarg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58" y="1805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89778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변수 추적하기</a:t>
            </a:r>
            <a:endParaRPr lang="ko-KR" altLang="en-US" sz="1800" dirty="0"/>
          </a:p>
        </p:txBody>
      </p:sp>
      <p:sp>
        <p:nvSpPr>
          <p:cNvPr id="20" name="num-1"/>
          <p:cNvSpPr/>
          <p:nvPr/>
        </p:nvSpPr>
        <p:spPr>
          <a:xfrm>
            <a:off x="4612538" y="260604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1253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1</a:t>
            </a:r>
            <a:endParaRPr lang="ko-KR" alt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161178" y="256946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변수 탭 → 감시할 키에 변수 입력</a:t>
            </a:r>
            <a:endParaRPr lang="ko-KR" altLang="en-US" sz="1400" dirty="0"/>
          </a:p>
        </p:txBody>
      </p:sp>
      <p:sp>
        <p:nvSpPr>
          <p:cNvPr id="23" name="num-2"/>
          <p:cNvSpPr/>
          <p:nvPr/>
        </p:nvSpPr>
        <p:spPr>
          <a:xfrm>
            <a:off x="4612538" y="36118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61253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2</a:t>
            </a:r>
            <a:endParaRPr lang="ko-KR" alt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161178" y="357530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|◀ 처음으로 → F10 으로 한 단계씩</a:t>
            </a:r>
            <a:endParaRPr lang="ko-KR" altLang="en-US" sz="1400" dirty="0"/>
          </a:p>
        </p:txBody>
      </p:sp>
      <p:sp>
        <p:nvSpPr>
          <p:cNvPr id="26" name="num-3"/>
          <p:cNvSpPr/>
          <p:nvPr/>
        </p:nvSpPr>
        <p:spPr>
          <a:xfrm>
            <a:off x="4612538" y="4617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612538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3</a:t>
            </a:r>
            <a:endParaRPr lang="ko-KR" alt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161178" y="458114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노란색으로 바뀐 단계에서 라인 상세로 확인</a:t>
            </a:r>
            <a:endParaRPr lang="ko-KR" alt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127797" y="137160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30" name="icon-circle"/>
          <p:cNvSpPr/>
          <p:nvPr/>
        </p:nvSpPr>
        <p:spPr>
          <a:xfrm>
            <a:off x="8402117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con-LuClipboar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37" y="180594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179357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수정안 반영하기</a:t>
            </a:r>
            <a:endParaRPr lang="ko-KR" altLang="en-US" sz="1800" dirty="0"/>
          </a:p>
        </p:txBody>
      </p:sp>
      <p:sp>
        <p:nvSpPr>
          <p:cNvPr id="33" name="num-1"/>
          <p:cNvSpPr/>
          <p:nvPr/>
        </p:nvSpPr>
        <p:spPr>
          <a:xfrm>
            <a:off x="8402117" y="260604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402117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1</a:t>
            </a:r>
            <a:endParaRPr lang="ko-KR" alt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950757" y="256946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변경 내역 탭 캡처, 또는 편집 표 복사(Ctrl+C) → 엑셀 정리</a:t>
            </a:r>
            <a:endParaRPr lang="ko-KR" altLang="en-US" sz="1400" dirty="0"/>
          </a:p>
        </p:txBody>
      </p:sp>
      <p:sp>
        <p:nvSpPr>
          <p:cNvPr id="36" name="num-2"/>
          <p:cNvSpPr/>
          <p:nvPr/>
        </p:nvSpPr>
        <p:spPr>
          <a:xfrm>
            <a:off x="8402117" y="36118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402117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2</a:t>
            </a:r>
            <a:endParaRPr lang="ko-KR" alt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950757" y="3575304"/>
            <a:ext cx="2463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PLM 에서 실제 PID 수정 · 등록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주의사항 · 자주 묻는 질문</a:t>
            </a:r>
            <a:endParaRPr lang="ko-KR" alt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6249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고친 내용이 DB 에 반영되나요?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아니요. 실행할 때만 사용됩니다. 실제 반영은 PLM 에서 해야 합니다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새로고침했더니 수정이 사라졌어요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수정 내용은 저장되지 않습니다. 남기려면 편집 표를 복사(Ctrl+C)해 엑셀에 보관하세요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하위 PID 를 고쳐서 실행하고 싶어요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CALL 하위 PID 는 항상 최신 DB 버전으로 실행. 하위 PID 를 따로 불러와 실행하세요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층 입력칸이 비활성이에요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층별 PID 가 아닌 경우입니다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JAVA PID 는 편집이 안 돼요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JAVA 방식은 라인이 없어 편집할 수 없고, 실행 결과만 볼 수 있습니다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상단에 주황 / 빨강 띠가 떠요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경고(주황) 또는 불러오기 · 실행 오류(빨강)입니다. 내용 확인 후 ✕ 로 닫습니다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"Handsontable 을 불러오지 못했습니다"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편집 표 라이브러리를 cdn.jsdelivr.net 에서 받습니다. 사내망 접근을 확인하세요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결과가 흐리게 보여요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실행 후 수정한 상태입니다. 다시 실행하거나 실시간 실행을 켜세요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1097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LuMessage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14450"/>
            <a:ext cx="434340" cy="4343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488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4800" b="1" dirty="0">
                <a:solidFill>
                  <a:schemeClr val="bg1"/>
                </a:solidFill>
              </a:rPr>
              <a:t>문의</a:t>
            </a:r>
            <a:endParaRPr lang="ko-KR" alt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474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dirty="0">
                <a:solidFill>
                  <a:srgbClr val="CBD5E1"/>
                </a:solidFill>
              </a:rPr>
              <a:t>화면 오류 · 실행 결과 이상 · 기능 개선 요청</a:t>
            </a:r>
            <a:endParaRPr lang="ko-KR" alt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</a:rPr>
              <a:t>수배로직설계팀 김영환 M</a:t>
            </a:r>
            <a:endParaRPr lang="ko-KR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D Playground">
  <a:themeElements>
    <a:clrScheme name="PID Playground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6A34A"/>
      </a:accent1>
      <a:accent2>
        <a:srgbClr val="2563EB"/>
      </a:accent2>
      <a:accent3>
        <a:srgbClr val="B91C1C"/>
      </a:accent3>
      <a:accent4>
        <a:srgbClr val="7C3AED"/>
      </a:accent4>
      <a:accent5>
        <a:srgbClr val="D97706"/>
      </a:accent5>
      <a:accent6>
        <a:srgbClr val="64748B"/>
      </a:accent6>
      <a:hlink>
        <a:srgbClr val="2563EB"/>
      </a:hlink>
      <a:folHlink>
        <a:srgbClr val="7C3AED"/>
      </a:folHlink>
    </a:clrScheme>
    <a:fontScheme name="PID Playgroun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플레이그라운드 화면 사용 매뉴얼</dc:title>
  <dc:subject>PID 플레이그라운드</dc:subject>
  <dc:creator>수배로직설계팀</dc:creator>
  <cp:lastModifiedBy>수배로직설계팀</cp:lastModifiedBy>
  <cp:revision>1</cp:revision>
  <dcterms:created xsi:type="dcterms:W3CDTF">2026-10-12T02:58:51Z</dcterms:created>
  <dcterms:modified xsi:type="dcterms:W3CDTF">2026-10-12T02:58:51Z</dcterms:modified>
</cp:coreProperties>
</file>