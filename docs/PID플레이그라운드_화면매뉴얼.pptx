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2" r:id="rId4"/>
  </p:sldMasterIdLst>
  <p:notesMasterIdLst>
    <p:notesMasterId r:id="rId15"/>
  </p:notesMasterIdLst>
  <p:sldIdLst>
    <p:sldId id="2147477341" r:id="rId5"/>
    <p:sldId id="2147477342" r:id="rIdPg2"/>
    <p:sldId id="2147477343" r:id="rIdPg3"/>
    <p:sldId id="2147477344" r:id="rIdPg4"/>
    <p:sldId id="2147477345" r:id="rIdPg5"/>
    <p:sldId id="2147477346" r:id="rIdPg6"/>
    <p:sldId id="2147477347" r:id="rIdPg7"/>
    <p:sldId id="2147477348" r:id="rIdPg8"/>
    <p:sldId id="2147477349" r:id="rIdPg9"/>
    <p:sldId id="2147477350" r:id="rIdPg10"/>
    <p:sldId id="2147477351" r:id="rIdPg11"/>
    <p:sldId id="2147477352" r:id="rIdPg12"/>
    <p:sldId id="2147477353" r:id="rIdPg13"/>
    <p:sldId id="2147477354" r:id="rIdPg14"/>
    <p:sldId id="2147477355" r:id="rIdPg15"/>
    <p:sldId id="2147477356" r:id="rIdPg16"/>
    <p:sldId id="2147477357" r:id="rIdPg17"/>
    <p:sldId id="2147477358" r:id="rIdPg18"/>
    <p:sldId id="2147477359" r:id="rIdPg19"/>
    <p:sldId id="2147477360" r:id="rIdPg20"/>
    <p:sldId id="2147477361" r:id="rIdPg21"/>
  </p:sldIdLst>
  <p:sldSz cx="10691813" cy="7559675"/>
  <p:notesSz cx="6858000" cy="9144000"/>
  <p:embeddedFontLst>
    <p:embeddedFont>
      <p:font typeface="네오현대 B" panose="02020800000000000000" pitchFamily="18" charset="-127"/>
      <p:bold r:id="rId16"/>
    </p:embeddedFont>
    <p:embeddedFont>
      <p:font typeface="네오현대 EB" panose="02020800000000000000" pitchFamily="18" charset="-127"/>
      <p:bold r:id="rId17"/>
    </p:embeddedFont>
    <p:embeddedFont>
      <p:font typeface="네오현대 EBK" panose="02020B00000000000000" pitchFamily="18" charset="-12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8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orient="horz" pos="3719" userDrawn="1">
          <p15:clr>
            <a:srgbClr val="A4A3A4"/>
          </p15:clr>
        </p15:guide>
        <p15:guide id="4" pos="306" userDrawn="1">
          <p15:clr>
            <a:srgbClr val="A4A3A4"/>
          </p15:clr>
        </p15:guide>
        <p15:guide id="5" pos="64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637"/>
    <a:srgbClr val="229345"/>
    <a:srgbClr val="F0F0F0"/>
    <a:srgbClr val="18873E"/>
    <a:srgbClr val="FFFFFF"/>
    <a:srgbClr val="174489"/>
    <a:srgbClr val="1E1DB0"/>
    <a:srgbClr val="1F1AA2"/>
    <a:srgbClr val="1513A2"/>
    <a:srgbClr val="1E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700"/>
  </p:normalViewPr>
  <p:slideViewPr>
    <p:cSldViewPr snapToGrid="0">
      <p:cViewPr varScale="1">
        <p:scale>
          <a:sx n="95" d="100"/>
          <a:sy n="95" d="100"/>
        </p:scale>
        <p:origin x="1728" y="90"/>
      </p:cViewPr>
      <p:guideLst>
        <p:guide orient="horz" pos="2358"/>
        <p:guide pos="3368"/>
        <p:guide orient="horz" pos="3719"/>
        <p:guide pos="306"/>
        <p:guide pos="64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22" Type="http://schemas.openxmlformats.org/officeDocument/2006/relationships/viewProps" Target="viewProps.xml"/><Relationship Id="rIdPg2" Type="http://schemas.openxmlformats.org/officeDocument/2006/relationships/slide" Target="slides/slide2.xml"/><Relationship Id="rIdPg3" Type="http://schemas.openxmlformats.org/officeDocument/2006/relationships/slide" Target="slides/slide3.xml"/><Relationship Id="rIdPg4" Type="http://schemas.openxmlformats.org/officeDocument/2006/relationships/slide" Target="slides/slide4.xml"/><Relationship Id="rIdPg5" Type="http://schemas.openxmlformats.org/officeDocument/2006/relationships/slide" Target="slides/slide5.xml"/><Relationship Id="rIdPg6" Type="http://schemas.openxmlformats.org/officeDocument/2006/relationships/slide" Target="slides/slide6.xml"/><Relationship Id="rIdPg7" Type="http://schemas.openxmlformats.org/officeDocument/2006/relationships/slide" Target="slides/slide7.xml"/><Relationship Id="rIdPg8" Type="http://schemas.openxmlformats.org/officeDocument/2006/relationships/slide" Target="slides/slide8.xml"/><Relationship Id="rIdPg9" Type="http://schemas.openxmlformats.org/officeDocument/2006/relationships/slide" Target="slides/slide9.xml"/><Relationship Id="rIdPg10" Type="http://schemas.openxmlformats.org/officeDocument/2006/relationships/slide" Target="slides/slide10.xml"/><Relationship Id="rIdPg11" Type="http://schemas.openxmlformats.org/officeDocument/2006/relationships/slide" Target="slides/slide11.xml"/><Relationship Id="rIdPg12" Type="http://schemas.openxmlformats.org/officeDocument/2006/relationships/slide" Target="slides/slide12.xml"/><Relationship Id="rIdPg13" Type="http://schemas.openxmlformats.org/officeDocument/2006/relationships/slide" Target="slides/slide13.xml"/><Relationship Id="rIdPg14" Type="http://schemas.openxmlformats.org/officeDocument/2006/relationships/slide" Target="slides/slide14.xml"/><Relationship Id="rIdPg15" Type="http://schemas.openxmlformats.org/officeDocument/2006/relationships/slide" Target="slides/slide15.xml"/><Relationship Id="rIdPg16" Type="http://schemas.openxmlformats.org/officeDocument/2006/relationships/slide" Target="slides/slide16.xml"/><Relationship Id="rIdPg17" Type="http://schemas.openxmlformats.org/officeDocument/2006/relationships/slide" Target="slides/slide17.xml"/><Relationship Id="rIdPg18" Type="http://schemas.openxmlformats.org/officeDocument/2006/relationships/slide" Target="slides/slide18.xml"/><Relationship Id="rIdPg19" Type="http://schemas.openxmlformats.org/officeDocument/2006/relationships/slide" Target="slides/slide19.xml"/><Relationship Id="rIdPg20" Type="http://schemas.openxmlformats.org/officeDocument/2006/relationships/slide" Target="slides/slide20.xml"/><Relationship Id="rIdPg21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A1A7-176A-488C-B5B5-6CE126BA5940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79968-698D-4727-96AF-752305FF7F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437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454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369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691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892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416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645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399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01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331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893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181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68A5AEE-42E1-7A9F-8583-A03CD7E75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9537" r="8007" b="17438"/>
          <a:stretch>
            <a:fillRect/>
          </a:stretch>
        </p:blipFill>
        <p:spPr>
          <a:xfrm>
            <a:off x="4545585" y="4257354"/>
            <a:ext cx="6146229" cy="2804107"/>
          </a:xfrm>
          <a:prstGeom prst="rect">
            <a:avLst/>
          </a:prstGeom>
          <a:gradFill>
            <a:gsLst>
              <a:gs pos="50000">
                <a:srgbClr val="1D7D3B"/>
              </a:gs>
              <a:gs pos="100000">
                <a:srgbClr val="1D7D3B">
                  <a:alpha val="0"/>
                </a:srgbClr>
              </a:gs>
            </a:gsLst>
            <a:lin ang="0" scaled="1"/>
          </a:gradFill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1F973A8-E86B-438F-6A03-8EA236F60A50}"/>
              </a:ext>
            </a:extLst>
          </p:cNvPr>
          <p:cNvSpPr/>
          <p:nvPr userDrawn="1"/>
        </p:nvSpPr>
        <p:spPr>
          <a:xfrm>
            <a:off x="0" y="4257354"/>
            <a:ext cx="8265594" cy="2804107"/>
          </a:xfrm>
          <a:prstGeom prst="rect">
            <a:avLst/>
          </a:prstGeom>
          <a:gradFill flip="none" rotWithShape="1">
            <a:gsLst>
              <a:gs pos="55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8735293-E4B2-7CDA-4284-4614235B7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47197" y="272667"/>
            <a:ext cx="2100057" cy="246547"/>
          </a:xfrm>
          <a:prstGeom prst="rect">
            <a:avLst/>
          </a:prstGeom>
        </p:spPr>
      </p:pic>
      <p:sp>
        <p:nvSpPr>
          <p:cNvPr id="17" name="제목 16">
            <a:extLst>
              <a:ext uri="{FF2B5EF4-FFF2-40B4-BE49-F238E27FC236}">
                <a16:creationId xmlns:a16="http://schemas.microsoft.com/office/drawing/2014/main" id="{33CC0261-E8FF-09C2-0A4D-5F832695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2343344"/>
            <a:ext cx="9729787" cy="717569"/>
          </a:xfrm>
          <a:noFill/>
        </p:spPr>
        <p:txBody>
          <a:bodyPr wrap="square" lIns="72000" tIns="0" rIns="0" bIns="0" rtlCol="0">
            <a:spAutoFit/>
          </a:bodyPr>
          <a:lstStyle>
            <a:lvl1pPr algn="l">
              <a:defRPr lang="ko-KR" altLang="en-US" sz="5181" dirty="0">
                <a:solidFill>
                  <a:schemeClr val="accent6"/>
                </a:solidFill>
                <a:latin typeface="네오현대 EBK" panose="02020B00000000000000" pitchFamily="18" charset="-127"/>
                <a:ea typeface="네오현대 EBK" panose="02020B00000000000000" pitchFamily="18" charset="-127"/>
                <a:cs typeface="+mn-cs"/>
              </a:defRPr>
            </a:lvl1pPr>
          </a:lstStyle>
          <a:p>
            <a:pPr marL="0" lvl="0" defTabSz="447663" latinLnBrk="0"/>
            <a:r>
              <a:rPr lang="ko-KR" altLang="en-US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4CD2F73-4022-C198-CD3E-1C7A48CAB61A}"/>
              </a:ext>
            </a:extLst>
          </p:cNvPr>
          <p:cNvGrpSpPr/>
          <p:nvPr userDrawn="1"/>
        </p:nvGrpSpPr>
        <p:grpSpPr>
          <a:xfrm>
            <a:off x="481014" y="4555585"/>
            <a:ext cx="6245487" cy="2175322"/>
            <a:chOff x="844851" y="4586413"/>
            <a:chExt cx="5210509" cy="21753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6CDCFD-4285-09BB-30C6-2A2E9B7B5104}"/>
                </a:ext>
              </a:extLst>
            </p:cNvPr>
            <p:cNvSpPr txBox="1"/>
            <p:nvPr/>
          </p:nvSpPr>
          <p:spPr>
            <a:xfrm>
              <a:off x="844851" y="4586413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┓┴┛┗┘┻┠└┃┿├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3A7222-979B-41BE-2431-D5B42741ACD0}"/>
                </a:ext>
              </a:extLst>
            </p:cNvPr>
            <p:cNvSpPr txBox="1"/>
            <p:nvPr/>
          </p:nvSpPr>
          <p:spPr>
            <a:xfrm>
              <a:off x="844851" y="5428622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┣┬━┨─┒┷┸┼┑┤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CDBC81-7363-8415-E21F-73A29DC5CD79}"/>
                </a:ext>
              </a:extLst>
            </p:cNvPr>
            <p:cNvSpPr txBox="1"/>
            <p:nvPr/>
          </p:nvSpPr>
          <p:spPr>
            <a:xfrm>
              <a:off x="844851" y="6270832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┫╋┳┝┰┥┯╂┏┬┴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0246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CEAE3BD-EF29-D6DD-5EB7-D8E6E2DC325D}"/>
              </a:ext>
            </a:extLst>
          </p:cNvPr>
          <p:cNvSpPr/>
          <p:nvPr userDrawn="1"/>
        </p:nvSpPr>
        <p:spPr>
          <a:xfrm>
            <a:off x="0" y="203362"/>
            <a:ext cx="10691813" cy="3968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1B6F2F65-A2FD-96DF-2B5D-B5AA7B26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90" y="235995"/>
            <a:ext cx="4924266" cy="331566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727">
                <a:solidFill>
                  <a:schemeClr val="bg1"/>
                </a:solidFill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defRPr>
            </a:lvl1pPr>
          </a:lstStyle>
          <a:p>
            <a:pPr marL="0" lvl="0" defTabSz="447663" latinLnBrk="0"/>
            <a:r>
              <a:rPr lang="ko-KR" altLang="en-US"/>
              <a:t>마스터 제목 스타일 편집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80B8D52-AF5C-2F5C-9DE8-AA95CD3FA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923" y="248357"/>
            <a:ext cx="1698928" cy="30684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FEE8C81-1A8F-3DE0-26B7-AD0E1F5FBF00}"/>
              </a:ext>
            </a:extLst>
          </p:cNvPr>
          <p:cNvSpPr/>
          <p:nvPr userDrawn="1"/>
        </p:nvSpPr>
        <p:spPr>
          <a:xfrm>
            <a:off x="0" y="7242208"/>
            <a:ext cx="10691813" cy="317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7AA6E92-AE67-E6E6-0449-53D54C102880}"/>
              </a:ext>
            </a:extLst>
          </p:cNvPr>
          <p:cNvCxnSpPr>
            <a:cxnSpLocks/>
          </p:cNvCxnSpPr>
          <p:nvPr userDrawn="1"/>
        </p:nvCxnSpPr>
        <p:spPr>
          <a:xfrm>
            <a:off x="0" y="7242208"/>
            <a:ext cx="106918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12C593D7-08C4-E83E-99B4-4ACBF72C6F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390" y="7347245"/>
            <a:ext cx="2620885" cy="1073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75D9B39-84B3-7867-1853-AC5177A6434A}"/>
              </a:ext>
            </a:extLst>
          </p:cNvPr>
          <p:cNvSpPr/>
          <p:nvPr userDrawn="1"/>
        </p:nvSpPr>
        <p:spPr>
          <a:xfrm>
            <a:off x="155825" y="203362"/>
            <a:ext cx="124565" cy="396833"/>
          </a:xfrm>
          <a:prstGeom prst="rect">
            <a:avLst/>
          </a:prstGeom>
          <a:solidFill>
            <a:srgbClr val="1660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E1047AD-19D0-A83E-8F82-1EA0B0D21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37624" y="7242208"/>
            <a:ext cx="621227" cy="317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ko-KR" altLang="en-US" sz="97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fld id="{03E6EF8B-9C45-4EE7-88BB-BB1F036E7359}" type="slidenum">
              <a:rPr lang="en-US" altLang="ko-KR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6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047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.pn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2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3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4.png"/><Relationship Id="rId2" Type="http://schemas.openxmlformats.org/officeDocument/2006/relationships/image" Target="../media/pg_image5.png"/><Relationship Id="rId3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6.pn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7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8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9.pn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0.pn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1.pn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2.pn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3.png"/><Relationship Id="rId2" Type="http://schemas.openxmlformats.org/officeDocument/2006/relationships/image" Target="../media/pg_image14.png"/><Relationship Id="rId3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5.png"/><Relationship Id="rId2" Type="http://schemas.openxmlformats.org/officeDocument/2006/relationships/image" Target="../media/pg_image16.png"/><Relationship Id="rId3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7.png"/><Relationship Id="rId2" Type="http://schemas.openxmlformats.org/officeDocument/2006/relationships/image" Target="../media/pg_image18.png"/><Relationship Id="rId3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19.png"/><Relationship Id="rId2" Type="http://schemas.openxmlformats.org/officeDocument/2006/relationships/image" Target="../media/pg_image20.png"/><Relationship Id="rId3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21.png"/><Relationship Id="rId2" Type="http://schemas.openxmlformats.org/officeDocument/2006/relationships/image" Target="../media/pg_image22.png"/><Relationship Id="rId3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23.png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24.png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25.png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pg_image26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6924BB-BADD-5B7C-7903-7710B87ED826}"/>
              </a:ext>
            </a:extLst>
          </p:cNvPr>
          <p:cNvSpPr txBox="1"/>
          <p:nvPr/>
        </p:nvSpPr>
        <p:spPr>
          <a:xfrm>
            <a:off x="655466" y="3453657"/>
            <a:ext cx="2058577" cy="581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네오현대 B" panose="02020800000000000000" pitchFamily="18" charset="-127"/>
                <a:ea typeface="네오현대 B" panose="02020800000000000000" pitchFamily="18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11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수배로직설계팀</a:t>
            </a:r>
            <a:r>
              <a:rPr kumimoji="0" lang="ko-KR" altLang="en-US" sz="1511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 김영환</a:t>
            </a:r>
            <a:endParaRPr kumimoji="0" lang="en-US" altLang="ko-KR" sz="1511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네오현대 B" panose="02020800000000000000" pitchFamily="18" charset="-127"/>
              <a:ea typeface="네오현대 B" panose="02020800000000000000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11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2026.10.12</a:t>
            </a:r>
            <a:endParaRPr kumimoji="0" lang="ko-KR" altLang="en-US" sz="1511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네오현대 B" panose="02020800000000000000" pitchFamily="18" charset="-127"/>
              <a:ea typeface="네오현대 B" panose="02020800000000000000" pitchFamily="18" charset="-127"/>
              <a:cs typeface="+mn-cs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94DA535B-9824-94AE-EE93-B5652B10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6" y="1563809"/>
            <a:ext cx="9526880" cy="11387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3400" dirty="0" err="1">
                <a:solidFill>
                  <a:schemeClr val="tx1"/>
                </a:solidFill>
              </a:rPr>
              <a:t>PID 플레이그라운드</a:t>
            </a:r>
            <a:r>
              <a:rPr lang="ko-KR" altLang="en-US" sz="3400" dirty="0">
                <a:solidFill>
                  <a:schemeClr val="tx1"/>
                </a:solidFill>
              </a:rPr>
              <a:t> 화면 사용 매뉴얼</a:t>
            </a:r>
            <a:br>
              <a:rPr lang="en-US" altLang="ko-KR" sz="3400" dirty="0"/>
            </a:br>
            <a:br>
              <a:rPr lang="en-US" altLang="ko-KR" sz="2000" dirty="0"/>
            </a:br>
            <a:r>
              <a:rPr lang="en-US" altLang="ko-KR" sz="2000" dirty="0"/>
              <a:t>DB 저장 없이 PID 로직을 고쳐서 바로 실행</a:t>
            </a:r>
            <a:r>
              <a:rPr lang="ko-KR" altLang="en-US" sz="2000" dirty="0"/>
              <a:t/>
            </a:r>
            <a:r>
              <a:rPr lang="en-US" altLang="ko-KR" sz="2000" dirty="0"/>
              <a:t/>
            </a:r>
            <a:r>
              <a:rPr lang="ko-KR" altLang="en-US" sz="2000" dirty="0"/>
              <a:t/>
            </a: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59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Contents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ocNum"/>
          <p:cNvSpPr/>
          <p:nvPr/>
        </p:nvSpPr>
        <p:spPr>
          <a:xfrm>
            <a:off x="603504" y="1828800"/>
            <a:ext cx="402336" cy="338328"/>
          </a:xfrm>
          <a:prstGeom prst="roundRect">
            <a:avLst>
              <a:gd name="adj" fmla="val 16216"/>
            </a:avLst>
          </a:prstGeom>
          <a:solidFill>
            <a:srgbClr val="2293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3504" y="1828800"/>
            <a:ext cx="402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01</a:t>
            </a:r>
            <a:endParaRPr lang="ko-KR" alt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8470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개요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184708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한눈에 보기 · 화면 구성 · 기본 사용 순서</a:t>
            </a:r>
            <a:endParaRPr lang="ko-KR" altLang="en-US" sz="1100" dirty="0"/>
          </a:p>
        </p:txBody>
      </p:sp>
      <p:sp>
        <p:nvSpPr>
          <p:cNvPr id="10" name="TocLine"/>
          <p:cNvSpPr/>
          <p:nvPr/>
        </p:nvSpPr>
        <p:spPr>
          <a:xfrm>
            <a:off x="603504" y="2267712"/>
            <a:ext cx="8869680" cy="0"/>
          </a:xfrm>
          <a:prstGeom prst="line">
            <a:avLst/>
          </a:prstGeom>
          <a:noFill/>
          <a:ln w="9525">
            <a:solidFill>
              <a:srgbClr val="E4E8EA"/>
            </a:solidFill>
            <a:prstDash val="solid"/>
          </a:ln>
        </p:spPr>
      </p:sp>
      <p:sp>
        <p:nvSpPr>
          <p:cNvPr id="11" name="TocNum"/>
          <p:cNvSpPr/>
          <p:nvPr/>
        </p:nvSpPr>
        <p:spPr>
          <a:xfrm>
            <a:off x="603504" y="2514600"/>
            <a:ext cx="402336" cy="338328"/>
          </a:xfrm>
          <a:prstGeom prst="roundRect">
            <a:avLst>
              <a:gd name="adj" fmla="val 16216"/>
            </a:avLst>
          </a:prstGeom>
          <a:solidFill>
            <a:srgbClr val="2293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" y="2514600"/>
            <a:ext cx="402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02</a:t>
            </a:r>
            <a:endParaRPr lang="ko-KR" alt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5328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불러오기 · 실행</a:t>
            </a:r>
            <a:endParaRPr lang="ko-KR" alt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53288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불러오기 · 실행 대상 · 실시간 실행 · 주소 공유</a:t>
            </a:r>
            <a:endParaRPr lang="ko-KR" altLang="en-US" sz="1100" dirty="0"/>
          </a:p>
        </p:txBody>
      </p:sp>
      <p:sp>
        <p:nvSpPr>
          <p:cNvPr id="15" name="TocLine"/>
          <p:cNvSpPr/>
          <p:nvPr/>
        </p:nvSpPr>
        <p:spPr>
          <a:xfrm>
            <a:off x="603504" y="2953512"/>
            <a:ext cx="8869680" cy="0"/>
          </a:xfrm>
          <a:prstGeom prst="line">
            <a:avLst/>
          </a:prstGeom>
          <a:noFill/>
          <a:ln w="9525">
            <a:solidFill>
              <a:srgbClr val="E4E8EA"/>
            </a:solidFill>
            <a:prstDash val="solid"/>
          </a:ln>
        </p:spPr>
      </p:sp>
      <p:sp>
        <p:nvSpPr>
          <p:cNvPr id="16" name="TocNum"/>
          <p:cNvSpPr/>
          <p:nvPr/>
        </p:nvSpPr>
        <p:spPr>
          <a:xfrm>
            <a:off x="603504" y="3200400"/>
            <a:ext cx="402336" cy="338328"/>
          </a:xfrm>
          <a:prstGeom prst="roundRect">
            <a:avLst>
              <a:gd name="adj" fmla="val 16216"/>
            </a:avLst>
          </a:prstGeom>
          <a:solidFill>
            <a:srgbClr val="2293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3504" y="3200400"/>
            <a:ext cx="402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03</a:t>
            </a:r>
            <a:endParaRPr lang="ko-KR" alt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2186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 표</a:t>
            </a:r>
            <a:endParaRPr lang="ko-KR" alt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321868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컬럼 · 편집 방법 · 색 읽는 법 · 편집 도구 줄</a:t>
            </a:r>
            <a:endParaRPr lang="ko-KR" altLang="en-US" sz="1100" dirty="0"/>
          </a:p>
        </p:txBody>
      </p:sp>
      <p:sp>
        <p:nvSpPr>
          <p:cNvPr id="20" name="TocLine"/>
          <p:cNvSpPr/>
          <p:nvPr/>
        </p:nvSpPr>
        <p:spPr>
          <a:xfrm>
            <a:off x="603504" y="3639312"/>
            <a:ext cx="8869680" cy="0"/>
          </a:xfrm>
          <a:prstGeom prst="line">
            <a:avLst/>
          </a:prstGeom>
          <a:noFill/>
          <a:ln w="9525">
            <a:solidFill>
              <a:srgbClr val="E4E8EA"/>
            </a:solidFill>
            <a:prstDash val="solid"/>
          </a:ln>
        </p:spPr>
      </p:sp>
      <p:sp>
        <p:nvSpPr>
          <p:cNvPr id="21" name="TocNum"/>
          <p:cNvSpPr/>
          <p:nvPr/>
        </p:nvSpPr>
        <p:spPr>
          <a:xfrm>
            <a:off x="603504" y="3886200"/>
            <a:ext cx="402336" cy="338328"/>
          </a:xfrm>
          <a:prstGeom prst="roundRect">
            <a:avLst>
              <a:gd name="adj" fmla="val 16216"/>
            </a:avLst>
          </a:prstGeom>
          <a:solidFill>
            <a:srgbClr val="22934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03504" y="3886200"/>
            <a:ext cx="402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04</a:t>
            </a:r>
            <a:endParaRPr lang="ko-KR" alt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9044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디버그 패널</a:t>
            </a:r>
            <a:endParaRPr lang="ko-KR" alt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390448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메인 화면 · 라인별 결과 · 최종 OUTPUT · 영업사양 · 하위 PID</a:t>
            </a:r>
            <a:endParaRPr lang="ko-KR" altLang="en-US" sz="1100" dirty="0"/>
          </a:p>
        </p:txBody>
      </p:sp>
      <p:sp>
        <p:nvSpPr>
          <p:cNvPr id="25" name="TocLine"/>
          <p:cNvSpPr/>
          <p:nvPr/>
        </p:nvSpPr>
        <p:spPr>
          <a:xfrm>
            <a:off x="603504" y="4325112"/>
            <a:ext cx="8869680" cy="0"/>
          </a:xfrm>
          <a:prstGeom prst="line">
            <a:avLst/>
          </a:prstGeom>
          <a:noFill/>
          <a:ln w="9525">
            <a:solidFill>
              <a:srgbClr val="E4E8EA"/>
            </a:solidFill>
            <a:prstDash val="solid"/>
          </a:ln>
        </p:spPr>
      </p:sp>
      <p:sp>
        <p:nvSpPr>
          <p:cNvPr id="26" name="TocNum"/>
          <p:cNvSpPr/>
          <p:nvPr/>
        </p:nvSpPr>
        <p:spPr>
          <a:xfrm>
            <a:off x="603504" y="4572000"/>
            <a:ext cx="402336" cy="338328"/>
          </a:xfrm>
          <a:prstGeom prst="roundRect">
            <a:avLst>
              <a:gd name="adj" fmla="val 16216"/>
            </a:avLst>
          </a:prstGeom>
          <a:solidFill>
            <a:srgbClr val="22934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3504" y="4572000"/>
            <a:ext cx="402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05</a:t>
            </a:r>
            <a:endParaRPr lang="ko-KR" alt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45902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참고</a:t>
            </a:r>
            <a:endParaRPr lang="ko-KR" alt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3520440" y="459028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단축키 · 활용 예 · 주의사항 · FAQ</a:t>
            </a:r>
            <a:endParaRPr lang="ko-KR" altLang="en-US" sz="1100" dirty="0"/>
          </a:p>
        </p:txBody>
      </p:sp>
      <p:sp>
        <p:nvSpPr>
          <p:cNvPr id="30" name="TocLine"/>
          <p:cNvSpPr/>
          <p:nvPr/>
        </p:nvSpPr>
        <p:spPr>
          <a:xfrm>
            <a:off x="603504" y="5010912"/>
            <a:ext cx="8869680" cy="0"/>
          </a:xfrm>
          <a:prstGeom prst="line">
            <a:avLst/>
          </a:prstGeom>
          <a:noFill/>
          <a:ln w="9525">
            <a:solidFill>
              <a:srgbClr val="E4E8E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1. 개요 — 한눈에 보기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로직을 불러와 표에서 직접 고친 뒤, DB 에 저장하지 않고 바로 실행해 보는 화면입니다.</a:t>
            </a:r>
            <a:endParaRPr lang="ko-KR" altLang="en-US" sz="1250" dirty="0"/>
          </a:p>
        </p:txBody>
      </p:sp>
      <p:sp>
        <p:nvSpPr>
          <p:cNvPr id="7" name="SectionPill"/>
          <p:cNvSpPr/>
          <p:nvPr/>
        </p:nvSpPr>
        <p:spPr>
          <a:xfrm>
            <a:off x="484632" y="150876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주요 기능</a:t>
            </a:r>
            <a:endParaRPr lang="ko-KR" altLang="en-US" sz="1200" dirty="0"/>
          </a:p>
        </p:txBody>
      </p:sp>
      <p:sp>
        <p:nvSpPr>
          <p:cNvPr id="9" name="BoxHead"/>
          <p:cNvSpPr/>
          <p:nvPr/>
        </p:nvSpPr>
        <p:spPr>
          <a:xfrm>
            <a:off x="484632" y="1965960"/>
            <a:ext cx="2295144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" y="19659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</a:t>
            </a:r>
            <a:endParaRPr lang="ko-KR" altLang="en-US" sz="1250" dirty="0"/>
          </a:p>
        </p:txBody>
      </p:sp>
      <p:sp>
        <p:nvSpPr>
          <p:cNvPr id="11" name="BoxBody"/>
          <p:cNvSpPr/>
          <p:nvPr/>
        </p:nvSpPr>
        <p:spPr>
          <a:xfrm>
            <a:off x="484632" y="2350008"/>
            <a:ext cx="2295144" cy="25420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" y="2514600"/>
            <a:ext cx="1965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엑셀처럼 셀 수정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라인 추가 · 복제 · 삭제 · 순서 변경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수정한 칸은 표시되고 DB 원본 값 확인 가능</a:t>
            </a:r>
            <a:endParaRPr lang="ko-KR" altLang="en-US" sz="1250" dirty="0"/>
          </a:p>
        </p:txBody>
      </p:sp>
      <p:sp>
        <p:nvSpPr>
          <p:cNvPr id="13" name="BoxHead"/>
          <p:cNvSpPr/>
          <p:nvPr/>
        </p:nvSpPr>
        <p:spPr>
          <a:xfrm>
            <a:off x="2962656" y="1965960"/>
            <a:ext cx="2295144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62656" y="19659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실행</a:t>
            </a:r>
            <a:endParaRPr lang="ko-KR" altLang="en-US" sz="1250" dirty="0"/>
          </a:p>
        </p:txBody>
      </p:sp>
      <p:sp>
        <p:nvSpPr>
          <p:cNvPr id="15" name="BoxBody"/>
          <p:cNvSpPr/>
          <p:nvPr/>
        </p:nvSpPr>
        <p:spPr>
          <a:xfrm>
            <a:off x="2962656" y="2350008"/>
            <a:ext cx="2295144" cy="25420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127248" y="2514600"/>
            <a:ext cx="1965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공사번호를 넣고 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라인마다 TRUE / FALSE / 미실행과 그 시점 값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실시간 실행 : 고칠 때마다 자동 재실행</a:t>
            </a:r>
            <a:endParaRPr lang="ko-KR" altLang="en-US" sz="1250" dirty="0"/>
          </a:p>
        </p:txBody>
      </p:sp>
      <p:sp>
        <p:nvSpPr>
          <p:cNvPr id="17" name="BoxHead"/>
          <p:cNvSpPr/>
          <p:nvPr/>
        </p:nvSpPr>
        <p:spPr>
          <a:xfrm>
            <a:off x="5440680" y="1965960"/>
            <a:ext cx="2295144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40680" y="19659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추적</a:t>
            </a:r>
            <a:endParaRPr lang="ko-KR" altLang="en-US" sz="1250" dirty="0"/>
          </a:p>
        </p:txBody>
      </p:sp>
      <p:sp>
        <p:nvSpPr>
          <p:cNvPr id="19" name="BoxBody"/>
          <p:cNvSpPr/>
          <p:nvPr/>
        </p:nvSpPr>
        <p:spPr>
          <a:xfrm>
            <a:off x="5440680" y="2350008"/>
            <a:ext cx="2295144" cy="25420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05272" y="2514600"/>
            <a:ext cx="1965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디버거처럼 한 단계씩 이동 (F10)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변수(resultMap)가 어디서 바뀌는지 확인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하위 PID 호출 횟수 · 깊이 추적</a:t>
            </a:r>
            <a:endParaRPr lang="ko-KR" altLang="en-US" sz="1250" dirty="0"/>
          </a:p>
        </p:txBody>
      </p:sp>
      <p:sp>
        <p:nvSpPr>
          <p:cNvPr id="21" name="BoxHead"/>
          <p:cNvSpPr/>
          <p:nvPr/>
        </p:nvSpPr>
        <p:spPr>
          <a:xfrm>
            <a:off x="7918704" y="1965960"/>
            <a:ext cx="2295144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918704" y="19659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정리</a:t>
            </a:r>
            <a:endParaRPr lang="ko-KR" altLang="en-US" sz="1250" dirty="0"/>
          </a:p>
        </p:txBody>
      </p:sp>
      <p:sp>
        <p:nvSpPr>
          <p:cNvPr id="23" name="BoxBody"/>
          <p:cNvSpPr/>
          <p:nvPr/>
        </p:nvSpPr>
        <p:spPr>
          <a:xfrm>
            <a:off x="7918704" y="2350008"/>
            <a:ext cx="2295144" cy="25420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83296" y="2514600"/>
            <a:ext cx="1965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변경 내역 탭에 DB 원본 → 수정 정리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PLM 에 옮겨 적을 때 참고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실제 반영은 PLM 에서</a:t>
            </a:r>
            <a:endParaRPr lang="ko-KR" altLang="en-US" sz="1250" dirty="0"/>
          </a:p>
        </p:txBody>
      </p:sp>
      <p:sp>
        <p:nvSpPr>
          <p:cNvPr id="25" name="OutlineBox"/>
          <p:cNvSpPr/>
          <p:nvPr/>
        </p:nvSpPr>
        <p:spPr>
          <a:xfrm>
            <a:off x="484632" y="5120640"/>
            <a:ext cx="972921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2293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8952" y="5303520"/>
            <a:ext cx="9180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DB 를 건드리지 않습니다</a:t>
            </a:r>
            <a:endParaRPr lang="ko-KR" alt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" y="5687568"/>
            <a:ext cx="9180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수정한 로직은 이 화면에서 실행할 때만 사용되며 DB 에는 저장되지 않습니다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새로고침하거나 다른 PID 를 불러오면 수정 내용은 사라집니다 (떠나기 전 확인 창이 뜸)</a:t>
            </a:r>
            <a:endParaRPr lang="ko-KR" altLang="en-US" sz="1250" dirty="0"/>
          </a:p>
        </p:txBody>
      </p:sp>
      <p:sp>
        <p:nvSpPr>
          <p:cNvPr id="28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"이렇게 고치면 결과가 어떻게 바뀌는가" 를 PLM 수정 · 등록 전에 미리 확인하는 화면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1. 개요 — 언제 어떤 화면을 쓰나요?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두 화면 모두 PID 를 실행해 라인별 결과를 보여주지만, 쓰는 목적이 다릅니다.</a:t>
            </a:r>
            <a:endParaRPr lang="ko-KR" altLang="en-US" sz="1250" dirty="0"/>
          </a:p>
        </p:txBody>
      </p:sp>
      <p:sp>
        <p:nvSpPr>
          <p:cNvPr id="7" name="BoxHead"/>
          <p:cNvSpPr/>
          <p:nvPr/>
        </p:nvSpPr>
        <p:spPr>
          <a:xfrm>
            <a:off x="484632" y="1508760"/>
            <a:ext cx="4690872" cy="384048"/>
          </a:xfrm>
          <a:prstGeom prst="roundRect">
            <a:avLst>
              <a:gd name="adj" fmla="val 9524"/>
            </a:avLst>
          </a:prstGeom>
          <a:solidFill>
            <a:srgbClr val="8A92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PID 실행 시뮬레이터  (/pid/pidSimulView)</a:t>
            </a:r>
            <a:endParaRPr lang="ko-KR" altLang="en-US" sz="1250" dirty="0"/>
          </a:p>
        </p:txBody>
      </p:sp>
      <p:sp>
        <p:nvSpPr>
          <p:cNvPr id="9" name="BoxBody"/>
          <p:cNvSpPr/>
          <p:nvPr/>
        </p:nvSpPr>
        <p:spPr>
          <a:xfrm>
            <a:off x="484632" y="1892808"/>
            <a:ext cx="4690872" cy="2267712"/>
          </a:xfrm>
          <a:prstGeom prst="rect">
            <a:avLst/>
          </a:prstGeom>
          <a:solidFill>
            <a:srgbClr val="F3F5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" y="2103120"/>
            <a:ext cx="4142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4A5256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"지금 DB 로직이 왜 이런 결과를 냈는가?"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6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DB 에 등록된 로직 그대로 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PLM 실행 결과를 라인별로 확인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결과가 예상과 다를 때 원인 라인 찾기</a:t>
            </a:r>
            <a:endParaRPr lang="ko-KR" altLang="en-US" sz="1250" dirty="0"/>
          </a:p>
        </p:txBody>
      </p:sp>
      <p:sp>
        <p:nvSpPr>
          <p:cNvPr id="11" name="BoxHead"/>
          <p:cNvSpPr/>
          <p:nvPr/>
        </p:nvSpPr>
        <p:spPr>
          <a:xfrm>
            <a:off x="5522976" y="1508760"/>
            <a:ext cx="469087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22976" y="1508760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PID 플레이그라운드  (/simulplay/pidSimulPlayGround)</a:t>
            </a:r>
            <a:endParaRPr lang="ko-KR" altLang="en-US" sz="1250" dirty="0"/>
          </a:p>
        </p:txBody>
      </p:sp>
      <p:sp>
        <p:nvSpPr>
          <p:cNvPr id="13" name="BoxBody"/>
          <p:cNvSpPr/>
          <p:nvPr/>
        </p:nvSpPr>
        <p:spPr>
          <a:xfrm>
            <a:off x="5522976" y="1892808"/>
            <a:ext cx="4690872" cy="226771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97296" y="2103120"/>
            <a:ext cx="4142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"이렇게 고치면 결과가 어떻게 바뀌는가?"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6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로직을 화면에서 직접 고쳐서 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DB 를 건드리지 않고 수정안을 미리 검증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단계별 디버거로 변수 변화 추적</a:t>
            </a:r>
            <a:endParaRPr lang="ko-KR" altLang="en-US" sz="1250" dirty="0"/>
          </a:p>
        </p:txBody>
      </p:sp>
      <p:sp>
        <p:nvSpPr>
          <p:cNvPr id="15" name="OutlineBox"/>
          <p:cNvSpPr/>
          <p:nvPr/>
        </p:nvSpPr>
        <p:spPr>
          <a:xfrm>
            <a:off x="484632" y="4434840"/>
            <a:ext cx="972921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2293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" y="4617720"/>
            <a:ext cx="9180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이렇게 나눠 쓰면 됩니다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" y="5001768"/>
            <a:ext cx="9180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결과 이상 → </a:t>
            </a:r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시뮬레이터로 원인 라인 확인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수정안 검토 → </a:t>
            </a:r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플레이그라운드에서 고쳐서 실행해 보고, 결과가 맞으면 PLM 에 반영</a:t>
            </a:r>
            <a:endParaRPr lang="ko-KR" altLang="en-US" sz="1250" dirty="0"/>
          </a:p>
        </p:txBody>
      </p:sp>
      <p:sp>
        <p:nvSpPr>
          <p:cNvPr id="18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시뮬레이터는 "현재 상태 진단", 플레이그라운드는 "수정안 사전 검증"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1. 개요 — 화면 구성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화면은 위에서부터 헤더 · 편집 도구 줄 · 편집 표 · 디버그 패널로 나뉩니다.</a:t>
            </a:r>
            <a:endParaRPr lang="ko-KR" altLang="en-US" sz="1250" dirty="0"/>
          </a:p>
        </p:txBody>
      </p:sp>
      <p:pic>
        <p:nvPicPr>
          <p:cNvPr id="7" name="Screenshot" descr="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63040"/>
            <a:ext cx="6400800" cy="3666233"/>
          </a:xfrm>
          <a:prstGeom prst="rect">
            <a:avLst/>
          </a:prstGeom>
        </p:spPr>
      </p:pic>
      <p:sp>
        <p:nvSpPr>
          <p:cNvPr id="8" name="ScreenshotFrame"/>
          <p:cNvSpPr/>
          <p:nvPr/>
        </p:nvSpPr>
        <p:spPr>
          <a:xfrm>
            <a:off x="484632" y="1463040"/>
            <a:ext cx="6400800" cy="3666233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5182065" y="146688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82065" y="14668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/>
          <p:cNvSpPr/>
          <p:nvPr/>
        </p:nvSpPr>
        <p:spPr>
          <a:xfrm>
            <a:off x="4325939" y="172876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325939" y="17287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/>
          <p:cNvSpPr/>
          <p:nvPr/>
        </p:nvSpPr>
        <p:spPr>
          <a:xfrm>
            <a:off x="3167651" y="1980565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167651" y="19805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Num4"/>
          <p:cNvSpPr/>
          <p:nvPr/>
        </p:nvSpPr>
        <p:spPr>
          <a:xfrm>
            <a:off x="3369093" y="414605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69093" y="41460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17" name="Num5"/>
          <p:cNvSpPr/>
          <p:nvPr/>
        </p:nvSpPr>
        <p:spPr>
          <a:xfrm>
            <a:off x="3218012" y="488635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218012" y="48863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19" name="Num1"/>
          <p:cNvSpPr/>
          <p:nvPr/>
        </p:nvSpPr>
        <p:spPr>
          <a:xfrm>
            <a:off x="7114032" y="146304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1403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1444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헤더 ① PID 불러오기</a:t>
            </a:r>
            <a:endParaRPr lang="ko-KR" alt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498080" y="1773936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· 버전을 고르고 [불러오기]</a:t>
            </a:r>
            <a:endParaRPr lang="ko-KR" altLang="en-US" sz="1100" dirty="0"/>
          </a:p>
        </p:txBody>
      </p:sp>
      <p:sp>
        <p:nvSpPr>
          <p:cNvPr id="23" name="Num2"/>
          <p:cNvSpPr/>
          <p:nvPr/>
        </p:nvSpPr>
        <p:spPr>
          <a:xfrm>
            <a:off x="7114032" y="230428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114032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498080" y="228600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헤더 ② 실행 대상 · 실행</a:t>
            </a:r>
            <a:endParaRPr lang="ko-KR" alt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7498080" y="2615184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공사번호 입력 → [실행]. 오른쪽에 불러온 PID 정보</a:t>
            </a:r>
            <a:endParaRPr lang="ko-KR" altLang="en-US" sz="1100" dirty="0"/>
          </a:p>
        </p:txBody>
      </p:sp>
      <p:sp>
        <p:nvSpPr>
          <p:cNvPr id="27" name="Num3"/>
          <p:cNvSpPr/>
          <p:nvPr/>
        </p:nvSpPr>
        <p:spPr>
          <a:xfrm>
            <a:off x="7114032" y="314553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114032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312724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 도구 줄</a:t>
            </a:r>
            <a:endParaRPr lang="ko-KR" alt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7498080" y="3456432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수정 현황, SPEC/KEY 열 추가, 확대/축소, DB 원본으로 되돌리기</a:t>
            </a:r>
            <a:endParaRPr lang="ko-KR" altLang="en-US" sz="1100" dirty="0"/>
          </a:p>
        </p:txBody>
      </p:sp>
      <p:sp>
        <p:nvSpPr>
          <p:cNvPr id="31" name="Num4"/>
          <p:cNvSpPr/>
          <p:nvPr/>
        </p:nvSpPr>
        <p:spPr>
          <a:xfrm>
            <a:off x="7114032" y="3986784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11403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498080" y="3968496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 표</a:t>
            </a:r>
            <a:endParaRPr lang="ko-KR" alt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7498080" y="4297680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로직. 직접 고칠 수 있고 실행 결과 색 · 단계가 함께 표시</a:t>
            </a:r>
            <a:endParaRPr lang="ko-KR" altLang="en-US" sz="1100" dirty="0"/>
          </a:p>
        </p:txBody>
      </p:sp>
      <p:sp>
        <p:nvSpPr>
          <p:cNvPr id="35" name="Num5"/>
          <p:cNvSpPr/>
          <p:nvPr/>
        </p:nvSpPr>
        <p:spPr>
          <a:xfrm>
            <a:off x="7114032" y="482803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114032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498080" y="480974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디버그 패널 (접힌 상태)</a:t>
            </a:r>
            <a:endParaRPr lang="ko-KR" altLang="en-US" sz="1250" dirty="0"/>
          </a:p>
        </p:txBody>
      </p:sp>
      <p:sp>
        <p:nvSpPr>
          <p:cNvPr id="38" name="Text 34"/>
          <p:cNvSpPr txBox="1"/>
          <p:nvPr/>
        </p:nvSpPr>
        <p:spPr>
          <a:xfrm>
            <a:off x="7498080" y="5138928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요약 · 단계 이동. [펼치기]로 상세 탭 열기</a:t>
            </a:r>
            <a:endParaRPr lang="ko-KR" alt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484632" y="5230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※ 캡처의 공사번호 · PID 는 예시입니다</a:t>
            </a:r>
            <a:endParaRPr lang="ko-KR" altLang="en-US" sz="1000" dirty="0"/>
          </a:p>
        </p:txBody>
      </p:sp>
      <p:sp>
        <p:nvSpPr>
          <p:cNvPr id="40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디버그 패널을 접으면 편집 표를 넓게 볼 수 있고, 머리줄의 단계 이동(F10)은 그대로 쓸 수 있습니다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1. 개요 — 기본 사용 순서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를 불러와 고치고, 공사번호로 실행해서 결과를 확인하는 다섯 단계입니다.</a:t>
            </a:r>
            <a:endParaRPr lang="ko-KR" altLang="en-US" sz="1250" dirty="0"/>
          </a:p>
        </p:txBody>
      </p:sp>
      <p:sp>
        <p:nvSpPr>
          <p:cNvPr id="7" name="SectionPill"/>
          <p:cNvSpPr/>
          <p:nvPr/>
        </p:nvSpPr>
        <p:spPr>
          <a:xfrm>
            <a:off x="484632" y="150876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처리 흐름</a:t>
            </a:r>
            <a:endParaRPr lang="ko-KR" altLang="en-US" sz="1200" dirty="0"/>
          </a:p>
        </p:txBody>
      </p:sp>
      <p:sp>
        <p:nvSpPr>
          <p:cNvPr id="9" name="FlowLabel"/>
          <p:cNvSpPr/>
          <p:nvPr/>
        </p:nvSpPr>
        <p:spPr>
          <a:xfrm>
            <a:off x="484632" y="1965960"/>
            <a:ext cx="1711757" cy="301752"/>
          </a:xfrm>
          <a:prstGeom prst="roundRect">
            <a:avLst>
              <a:gd name="adj" fmla="val 12121"/>
            </a:avLst>
          </a:prstGeom>
          <a:solidFill>
            <a:srgbClr val="2293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" y="1965960"/>
            <a:ext cx="17117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① 불러오기</a:t>
            </a:r>
            <a:endParaRPr lang="ko-KR" altLang="en-US" sz="1100" dirty="0"/>
          </a:p>
        </p:txBody>
      </p:sp>
      <p:sp>
        <p:nvSpPr>
          <p:cNvPr id="11" name="FlowBox"/>
          <p:cNvSpPr/>
          <p:nvPr/>
        </p:nvSpPr>
        <p:spPr>
          <a:xfrm>
            <a:off x="484632" y="2404872"/>
            <a:ext cx="1711757" cy="192024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3D9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560320"/>
            <a:ext cx="1492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PID 불러오기</a:t>
            </a:r>
            <a:endParaRPr lang="ko-KR" alt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926080"/>
            <a:ext cx="14923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입력, 버전 선택(기본 최신) 후 [불러오기]</a:t>
            </a:r>
            <a:endParaRPr lang="ko-KR" altLang="en-US" sz="1100" dirty="0"/>
          </a:p>
        </p:txBody>
      </p:sp>
      <p:sp>
        <p:nvSpPr>
          <p:cNvPr id="14" name="FlowArrow"/>
          <p:cNvSpPr/>
          <p:nvPr/>
        </p:nvSpPr>
        <p:spPr>
          <a:xfrm>
            <a:off x="2242109" y="3364992"/>
            <a:ext cx="201168" cy="0"/>
          </a:xfrm>
          <a:prstGeom prst="line">
            <a:avLst/>
          </a:prstGeom>
          <a:noFill/>
          <a:ln w="19050">
            <a:solidFill>
              <a:srgbClr val="229345"/>
            </a:solidFill>
            <a:prstDash val="solid"/>
            <a:tailEnd type="triangle"/>
          </a:ln>
        </p:spPr>
      </p:sp>
      <p:sp>
        <p:nvSpPr>
          <p:cNvPr id="15" name="FlowLabel"/>
          <p:cNvSpPr/>
          <p:nvPr/>
        </p:nvSpPr>
        <p:spPr>
          <a:xfrm>
            <a:off x="2488997" y="1965960"/>
            <a:ext cx="1711757" cy="301752"/>
          </a:xfrm>
          <a:prstGeom prst="roundRect">
            <a:avLst>
              <a:gd name="adj" fmla="val 12121"/>
            </a:avLst>
          </a:prstGeom>
          <a:solidFill>
            <a:srgbClr val="2293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488997" y="1965960"/>
            <a:ext cx="17117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② 수정</a:t>
            </a:r>
            <a:endParaRPr lang="ko-KR" altLang="en-US" sz="1100" dirty="0"/>
          </a:p>
        </p:txBody>
      </p:sp>
      <p:sp>
        <p:nvSpPr>
          <p:cNvPr id="17" name="FlowBox"/>
          <p:cNvSpPr/>
          <p:nvPr/>
        </p:nvSpPr>
        <p:spPr>
          <a:xfrm>
            <a:off x="2488997" y="2404872"/>
            <a:ext cx="1711757" cy="192024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3D9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98725" y="2560320"/>
            <a:ext cx="1492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로직 수정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598725" y="2926080"/>
            <a:ext cx="14923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편집 표에서 SPEC / CON / KEY / VAL 수정 (생략 가능)</a:t>
            </a:r>
            <a:endParaRPr lang="ko-KR" altLang="en-US" sz="1100" dirty="0"/>
          </a:p>
        </p:txBody>
      </p:sp>
      <p:sp>
        <p:nvSpPr>
          <p:cNvPr id="20" name="FlowArrow"/>
          <p:cNvSpPr/>
          <p:nvPr/>
        </p:nvSpPr>
        <p:spPr>
          <a:xfrm>
            <a:off x="4246474" y="3364992"/>
            <a:ext cx="201168" cy="0"/>
          </a:xfrm>
          <a:prstGeom prst="line">
            <a:avLst/>
          </a:prstGeom>
          <a:noFill/>
          <a:ln w="19050">
            <a:solidFill>
              <a:srgbClr val="229345"/>
            </a:solidFill>
            <a:prstDash val="solid"/>
            <a:tailEnd type="triangle"/>
          </a:ln>
        </p:spPr>
      </p:sp>
      <p:sp>
        <p:nvSpPr>
          <p:cNvPr id="21" name="FlowLabel"/>
          <p:cNvSpPr/>
          <p:nvPr/>
        </p:nvSpPr>
        <p:spPr>
          <a:xfrm>
            <a:off x="4493362" y="1965960"/>
            <a:ext cx="1711757" cy="301752"/>
          </a:xfrm>
          <a:prstGeom prst="roundRect">
            <a:avLst>
              <a:gd name="adj" fmla="val 12121"/>
            </a:avLst>
          </a:prstGeom>
          <a:solidFill>
            <a:srgbClr val="22934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493362" y="1965960"/>
            <a:ext cx="17117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③ 실행</a:t>
            </a:r>
            <a:endParaRPr lang="ko-KR" altLang="en-US" sz="1100" dirty="0"/>
          </a:p>
        </p:txBody>
      </p:sp>
      <p:sp>
        <p:nvSpPr>
          <p:cNvPr id="23" name="FlowBox"/>
          <p:cNvSpPr/>
          <p:nvPr/>
        </p:nvSpPr>
        <p:spPr>
          <a:xfrm>
            <a:off x="4493362" y="2404872"/>
            <a:ext cx="1711757" cy="192024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3D9D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03090" y="2560320"/>
            <a:ext cx="1492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공사번호로 실행</a:t>
            </a:r>
            <a:endParaRPr lang="ko-KR" alt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603090" y="2926080"/>
            <a:ext cx="14923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공사번호 입력 후 [실행] 또는 Ctrl+Enter</a:t>
            </a:r>
            <a:endParaRPr lang="ko-KR" altLang="en-US" sz="1100" dirty="0"/>
          </a:p>
        </p:txBody>
      </p:sp>
      <p:sp>
        <p:nvSpPr>
          <p:cNvPr id="26" name="FlowArrow"/>
          <p:cNvSpPr/>
          <p:nvPr/>
        </p:nvSpPr>
        <p:spPr>
          <a:xfrm>
            <a:off x="6250838" y="3364992"/>
            <a:ext cx="201168" cy="0"/>
          </a:xfrm>
          <a:prstGeom prst="line">
            <a:avLst/>
          </a:prstGeom>
          <a:noFill/>
          <a:ln w="19050">
            <a:solidFill>
              <a:srgbClr val="229345"/>
            </a:solidFill>
            <a:prstDash val="solid"/>
            <a:tailEnd type="triangle"/>
          </a:ln>
        </p:spPr>
      </p:sp>
      <p:sp>
        <p:nvSpPr>
          <p:cNvPr id="27" name="FlowLabel"/>
          <p:cNvSpPr/>
          <p:nvPr/>
        </p:nvSpPr>
        <p:spPr>
          <a:xfrm>
            <a:off x="6497726" y="1965960"/>
            <a:ext cx="1711757" cy="301752"/>
          </a:xfrm>
          <a:prstGeom prst="roundRect">
            <a:avLst>
              <a:gd name="adj" fmla="val 12121"/>
            </a:avLst>
          </a:prstGeom>
          <a:solidFill>
            <a:srgbClr val="22934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97726" y="1965960"/>
            <a:ext cx="17117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④ 확인</a:t>
            </a:r>
            <a:endParaRPr lang="ko-KR" altLang="en-US" sz="1100" dirty="0"/>
          </a:p>
        </p:txBody>
      </p:sp>
      <p:sp>
        <p:nvSpPr>
          <p:cNvPr id="29" name="FlowBox"/>
          <p:cNvSpPr/>
          <p:nvPr/>
        </p:nvSpPr>
        <p:spPr>
          <a:xfrm>
            <a:off x="6497726" y="2404872"/>
            <a:ext cx="1711757" cy="192024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3D9D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07454" y="2560320"/>
            <a:ext cx="1492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결과 확인</a:t>
            </a:r>
            <a:endParaRPr lang="ko-KR" alt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607454" y="2926080"/>
            <a:ext cx="14923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표 색과 디버그 패널로 확인, F10 으로 단계 추적</a:t>
            </a:r>
            <a:endParaRPr lang="ko-KR" altLang="en-US" sz="1100" dirty="0"/>
          </a:p>
        </p:txBody>
      </p:sp>
      <p:sp>
        <p:nvSpPr>
          <p:cNvPr id="32" name="FlowArrow"/>
          <p:cNvSpPr/>
          <p:nvPr/>
        </p:nvSpPr>
        <p:spPr>
          <a:xfrm>
            <a:off x="8255203" y="3364992"/>
            <a:ext cx="201168" cy="0"/>
          </a:xfrm>
          <a:prstGeom prst="line">
            <a:avLst/>
          </a:prstGeom>
          <a:noFill/>
          <a:ln w="19050">
            <a:solidFill>
              <a:srgbClr val="229345"/>
            </a:solidFill>
            <a:prstDash val="solid"/>
            <a:tailEnd type="triangle"/>
          </a:ln>
        </p:spPr>
      </p:sp>
      <p:sp>
        <p:nvSpPr>
          <p:cNvPr id="33" name="FlowLabel"/>
          <p:cNvSpPr/>
          <p:nvPr/>
        </p:nvSpPr>
        <p:spPr>
          <a:xfrm>
            <a:off x="8502091" y="1965960"/>
            <a:ext cx="1711757" cy="301752"/>
          </a:xfrm>
          <a:prstGeom prst="roundRect">
            <a:avLst>
              <a:gd name="adj" fmla="val 12121"/>
            </a:avLst>
          </a:prstGeom>
          <a:solidFill>
            <a:srgbClr val="8A929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502091" y="1965960"/>
            <a:ext cx="17117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⑤ 반영 (선택)</a:t>
            </a:r>
            <a:endParaRPr lang="ko-KR" altLang="en-US" sz="1100" dirty="0"/>
          </a:p>
        </p:txBody>
      </p:sp>
      <p:sp>
        <p:nvSpPr>
          <p:cNvPr id="35" name="FlowBox"/>
          <p:cNvSpPr/>
          <p:nvPr/>
        </p:nvSpPr>
        <p:spPr>
          <a:xfrm>
            <a:off x="8502091" y="2404872"/>
            <a:ext cx="1711757" cy="192024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3D9D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11819" y="2560320"/>
            <a:ext cx="1492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PLM 반영</a:t>
            </a:r>
            <a:endParaRPr lang="ko-KR" alt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611819" y="2926080"/>
            <a:ext cx="14923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변경 내역 탭을 참고해 PLM 에서 실제 수정</a:t>
            </a:r>
            <a:endParaRPr lang="ko-KR" altLang="en-US" sz="1100" dirty="0"/>
          </a:p>
        </p:txBody>
      </p:sp>
      <p:sp>
        <p:nvSpPr>
          <p:cNvPr id="38" name="SectionPill"/>
          <p:cNvSpPr/>
          <p:nvPr/>
        </p:nvSpPr>
        <p:spPr>
          <a:xfrm>
            <a:off x="484632" y="461772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84632" y="4617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실시간 실행</a:t>
            </a:r>
            <a:endParaRPr lang="ko-KR" alt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484632" y="5029200"/>
            <a:ext cx="9729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헤더의 [실시간 실행] 스위치를 켜 두면 ② → ③ 이 자동입니다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표를 고칠 때마다 0.8초 뒤 다시 실행되고, 셀을 입력하는 중에는 기다렸다가 실행합니다</a:t>
            </a:r>
            <a:endParaRPr lang="ko-KR" altLang="en-US" sz="1250" dirty="0"/>
          </a:p>
        </p:txBody>
      </p:sp>
      <p:sp>
        <p:nvSpPr>
          <p:cNvPr id="41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고친 내용은 DB 에 저장되지 않으므로, 결과를 확인한 뒤 실제 반영은 PLM 에서 합니다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2. 불러오기 · 실행 — ① PID 불러오기 · ② 실행 대상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헤더 왼쪽에서 오른쪽 순서대로 입력합니다. * 표시는 필수 항목입니다.</a:t>
            </a:r>
            <a:endParaRPr lang="ko-KR" altLang="en-US" sz="1250" dirty="0"/>
          </a:p>
        </p:txBody>
      </p:sp>
      <p:sp>
        <p:nvSpPr>
          <p:cNvPr id="7" name="SectionPill"/>
          <p:cNvSpPr/>
          <p:nvPr/>
        </p:nvSpPr>
        <p:spPr>
          <a:xfrm>
            <a:off x="484632" y="150876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① PID 불러오기</a:t>
            </a:r>
            <a:endParaRPr lang="ko-KR" alt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920240"/>
          <a:ext cx="46908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5021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항목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설명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PID *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예: D375A. 입력하면 버전 목록이 자동 갱신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버전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최신(기본) · TEST · vN · 등록일 중 선택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불러오기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DB 에서 로직을 읽어 편집 표에 표시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84632" y="3611880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층별 PID</a:t>
            </a:r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태그 → 추가 조건의 층(FLOOR_NAME) 입력 가능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JAVA</a:t>
            </a:r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태그 → 편집 불가, 실행 결과만 확인</a:t>
            </a:r>
            <a:endParaRPr lang="ko-KR" altLang="en-US" sz="1250" dirty="0"/>
          </a:p>
        </p:txBody>
      </p:sp>
      <p:sp>
        <p:nvSpPr>
          <p:cNvPr id="11" name="SectionPill"/>
          <p:cNvSpPr/>
          <p:nvPr/>
        </p:nvSpPr>
        <p:spPr>
          <a:xfrm>
            <a:off x="5522976" y="150876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522976" y="15087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② 실행 대상</a:t>
            </a:r>
            <a:endParaRPr lang="ko-KR" alt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22976" y="1920240"/>
          <a:ext cx="46908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107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항목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설명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공사번호 *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공사번호(예: 206663L01) 또는 공사정보 ouid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층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추가 조건에서 입력. 층별 PID 일 때만 가능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전처리 PID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먼저 돌릴 PID. 쉼표로 여러 개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OutlineBox"/>
          <p:cNvSpPr/>
          <p:nvPr/>
        </p:nvSpPr>
        <p:spPr>
          <a:xfrm>
            <a:off x="484632" y="4572000"/>
            <a:ext cx="9729216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22934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58952" y="4754880"/>
            <a:ext cx="9180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수정본은 불러온 PID 에만 적용됩니다</a:t>
            </a:r>
            <a:endParaRPr lang="ko-KR" alt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58952" y="5138928"/>
            <a:ext cx="9180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CALL 로 호출되는 하위 PID 와 전처리 PID 는 항상 최신 버전(DB 원본)으로 실행됩니다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하위 PID 를 고쳐 보고 싶으면 그 PID 를 따로 불러와 실행하세요</a:t>
            </a:r>
            <a:endParaRPr lang="ko-KR" altLang="en-US" sz="1250" dirty="0"/>
          </a:p>
        </p:txBody>
      </p:sp>
      <p:sp>
        <p:nvSpPr>
          <p:cNvPr id="17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PID 를 불러와야 [실행] 버튼이 켜집니다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2. 불러오기 · 실행 — 실행 · 실시간 실행 · 주소 공유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결과는 편집 표와 디버그 패널에 함께 표시되고, 주소로 같은 조건을 공유할 수 있습니다.</a:t>
            </a:r>
            <a:endParaRPr lang="ko-KR" altLang="en-US" sz="1250" dirty="0"/>
          </a:p>
        </p:txBody>
      </p:sp>
      <p:sp>
        <p:nvSpPr>
          <p:cNvPr id="7" name="BoxHead"/>
          <p:cNvSpPr/>
          <p:nvPr/>
        </p:nvSpPr>
        <p:spPr>
          <a:xfrm>
            <a:off x="484632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▶ 실행</a:t>
            </a:r>
            <a:endParaRPr lang="ko-KR" altLang="en-US" sz="1250" dirty="0"/>
          </a:p>
        </p:txBody>
      </p:sp>
      <p:sp>
        <p:nvSpPr>
          <p:cNvPr id="9" name="BoxBody"/>
          <p:cNvSpPr/>
          <p:nvPr/>
        </p:nvSpPr>
        <p:spPr>
          <a:xfrm>
            <a:off x="484632" y="1892808"/>
            <a:ext cx="3121152" cy="19933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" y="2057400"/>
            <a:ext cx="2755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지금 편집 표의 내용(수정본)으로 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를 불러온 뒤에만 활성화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단축키 Ctrl+Enter</a:t>
            </a:r>
            <a:endParaRPr lang="ko-KR" altLang="en-US" sz="1250" dirty="0"/>
          </a:p>
        </p:txBody>
      </p:sp>
      <p:sp>
        <p:nvSpPr>
          <p:cNvPr id="11" name="BoxHead"/>
          <p:cNvSpPr/>
          <p:nvPr/>
        </p:nvSpPr>
        <p:spPr>
          <a:xfrm>
            <a:off x="3788664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88664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실시간 실행</a:t>
            </a:r>
            <a:endParaRPr lang="ko-KR" altLang="en-US" sz="1250" dirty="0"/>
          </a:p>
        </p:txBody>
      </p:sp>
      <p:sp>
        <p:nvSpPr>
          <p:cNvPr id="13" name="BoxBody"/>
          <p:cNvSpPr/>
          <p:nvPr/>
        </p:nvSpPr>
        <p:spPr>
          <a:xfrm>
            <a:off x="3788664" y="1892808"/>
            <a:ext cx="3121152" cy="19933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71544" y="2057400"/>
            <a:ext cx="2755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켜 두면 고칠 때마다 0.8초 뒤 자동 재실행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셀 입력 중에는 기다렸다가 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기본 켜짐, 설정은 브라우저에 기억</a:t>
            </a:r>
            <a:endParaRPr lang="ko-KR" altLang="en-US" sz="1250" dirty="0"/>
          </a:p>
        </p:txBody>
      </p:sp>
      <p:sp>
        <p:nvSpPr>
          <p:cNvPr id="15" name="BoxHead"/>
          <p:cNvSpPr/>
          <p:nvPr/>
        </p:nvSpPr>
        <p:spPr>
          <a:xfrm>
            <a:off x="7092696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92696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주소로 공유</a:t>
            </a:r>
            <a:endParaRPr lang="ko-KR" altLang="en-US" sz="1250" dirty="0"/>
          </a:p>
        </p:txBody>
      </p:sp>
      <p:sp>
        <p:nvSpPr>
          <p:cNvPr id="17" name="BoxBody"/>
          <p:cNvSpPr/>
          <p:nvPr/>
        </p:nvSpPr>
        <p:spPr>
          <a:xfrm>
            <a:off x="7092696" y="1892808"/>
            <a:ext cx="3121152" cy="19933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75576" y="2057400"/>
            <a:ext cx="2755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실행하면 주소창에 PID · 버전 · 공사번호 반영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주소를 열면 바로 불러와 실행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수정 내용은 주소에 포함되지 않음</a:t>
            </a:r>
            <a:endParaRPr lang="ko-KR" altLang="en-US" sz="1250" dirty="0"/>
          </a:p>
        </p:txBody>
      </p:sp>
      <p:sp>
        <p:nvSpPr>
          <p:cNvPr id="19" name="SectionPill"/>
          <p:cNvSpPr/>
          <p:nvPr/>
        </p:nvSpPr>
        <p:spPr>
          <a:xfrm>
            <a:off x="484632" y="416052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" y="41605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공유 주소 예시</a:t>
            </a:r>
            <a:endParaRPr lang="ko-KR" altLang="en-US" sz="1200" dirty="0"/>
          </a:p>
        </p:txBody>
      </p:sp>
      <p:sp>
        <p:nvSpPr>
          <p:cNvPr id="21" name="CodeBox"/>
          <p:cNvSpPr/>
          <p:nvPr/>
        </p:nvSpPr>
        <p:spPr>
          <a:xfrm>
            <a:off x="484632" y="4572000"/>
            <a:ext cx="9729216" cy="502920"/>
          </a:xfrm>
          <a:prstGeom prst="rect">
            <a:avLst/>
          </a:prstGeom>
          <a:solidFill>
            <a:srgbClr val="F3F5F6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572000"/>
            <a:ext cx="9272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/simulplay/pidSimulPlayGround?pid=D375A&amp;version=12&amp;project=206663L01</a:t>
            </a:r>
            <a:endParaRPr lang="ko-KR" alt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84632" y="5212080"/>
            <a:ext cx="972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주소를 받은 사람은 DB 원본 로직으로 시작합니다. 고친 내용까지 전달하려면 편집 표를 복사(Ctrl+C)해 엑셀로 전달하세요.</a:t>
            </a:r>
            <a:endParaRPr lang="ko-KR" altLang="en-US" sz="1100" dirty="0"/>
          </a:p>
        </p:txBody>
      </p:sp>
      <p:sp>
        <p:nvSpPr>
          <p:cNvPr id="24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실시간 실행을 켜 두면 "고치기 → 결과 보기" 를 바로바로 반복할 수 있습니다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3. 편집 표 — 컬럼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편집 표 한 줄이 PID 로직의 한 라인입니다. 실행하면 결과 컬럼이 함께 채워집니다.</a:t>
            </a:r>
            <a:endParaRPr lang="ko-KR" alt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508760"/>
          <a:ext cx="6400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3749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컬럼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편집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설명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단계·결과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5F6B70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-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단계번호. TRUE / FALSE, 미실행은 -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NO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5F6B70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-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DB 라인 번호 (새로 추가한 라인은 비어 있음)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ADDR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9345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O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라인 주소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SPECn / CONn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9345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O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조건. 기본 3쌍, 최대 30쌍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KEYn / VALn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9345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O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결과. 기본 2쌍, 최대 20쌍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GOTO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9345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O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이동할 ADDR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REMARKS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9345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O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비고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OUTPUT (실행 결과)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5F6B70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-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그 라인에서 계산된 출력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BoxHead"/>
          <p:cNvSpPr/>
          <p:nvPr/>
        </p:nvSpPr>
        <p:spPr>
          <a:xfrm>
            <a:off x="7159752" y="1508760"/>
            <a:ext cx="3054096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159752" y="150876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알아 두기</a:t>
            </a:r>
            <a:endParaRPr lang="ko-KR" altLang="en-US" sz="1250" dirty="0"/>
          </a:p>
        </p:txBody>
      </p:sp>
      <p:sp>
        <p:nvSpPr>
          <p:cNvPr id="10" name="BoxBody"/>
          <p:cNvSpPr/>
          <p:nvPr/>
        </p:nvSpPr>
        <p:spPr>
          <a:xfrm>
            <a:off x="7159752" y="1892808"/>
            <a:ext cx="3054096" cy="35935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42632" y="2057400"/>
            <a:ext cx="268833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왼쪽 고정</a:t>
            </a:r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: 단계·결과 · NO · ADDR 은 가로 스크롤해도 보입니다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빈 칸 = NULL</a:t>
            </a:r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: 빈 칸은 DB 의 NULL 과 같게 취급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열 추가</a:t>
            </a:r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 : 편집 도구 줄의 + SPEC 열 / + KEY 열</a:t>
            </a:r>
            <a:endParaRPr lang="ko-KR" altLang="en-US" sz="1250" dirty="0"/>
          </a:p>
        </p:txBody>
      </p:sp>
      <p:sp>
        <p:nvSpPr>
          <p:cNvPr id="12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 표에서 고친 칸은 주황 표시가 되고, 마우스를 올리면 DB 원본 값을 볼 수 있습니다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3. 편집 표 — 편집 방법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엑셀과 같은 방식으로 고칩니다. 라인 단위 작업은 오른쪽 클릭 메뉴에 있습니다.</a:t>
            </a:r>
            <a:endParaRPr lang="ko-KR" altLang="en-US" sz="1250" dirty="0"/>
          </a:p>
        </p:txBody>
      </p:sp>
      <p:sp>
        <p:nvSpPr>
          <p:cNvPr id="7" name="EditCard"/>
          <p:cNvSpPr/>
          <p:nvPr/>
        </p:nvSpPr>
        <p:spPr>
          <a:xfrm>
            <a:off x="484632" y="150876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" y="17830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값 수정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2286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셀 더블클릭 또는 바로 입력. 엑셀에서 복사 · 붙여넣기</a:t>
            </a:r>
            <a:endParaRPr lang="ko-KR" altLang="en-US" sz="1150" dirty="0"/>
          </a:p>
        </p:txBody>
      </p:sp>
      <p:sp>
        <p:nvSpPr>
          <p:cNvPr id="10" name="EditCard"/>
          <p:cNvSpPr/>
          <p:nvPr/>
        </p:nvSpPr>
        <p:spPr>
          <a:xfrm>
            <a:off x="2962656" y="150876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99816" y="17830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라인 추가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45536" y="2286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오른쪽 클릭 → 위/아래에 라인 추가, 또는 맨 아래 빈 줄에 입력</a:t>
            </a:r>
            <a:endParaRPr lang="ko-KR" altLang="en-US" sz="1150" dirty="0"/>
          </a:p>
        </p:txBody>
      </p:sp>
      <p:sp>
        <p:nvSpPr>
          <p:cNvPr id="13" name="EditCard"/>
          <p:cNvSpPr/>
          <p:nvPr/>
        </p:nvSpPr>
        <p:spPr>
          <a:xfrm>
            <a:off x="5440680" y="150876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0" y="17830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라인 복제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2286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오른쪽 클릭 → 라인 복제 (아래에)</a:t>
            </a:r>
            <a:endParaRPr lang="ko-KR" altLang="en-US" sz="1150" dirty="0"/>
          </a:p>
        </p:txBody>
      </p:sp>
      <p:sp>
        <p:nvSpPr>
          <p:cNvPr id="16" name="EditCard"/>
          <p:cNvSpPr/>
          <p:nvPr/>
        </p:nvSpPr>
        <p:spPr>
          <a:xfrm>
            <a:off x="7918704" y="150876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55864" y="17830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라인 삭제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01584" y="2286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오른쪽 클릭 → 라인 삭제</a:t>
            </a:r>
            <a:endParaRPr lang="ko-KR" altLang="en-US" sz="1150" dirty="0"/>
          </a:p>
        </p:txBody>
      </p:sp>
      <p:sp>
        <p:nvSpPr>
          <p:cNvPr id="19" name="EditCard"/>
          <p:cNvSpPr/>
          <p:nvPr/>
        </p:nvSpPr>
        <p:spPr>
          <a:xfrm>
            <a:off x="484632" y="384048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" y="41148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순서 변경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" y="461772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왼쪽 행 번호를 끌어서 이동</a:t>
            </a:r>
            <a:endParaRPr lang="ko-KR" altLang="en-US" sz="1150" dirty="0"/>
          </a:p>
        </p:txBody>
      </p:sp>
      <p:sp>
        <p:nvSpPr>
          <p:cNvPr id="22" name="EditCard"/>
          <p:cNvSpPr/>
          <p:nvPr/>
        </p:nvSpPr>
        <p:spPr>
          <a:xfrm>
            <a:off x="2962656" y="384048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099816" y="41148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되돌리기</a:t>
            </a:r>
            <a:endParaRPr lang="ko-KR" alt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145536" y="461772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Ctrl+Z 되돌리기 · Ctrl+Y 다시 실행</a:t>
            </a:r>
            <a:endParaRPr lang="ko-KR" altLang="en-US" sz="1150" dirty="0"/>
          </a:p>
        </p:txBody>
      </p:sp>
      <p:sp>
        <p:nvSpPr>
          <p:cNvPr id="25" name="EditCard"/>
          <p:cNvSpPr/>
          <p:nvPr/>
        </p:nvSpPr>
        <p:spPr>
          <a:xfrm>
            <a:off x="5440680" y="384048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7840" y="41148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열 추가</a:t>
            </a:r>
            <a:endParaRPr lang="ko-KR" alt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623560" y="461772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편집 도구 줄의 + SPEC 열 / + KEY 열</a:t>
            </a:r>
            <a:endParaRPr lang="ko-KR" altLang="en-US" sz="1150" dirty="0"/>
          </a:p>
        </p:txBody>
      </p:sp>
      <p:sp>
        <p:nvSpPr>
          <p:cNvPr id="28" name="EditCard"/>
          <p:cNvSpPr/>
          <p:nvPr/>
        </p:nvSpPr>
        <p:spPr>
          <a:xfrm>
            <a:off x="7918704" y="3840480"/>
            <a:ext cx="2295144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55864" y="41148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열 너비</a:t>
            </a:r>
            <a:endParaRPr lang="ko-KR" alt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01584" y="461772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헤더 경계를 끌어서 조절</a:t>
            </a:r>
            <a:endParaRPr lang="ko-KR" altLang="en-US" sz="1150" dirty="0"/>
          </a:p>
        </p:txBody>
      </p:sp>
      <p:sp>
        <p:nvSpPr>
          <p:cNvPr id="31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수정한 내용은 실시간 실행이 켜져 있으면 바로 결과에 반영됩니다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3. 편집 표 — 색 · 표시 읽는 법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실행하면 라인과 칸에 색이 칠해집니다. 색만 보고도 어디서 조건이 어긋났는지 알 수 있습니다.</a:t>
            </a:r>
            <a:endParaRPr lang="ko-KR" altLang="en-US" sz="1250" dirty="0"/>
          </a:p>
        </p:txBody>
      </p:sp>
      <p:sp>
        <p:nvSpPr>
          <p:cNvPr id="7" name="Swatch"/>
          <p:cNvSpPr/>
          <p:nvPr/>
        </p:nvSpPr>
        <p:spPr>
          <a:xfrm>
            <a:off x="484632" y="1536192"/>
            <a:ext cx="685800" cy="365760"/>
          </a:xfrm>
          <a:prstGeom prst="rect">
            <a:avLst/>
          </a:prstGeom>
          <a:solidFill>
            <a:srgbClr val="E7F6EC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53312" y="14630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TRUE 행</a:t>
            </a:r>
            <a:endParaRPr lang="ko-KR" alt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907792" y="14630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조건을 만족해 실행된 라인</a:t>
            </a:r>
            <a:endParaRPr lang="ko-KR" altLang="en-US" sz="1150" dirty="0"/>
          </a:p>
        </p:txBody>
      </p:sp>
      <p:sp>
        <p:nvSpPr>
          <p:cNvPr id="10" name="Swatch"/>
          <p:cNvSpPr/>
          <p:nvPr/>
        </p:nvSpPr>
        <p:spPr>
          <a:xfrm>
            <a:off x="484632" y="2084832"/>
            <a:ext cx="685800" cy="365760"/>
          </a:xfrm>
          <a:prstGeom prst="rect">
            <a:avLst/>
          </a:prstGeom>
          <a:solidFill>
            <a:srgbClr val="FDECEC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53312" y="20116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FALSE 행</a:t>
            </a:r>
            <a:endParaRPr lang="ko-KR" alt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907792" y="20116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실행했지만 조건 불만족</a:t>
            </a:r>
            <a:endParaRPr lang="ko-KR" altLang="en-US" sz="1150" dirty="0"/>
          </a:p>
        </p:txBody>
      </p:sp>
      <p:sp>
        <p:nvSpPr>
          <p:cNvPr id="13" name="Swatch"/>
          <p:cNvSpPr/>
          <p:nvPr/>
        </p:nvSpPr>
        <p:spPr>
          <a:xfrm>
            <a:off x="484632" y="2633472"/>
            <a:ext cx="685800" cy="365760"/>
          </a:xfrm>
          <a:prstGeom prst="rect">
            <a:avLst/>
          </a:prstGeom>
          <a:solidFill>
            <a:srgbClr val="EEF0F3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53312" y="256032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미실행 행</a:t>
            </a:r>
            <a:endParaRPr lang="ko-KR" alt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907792" y="25603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GOTO / STOP 으로 건너뜀</a:t>
            </a:r>
            <a:endParaRPr lang="ko-KR" altLang="en-US" sz="1150" dirty="0"/>
          </a:p>
        </p:txBody>
      </p:sp>
      <p:sp>
        <p:nvSpPr>
          <p:cNvPr id="16" name="Swatch"/>
          <p:cNvSpPr/>
          <p:nvPr/>
        </p:nvSpPr>
        <p:spPr>
          <a:xfrm>
            <a:off x="484632" y="3182112"/>
            <a:ext cx="685800" cy="365760"/>
          </a:xfrm>
          <a:prstGeom prst="rect">
            <a:avLst/>
          </a:prstGeom>
          <a:solidFill>
            <a:srgbClr val="B9E8C8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" y="318211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15803D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✓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53312" y="31089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일치 칸</a:t>
            </a:r>
            <a:endParaRPr lang="ko-KR" alt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907792" y="31089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해당 SPEC 조건 일치</a:t>
            </a:r>
            <a:endParaRPr lang="ko-KR" altLang="en-US" sz="1150" dirty="0"/>
          </a:p>
        </p:txBody>
      </p:sp>
      <p:sp>
        <p:nvSpPr>
          <p:cNvPr id="20" name="Swatch"/>
          <p:cNvSpPr/>
          <p:nvPr/>
        </p:nvSpPr>
        <p:spPr>
          <a:xfrm>
            <a:off x="484632" y="3730752"/>
            <a:ext cx="685800" cy="365760"/>
          </a:xfrm>
          <a:prstGeom prst="rect">
            <a:avLst/>
          </a:prstGeom>
          <a:solidFill>
            <a:srgbClr val="F7C1C1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" y="37307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rgbClr val="B91C1C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✗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353312" y="365760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불일치 칸</a:t>
            </a:r>
            <a:endParaRPr lang="ko-KR" alt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2907792" y="36576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해당 SPEC 조건 불일치</a:t>
            </a:r>
            <a:endParaRPr lang="ko-KR" altLang="en-US" sz="1150" dirty="0"/>
          </a:p>
        </p:txBody>
      </p:sp>
      <p:sp>
        <p:nvSpPr>
          <p:cNvPr id="24" name="Swatch"/>
          <p:cNvSpPr/>
          <p:nvPr/>
        </p:nvSpPr>
        <p:spPr>
          <a:xfrm>
            <a:off x="484632" y="4279392"/>
            <a:ext cx="685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25" name="SwatchMark"/>
          <p:cNvSpPr/>
          <p:nvPr/>
        </p:nvSpPr>
        <p:spPr>
          <a:xfrm>
            <a:off x="484632" y="4279392"/>
            <a:ext cx="64008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353312" y="42062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수정한 칸</a:t>
            </a:r>
            <a:endParaRPr lang="ko-KR" alt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2907792" y="42062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왼쪽 주황 줄 + 굵게. 마우스를 올리면 DB 원본 값</a:t>
            </a:r>
            <a:endParaRPr lang="ko-KR" altLang="en-US" sz="1150" dirty="0"/>
          </a:p>
        </p:txBody>
      </p:sp>
      <p:sp>
        <p:nvSpPr>
          <p:cNvPr id="28" name="Swatch"/>
          <p:cNvSpPr/>
          <p:nvPr/>
        </p:nvSpPr>
        <p:spPr>
          <a:xfrm>
            <a:off x="484632" y="4828032"/>
            <a:ext cx="68580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353312" y="47548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새 라인</a:t>
            </a:r>
            <a:endParaRPr lang="ko-KR" alt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2907792" y="47548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하늘색 테두리</a:t>
            </a:r>
            <a:endParaRPr lang="ko-KR" altLang="en-US" sz="1150" dirty="0"/>
          </a:p>
        </p:txBody>
      </p:sp>
      <p:sp>
        <p:nvSpPr>
          <p:cNvPr id="31" name="Swatch"/>
          <p:cNvSpPr/>
          <p:nvPr/>
        </p:nvSpPr>
        <p:spPr>
          <a:xfrm>
            <a:off x="484632" y="5376672"/>
            <a:ext cx="68580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353312" y="530352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현재 단계</a:t>
            </a:r>
            <a:endParaRPr lang="ko-KR" alt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2907792" y="53035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디버거가 가리키는 라인 (보라색)</a:t>
            </a:r>
            <a:endParaRPr lang="ko-KR" altLang="en-US" sz="1150" dirty="0"/>
          </a:p>
        </p:txBody>
      </p:sp>
      <p:sp>
        <p:nvSpPr>
          <p:cNvPr id="34" name="Swatch"/>
          <p:cNvSpPr/>
          <p:nvPr/>
        </p:nvSpPr>
        <p:spPr>
          <a:xfrm>
            <a:off x="484632" y="5925312"/>
            <a:ext cx="685800" cy="365760"/>
          </a:xfrm>
          <a:prstGeom prst="rect">
            <a:avLst/>
          </a:prstGeom>
          <a:solidFill>
            <a:srgbClr val="E7F6EC">
              <a:alpha val="55000"/>
            </a:srgbClr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53312" y="58521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흐린 표시</a:t>
            </a:r>
            <a:endParaRPr lang="ko-KR" alt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2907792" y="58521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후 또 수정함 → 다시 실행 필요</a:t>
            </a:r>
            <a:endParaRPr lang="ko-KR" altLang="en-US" sz="1150" dirty="0"/>
          </a:p>
        </p:txBody>
      </p:sp>
      <p:sp>
        <p:nvSpPr>
          <p:cNvPr id="37" name="BoxHead"/>
          <p:cNvSpPr/>
          <p:nvPr/>
        </p:nvSpPr>
        <p:spPr>
          <a:xfrm>
            <a:off x="7068312" y="1508760"/>
            <a:ext cx="3145536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068312" y="15087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칸에 마우스를 올리면</a:t>
            </a:r>
            <a:endParaRPr lang="ko-KR" altLang="en-US" sz="1250" dirty="0"/>
          </a:p>
        </p:txBody>
      </p:sp>
      <p:sp>
        <p:nvSpPr>
          <p:cNvPr id="39" name="BoxBody"/>
          <p:cNvSpPr/>
          <p:nvPr/>
        </p:nvSpPr>
        <p:spPr>
          <a:xfrm>
            <a:off x="7068312" y="1892808"/>
            <a:ext cx="3145536" cy="272491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40" name="TooltipSample"/>
          <p:cNvSpPr/>
          <p:nvPr/>
        </p:nvSpPr>
        <p:spPr>
          <a:xfrm>
            <a:off x="7251192" y="2057400"/>
            <a:ext cx="277977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388352" y="205740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SPEC2 불일치</a:t>
            </a:r>
            <a:endParaRPr lang="ko-KR" altLang="en-US" sz="1200" dirty="0"/>
          </a:p>
          <a:p>
            <a:pPr indent="0" marL="0">
              <a:buNone/>
            </a:pPr>
            <a:r>
              <a:rPr lang="ko-KR" alt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EL_SPEED 값 : 105</a:t>
            </a:r>
            <a:endParaRPr lang="ko-KR" altLang="en-US" sz="1200" dirty="0"/>
          </a:p>
          <a:p>
            <a:pPr indent="0" marL="0">
              <a:buNone/>
            </a:pPr>
            <a:r>
              <a:rPr lang="ko-KR" alt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CON : {EL_X} → 90</a:t>
            </a:r>
            <a:endParaRPr lang="ko-KR" alt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251192" y="3291840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그 라인을 실행하던 시점의 실제 값과, CON 이 계산식이면 계산된 값까지 비교해 보여줍니다.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3. 편집 표 — 편집 도구 줄 · 수정 내용 보관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편집 도구 줄 왼쪽에 DB 원본과 비교한 수정 현황이 표시됩니다.</a:t>
            </a:r>
            <a:endParaRPr lang="ko-KR" altLang="en-US" sz="1250" dirty="0"/>
          </a:p>
        </p:txBody>
      </p:sp>
      <p:sp>
        <p:nvSpPr>
          <p:cNvPr id="7" name="SectionPill"/>
          <p:cNvSpPr/>
          <p:nvPr/>
        </p:nvSpPr>
        <p:spPr>
          <a:xfrm>
            <a:off x="484632" y="150876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 현황</a:t>
            </a:r>
            <a:endParaRPr lang="ko-KR" altLang="en-US" sz="1200" dirty="0"/>
          </a:p>
        </p:txBody>
      </p:sp>
      <p:sp>
        <p:nvSpPr>
          <p:cNvPr id="9" name="StatusPill"/>
          <p:cNvSpPr/>
          <p:nvPr/>
        </p:nvSpPr>
        <p:spPr>
          <a:xfrm>
            <a:off x="484632" y="19659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" y="1965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33415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DB 원본과 같음</a:t>
            </a:r>
            <a:endParaRPr lang="ko-KR" alt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404872" y="1965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수정 없음</a:t>
            </a:r>
            <a:endParaRPr lang="ko-KR" altLang="en-US" sz="1150" dirty="0"/>
          </a:p>
        </p:txBody>
      </p:sp>
      <p:sp>
        <p:nvSpPr>
          <p:cNvPr id="12" name="StatusPill"/>
          <p:cNvSpPr/>
          <p:nvPr/>
        </p:nvSpPr>
        <p:spPr>
          <a:xfrm>
            <a:off x="484632" y="244144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" y="2441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92400E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 3칸 (2라인)</a:t>
            </a:r>
            <a:endParaRPr lang="ko-KR" alt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404872" y="2441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값이 바뀐 칸 / 라인 수</a:t>
            </a:r>
            <a:endParaRPr lang="ko-KR" altLang="en-US" sz="1150" dirty="0"/>
          </a:p>
        </p:txBody>
      </p:sp>
      <p:sp>
        <p:nvSpPr>
          <p:cNvPr id="15" name="StatusPill"/>
          <p:cNvSpPr/>
          <p:nvPr/>
        </p:nvSpPr>
        <p:spPr>
          <a:xfrm>
            <a:off x="484632" y="291693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4632" y="2916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155E7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추가 1라인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404872" y="2916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새로 넣은 라인</a:t>
            </a:r>
            <a:endParaRPr lang="ko-KR" altLang="en-US" sz="1150" dirty="0"/>
          </a:p>
        </p:txBody>
      </p:sp>
      <p:sp>
        <p:nvSpPr>
          <p:cNvPr id="18" name="StatusPill"/>
          <p:cNvSpPr/>
          <p:nvPr/>
        </p:nvSpPr>
        <p:spPr>
          <a:xfrm>
            <a:off x="484632" y="339242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4632" y="3392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991B1B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삭제 1라인</a:t>
            </a:r>
            <a:endParaRPr lang="ko-KR" alt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404872" y="33924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지운 라인</a:t>
            </a:r>
            <a:endParaRPr lang="ko-KR" altLang="en-US" sz="1150" dirty="0"/>
          </a:p>
        </p:txBody>
      </p:sp>
      <p:sp>
        <p:nvSpPr>
          <p:cNvPr id="21" name="StatusPill"/>
          <p:cNvSpPr/>
          <p:nvPr/>
        </p:nvSpPr>
        <p:spPr>
          <a:xfrm>
            <a:off x="484632" y="386791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" y="3867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92400E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순서 변경</a:t>
            </a:r>
            <a:endParaRPr lang="ko-KR" alt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404872" y="38679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라인 순서가 DB 원본과 다름</a:t>
            </a:r>
            <a:endParaRPr lang="ko-KR" altLang="en-US" sz="1150" dirty="0"/>
          </a:p>
        </p:txBody>
      </p:sp>
      <p:sp>
        <p:nvSpPr>
          <p:cNvPr id="24" name="SectionPill"/>
          <p:cNvSpPr/>
          <p:nvPr/>
        </p:nvSpPr>
        <p:spPr>
          <a:xfrm>
            <a:off x="5148072" y="1508760"/>
            <a:ext cx="2011680" cy="301752"/>
          </a:xfrm>
          <a:prstGeom prst="roundRect">
            <a:avLst>
              <a:gd name="adj" fmla="val 48485"/>
            </a:avLst>
          </a:prstGeom>
          <a:solidFill>
            <a:srgbClr val="E9F5E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148072" y="15087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버튼</a:t>
            </a:r>
            <a:endParaRPr lang="ko-KR" alt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8072" y="1965960"/>
          <a:ext cx="506577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5409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버튼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설명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+ SPEC 열 / + KEY 열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조건 · 결과 열 한 쌍 추가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− 100% +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편집 표 확대/축소 (Ctrl+휠)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B91C1C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DB 원본으로 되돌리기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모든 수정을 버리고 DB 원본을 다시 불러옴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범례 / 단축키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색 의미와 단축키 안내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OutlineBox"/>
          <p:cNvSpPr/>
          <p:nvPr/>
        </p:nvSpPr>
        <p:spPr>
          <a:xfrm>
            <a:off x="484632" y="4572000"/>
            <a:ext cx="9729216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22934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58952" y="4754880"/>
            <a:ext cx="9180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 내용은 어디에도 저장되지 않습니다</a:t>
            </a:r>
            <a:endParaRPr lang="ko-KR" alt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58952" y="5138928"/>
            <a:ext cx="9180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새로고침하거나 다른 PID 를 불러오면 사라집니다 (떠나기 전 확인 창이 뜸)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남기려면 편집 표에서 셀을 선택해 Ctrl+C → 엑셀에 붙여넣어 보관하세요</a:t>
            </a:r>
            <a:endParaRPr lang="ko-KR" altLang="en-US" sz="1250" dirty="0"/>
          </a:p>
        </p:txBody>
      </p:sp>
      <p:sp>
        <p:nvSpPr>
          <p:cNvPr id="30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다시 쓸 때는 PID 를 불러온 뒤, 보관한 내용을 편집 표에 붙여넣으면 됩니다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4. 디버그 패널 — 메인 화면 읽는 법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실행하면 편집 표에 결과가 칠해지고, 아래 디버그 패널 머리줄에 요약과 단계 이동이 표시됩니다.</a:t>
            </a:r>
            <a:endParaRPr lang="ko-KR" altLang="en-US" sz="1250" dirty="0"/>
          </a:p>
        </p:txBody>
      </p:sp>
      <p:pic>
        <p:nvPicPr>
          <p:cNvPr id="7" name="Screenshot" descr="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63040"/>
            <a:ext cx="6400800" cy="3666233"/>
          </a:xfrm>
          <a:prstGeom prst="rect">
            <a:avLst/>
          </a:prstGeom>
        </p:spPr>
      </p:pic>
      <p:sp>
        <p:nvSpPr>
          <p:cNvPr id="8" name="ScreenshotFrame"/>
          <p:cNvSpPr/>
          <p:nvPr/>
        </p:nvSpPr>
        <p:spPr>
          <a:xfrm>
            <a:off x="484632" y="1463040"/>
            <a:ext cx="6400800" cy="3666233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725175" y="258488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5175" y="25848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/>
          <p:cNvSpPr/>
          <p:nvPr/>
        </p:nvSpPr>
        <p:spPr>
          <a:xfrm>
            <a:off x="3167651" y="3869077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167651" y="38690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/>
          <p:cNvSpPr/>
          <p:nvPr/>
        </p:nvSpPr>
        <p:spPr>
          <a:xfrm>
            <a:off x="458265" y="361727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8265" y="36172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Num4"/>
          <p:cNvSpPr/>
          <p:nvPr/>
        </p:nvSpPr>
        <p:spPr>
          <a:xfrm>
            <a:off x="1102877" y="468995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02877" y="4689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17" name="Num5"/>
          <p:cNvSpPr/>
          <p:nvPr/>
        </p:nvSpPr>
        <p:spPr>
          <a:xfrm>
            <a:off x="4577741" y="468995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7741" y="4689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19" name="Num6"/>
          <p:cNvSpPr/>
          <p:nvPr/>
        </p:nvSpPr>
        <p:spPr>
          <a:xfrm>
            <a:off x="6466254" y="468995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66254" y="4689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21" name="Num1"/>
          <p:cNvSpPr/>
          <p:nvPr/>
        </p:nvSpPr>
        <p:spPr>
          <a:xfrm>
            <a:off x="7114032" y="146304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11403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0" y="1444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단계 · 결과</a:t>
            </a:r>
            <a:endParaRPr lang="ko-KR" alt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177393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순서 + 결과. 초록 TRUE · 빨강 FALSE</a:t>
            </a:r>
            <a:endParaRPr lang="ko-KR" altLang="en-US" sz="1100" dirty="0"/>
          </a:p>
        </p:txBody>
      </p:sp>
      <p:sp>
        <p:nvSpPr>
          <p:cNvPr id="25" name="Num2"/>
          <p:cNvSpPr/>
          <p:nvPr/>
        </p:nvSpPr>
        <p:spPr>
          <a:xfrm>
            <a:off x="7114032" y="221284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114032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7498080" y="219456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칸 ✓ / ✗</a:t>
            </a:r>
            <a:endParaRPr lang="ko-KR" alt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498080" y="252374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✓ 일치 · ✗ 불일치. 마우스를 올리면 그 시점 값</a:t>
            </a:r>
            <a:endParaRPr lang="ko-KR" altLang="en-US" sz="1100" dirty="0"/>
          </a:p>
        </p:txBody>
      </p:sp>
      <p:sp>
        <p:nvSpPr>
          <p:cNvPr id="29" name="Num3"/>
          <p:cNvSpPr/>
          <p:nvPr/>
        </p:nvSpPr>
        <p:spPr>
          <a:xfrm>
            <a:off x="7114032" y="296265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114032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498080" y="294436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보라 테두리</a:t>
            </a:r>
            <a:endParaRPr lang="ko-KR" alt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327355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지금 보고 있는 단계의 라인</a:t>
            </a:r>
            <a:endParaRPr lang="ko-KR" altLang="en-US" sz="1100" dirty="0"/>
          </a:p>
        </p:txBody>
      </p:sp>
      <p:sp>
        <p:nvSpPr>
          <p:cNvPr id="33" name="Num4"/>
          <p:cNvSpPr/>
          <p:nvPr/>
        </p:nvSpPr>
        <p:spPr>
          <a:xfrm>
            <a:off x="7114032" y="3712464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114032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7498080" y="3694176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실행 요약</a:t>
            </a:r>
            <a:endParaRPr lang="ko-KR" alt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7498080" y="402336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건수 · 실행 시간. "수정 후 미실행"이면 다시 실행</a:t>
            </a:r>
            <a:endParaRPr lang="ko-KR" altLang="en-US" sz="1100" dirty="0"/>
          </a:p>
        </p:txBody>
      </p:sp>
      <p:sp>
        <p:nvSpPr>
          <p:cNvPr id="37" name="Num5"/>
          <p:cNvSpPr/>
          <p:nvPr/>
        </p:nvSpPr>
        <p:spPr>
          <a:xfrm>
            <a:off x="7114032" y="446227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114032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7498080" y="444398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단계 이동</a:t>
            </a:r>
            <a:endParaRPr lang="ko-KR" altLang="en-US" sz="1250" dirty="0"/>
          </a:p>
        </p:txBody>
      </p:sp>
      <p:sp>
        <p:nvSpPr>
          <p:cNvPr id="40" name="Text 36"/>
          <p:cNvSpPr txBox="1"/>
          <p:nvPr/>
        </p:nvSpPr>
        <p:spPr>
          <a:xfrm>
            <a:off x="7498080" y="47731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|◀ ◀ ▶ ▶| 또는 F10. 예: 단계 12 / 19 · NO 12</a:t>
            </a:r>
            <a:endParaRPr lang="ko-KR" altLang="en-US" sz="1100" dirty="0"/>
          </a:p>
        </p:txBody>
      </p:sp>
      <p:sp>
        <p:nvSpPr>
          <p:cNvPr id="41" name="Num6"/>
          <p:cNvSpPr/>
          <p:nvPr/>
        </p:nvSpPr>
        <p:spPr>
          <a:xfrm>
            <a:off x="7114032" y="521208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114032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7498080" y="519379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펼치기</a:t>
            </a:r>
            <a:endParaRPr lang="ko-KR" altLang="en-US" sz="1250" dirty="0"/>
          </a:p>
        </p:txBody>
      </p:sp>
      <p:sp>
        <p:nvSpPr>
          <p:cNvPr id="44" name="Text 40"/>
          <p:cNvSpPr txBox="1"/>
          <p:nvPr/>
        </p:nvSpPr>
        <p:spPr>
          <a:xfrm>
            <a:off x="7498080" y="552297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디버그 패널을 열어 상세 탭 보기</a:t>
            </a:r>
            <a:endParaRPr lang="ko-KR" altLang="en-US" sz="1100" dirty="0"/>
          </a:p>
        </p:txBody>
      </p:sp>
      <p:sp>
        <p:nvSpPr>
          <p:cNvPr id="45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단계 = 실제로 실행된 라인의 순서. 단계를 옮기면 편집 표와 모든 탭이 그 라인을 따라갑니다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4. 디버그 패널 — 펼치기 → 라인별 결과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[펼치기]를 누르면 결과 탭이 열립니다. 첫 탭인 라인별 결과에서 라인마다 조건 비교를 봅니다.</a:t>
            </a:r>
            <a:endParaRPr lang="ko-KR" altLang="en-US" sz="1250" dirty="0"/>
          </a:p>
        </p:txBody>
      </p:sp>
      <p:pic>
        <p:nvPicPr>
          <p:cNvPr id="7" name="Screenshot" descr="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63040"/>
            <a:ext cx="6400800" cy="3014386"/>
          </a:xfrm>
          <a:prstGeom prst="rect">
            <a:avLst/>
          </a:prstGeom>
        </p:spPr>
      </p:pic>
      <p:sp>
        <p:nvSpPr>
          <p:cNvPr id="8" name="ScreenshotFrame"/>
          <p:cNvSpPr/>
          <p:nvPr/>
        </p:nvSpPr>
        <p:spPr>
          <a:xfrm>
            <a:off x="484632" y="1463040"/>
            <a:ext cx="6400800" cy="3014386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3209231" y="264705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09231" y="26470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/>
          <p:cNvSpPr/>
          <p:nvPr/>
        </p:nvSpPr>
        <p:spPr>
          <a:xfrm>
            <a:off x="2589183" y="275675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589183" y="27567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/>
          <p:cNvSpPr/>
          <p:nvPr/>
        </p:nvSpPr>
        <p:spPr>
          <a:xfrm>
            <a:off x="3996214" y="275675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96214" y="27567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Num4"/>
          <p:cNvSpPr/>
          <p:nvPr/>
        </p:nvSpPr>
        <p:spPr>
          <a:xfrm>
            <a:off x="6500253" y="264228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00253" y="26422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17" name="Num5"/>
          <p:cNvSpPr/>
          <p:nvPr/>
        </p:nvSpPr>
        <p:spPr>
          <a:xfrm>
            <a:off x="3996214" y="297616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996214" y="29761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19" name="Num6"/>
          <p:cNvSpPr/>
          <p:nvPr/>
        </p:nvSpPr>
        <p:spPr>
          <a:xfrm>
            <a:off x="4807046" y="314786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807046" y="31478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21" name="Num7"/>
          <p:cNvSpPr/>
          <p:nvPr/>
        </p:nvSpPr>
        <p:spPr>
          <a:xfrm>
            <a:off x="3209231" y="356759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09231" y="35675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7</a:t>
            </a:r>
            <a:endParaRPr lang="ko-KR" altLang="en-US" sz="1100" dirty="0"/>
          </a:p>
        </p:txBody>
      </p:sp>
      <p:sp>
        <p:nvSpPr>
          <p:cNvPr id="23" name="Num1"/>
          <p:cNvSpPr/>
          <p:nvPr/>
        </p:nvSpPr>
        <p:spPr>
          <a:xfrm>
            <a:off x="7114032" y="146304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11403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498080" y="1444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경계선</a:t>
            </a:r>
            <a:endParaRPr lang="ko-KR" alt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7498080" y="177393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끌어서 높이 조절 · 더블클릭 크게/작게</a:t>
            </a:r>
            <a:endParaRPr lang="ko-KR" altLang="en-US" sz="1100" dirty="0"/>
          </a:p>
        </p:txBody>
      </p:sp>
      <p:sp>
        <p:nvSpPr>
          <p:cNvPr id="27" name="Num2"/>
          <p:cNvSpPr/>
          <p:nvPr/>
        </p:nvSpPr>
        <p:spPr>
          <a:xfrm>
            <a:off x="7114032" y="217627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114032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215798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실행 요약</a:t>
            </a:r>
            <a:endParaRPr lang="ko-KR" alt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7498080" y="248716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결과 건수 · 공사번호 · 실행 시간</a:t>
            </a:r>
            <a:endParaRPr lang="ko-KR" altLang="en-US" sz="1100" dirty="0"/>
          </a:p>
        </p:txBody>
      </p:sp>
      <p:sp>
        <p:nvSpPr>
          <p:cNvPr id="31" name="Num3"/>
          <p:cNvSpPr/>
          <p:nvPr/>
        </p:nvSpPr>
        <p:spPr>
          <a:xfrm>
            <a:off x="7114032" y="2889504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11403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498080" y="2871216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단계 이동</a:t>
            </a:r>
            <a:endParaRPr lang="ko-KR" alt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7498080" y="3200400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단계 5 / 19 · MAIN TRUE = 현재 라인</a:t>
            </a:r>
            <a:endParaRPr lang="ko-KR" altLang="en-US" sz="1100" dirty="0"/>
          </a:p>
        </p:txBody>
      </p:sp>
      <p:sp>
        <p:nvSpPr>
          <p:cNvPr id="35" name="Num4"/>
          <p:cNvSpPr/>
          <p:nvPr/>
        </p:nvSpPr>
        <p:spPr>
          <a:xfrm>
            <a:off x="7114032" y="360273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114032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498080" y="358444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접기</a:t>
            </a:r>
            <a:endParaRPr lang="ko-KR" altLang="en-US" sz="1250" dirty="0"/>
          </a:p>
        </p:txBody>
      </p:sp>
      <p:sp>
        <p:nvSpPr>
          <p:cNvPr id="38" name="Text 34"/>
          <p:cNvSpPr txBox="1"/>
          <p:nvPr/>
        </p:nvSpPr>
        <p:spPr>
          <a:xfrm>
            <a:off x="7498080" y="3913632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패널을 접어 편집 표를 넓게</a:t>
            </a:r>
            <a:endParaRPr lang="ko-KR" altLang="en-US" sz="1100" dirty="0"/>
          </a:p>
        </p:txBody>
      </p:sp>
      <p:sp>
        <p:nvSpPr>
          <p:cNvPr id="39" name="Num5"/>
          <p:cNvSpPr/>
          <p:nvPr/>
        </p:nvSpPr>
        <p:spPr>
          <a:xfrm>
            <a:off x="7114032" y="43159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114032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7498080" y="429768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탭</a:t>
            </a:r>
            <a:endParaRPr lang="ko-KR" altLang="en-US" sz="1250" dirty="0"/>
          </a:p>
        </p:txBody>
      </p:sp>
      <p:sp>
        <p:nvSpPr>
          <p:cNvPr id="42" name="Text 38"/>
          <p:cNvSpPr txBox="1"/>
          <p:nvPr/>
        </p:nvSpPr>
        <p:spPr>
          <a:xfrm>
            <a:off x="7498080" y="462686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숫자는 건수 (변수 139, 하위 PID 17)</a:t>
            </a:r>
            <a:endParaRPr lang="ko-KR" altLang="en-US" sz="1100" dirty="0"/>
          </a:p>
        </p:txBody>
      </p:sp>
      <p:sp>
        <p:nvSpPr>
          <p:cNvPr id="43" name="Num6"/>
          <p:cNvSpPr/>
          <p:nvPr/>
        </p:nvSpPr>
        <p:spPr>
          <a:xfrm>
            <a:off x="7114032" y="502920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114032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7498080" y="501091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필터 · 검색</a:t>
            </a:r>
            <a:endParaRPr lang="ko-KR" altLang="en-US" sz="1250" dirty="0"/>
          </a:p>
        </p:txBody>
      </p:sp>
      <p:sp>
        <p:nvSpPr>
          <p:cNvPr id="46" name="Text 42"/>
          <p:cNvSpPr txBox="1"/>
          <p:nvPr/>
        </p:nvSpPr>
        <p:spPr>
          <a:xfrm>
            <a:off x="7498080" y="534009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결과별 필터 · 값이 바뀐 라인만 · 키워드</a:t>
            </a:r>
            <a:endParaRPr lang="ko-KR" altLang="en-US" sz="1100" dirty="0"/>
          </a:p>
        </p:txBody>
      </p:sp>
      <p:sp>
        <p:nvSpPr>
          <p:cNvPr id="47" name="Num7"/>
          <p:cNvSpPr/>
          <p:nvPr/>
        </p:nvSpPr>
        <p:spPr>
          <a:xfrm>
            <a:off x="7114032" y="574243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114032" y="5742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7</a:t>
            </a:r>
            <a:endParaRPr lang="ko-KR" alt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7498080" y="572414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칩</a:t>
            </a:r>
            <a:endParaRPr lang="ko-KR" altLang="en-US" sz="1250" dirty="0"/>
          </a:p>
        </p:txBody>
      </p:sp>
      <p:sp>
        <p:nvSpPr>
          <p:cNvPr id="50" name="Text 46"/>
          <p:cNvSpPr txBox="1"/>
          <p:nvPr/>
        </p:nvSpPr>
        <p:spPr>
          <a:xfrm>
            <a:off x="7498080" y="605332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[ ] 안 = 그 시점 실제 값 (아래 예시)</a:t>
            </a:r>
            <a:endParaRPr lang="ko-KR" altLang="en-US" sz="1100" dirty="0"/>
          </a:p>
        </p:txBody>
      </p:sp>
      <p:sp>
        <p:nvSpPr>
          <p:cNvPr id="51" name="OutlineBox"/>
          <p:cNvSpPr/>
          <p:nvPr/>
        </p:nvSpPr>
        <p:spPr>
          <a:xfrm>
            <a:off x="484632" y="4706026"/>
            <a:ext cx="6400800" cy="2472014"/>
          </a:xfrm>
          <a:prstGeom prst="roundRect">
            <a:avLst>
              <a:gd name="adj" fmla="val 1850"/>
            </a:avLst>
          </a:prstGeom>
          <a:solidFill>
            <a:srgbClr val="FFFFFF"/>
          </a:solidFill>
          <a:ln w="15875">
            <a:solidFill>
              <a:srgbClr val="229345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758952" y="488890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칩 읽는 법</a:t>
            </a:r>
            <a:endParaRPr lang="ko-KR" altLang="en-US" sz="1400" dirty="0"/>
          </a:p>
        </p:txBody>
      </p:sp>
      <p:sp>
        <p:nvSpPr>
          <p:cNvPr id="53" name="Text 49"/>
          <p:cNvSpPr txBox="1"/>
          <p:nvPr/>
        </p:nvSpPr>
        <p:spPr>
          <a:xfrm>
            <a:off x="758952" y="5272954"/>
            <a:ext cx="5852160" cy="174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B91C1C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✗ PICK = EL_PB189C99 [(빈 값)]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조건은 PICK 이 EL_PB189C99 여야 하는데, 이 라인을 실행할 때 PICK 값이 비어 있어 불일치 → FALSE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4. 디버그 패널 — 최종 OUTPUT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해당 PID 의 변수(KEY) 전체 값을 보여줍니다. 실행이 모두 끝난 뒤의 값입니다.</a:t>
            </a:r>
            <a:endParaRPr lang="ko-KR" altLang="en-US" sz="1250" dirty="0"/>
          </a:p>
        </p:txBody>
      </p:sp>
      <p:pic>
        <p:nvPicPr>
          <p:cNvPr id="7" name="Screenshot" descr="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63040"/>
            <a:ext cx="9729216" cy="3097316"/>
          </a:xfrm>
          <a:prstGeom prst="rect">
            <a:avLst/>
          </a:prstGeom>
        </p:spPr>
      </p:pic>
      <p:sp>
        <p:nvSpPr>
          <p:cNvPr id="8" name="ScreenshotFrame"/>
          <p:cNvSpPr/>
          <p:nvPr/>
        </p:nvSpPr>
        <p:spPr>
          <a:xfrm>
            <a:off x="484632" y="1463040"/>
            <a:ext cx="9729216" cy="3097316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2788886" y="165383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788886" y="16538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/>
          <p:cNvSpPr/>
          <p:nvPr/>
        </p:nvSpPr>
        <p:spPr>
          <a:xfrm>
            <a:off x="2533813" y="2076524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533813" y="2076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/>
          <p:cNvSpPr/>
          <p:nvPr/>
        </p:nvSpPr>
        <p:spPr>
          <a:xfrm>
            <a:off x="1841471" y="271056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841471" y="27105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MarkCard"/>
          <p:cNvSpPr/>
          <p:nvPr/>
        </p:nvSpPr>
        <p:spPr>
          <a:xfrm>
            <a:off x="484632" y="4788956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6" name="Num1"/>
          <p:cNvSpPr/>
          <p:nvPr/>
        </p:nvSpPr>
        <p:spPr>
          <a:xfrm>
            <a:off x="621792" y="492611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" y="492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87552" y="4907828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최종 OUTPUT 탭</a:t>
            </a:r>
            <a:endParaRPr lang="ko-KR" alt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5291876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실행이 끝난 뒤 남은 변수(KEY) 전체 값. 탭 옆 숫자가 건수 (예: 140건)</a:t>
            </a:r>
            <a:endParaRPr lang="ko-KR" altLang="en-US" sz="1100" dirty="0"/>
          </a:p>
        </p:txBody>
      </p:sp>
      <p:sp>
        <p:nvSpPr>
          <p:cNvPr id="20" name="MarkCard"/>
          <p:cNvSpPr/>
          <p:nvPr/>
        </p:nvSpPr>
        <p:spPr>
          <a:xfrm>
            <a:off x="3788664" y="4788956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1" name="Num2"/>
          <p:cNvSpPr/>
          <p:nvPr/>
        </p:nvSpPr>
        <p:spPr>
          <a:xfrm>
            <a:off x="3925824" y="492611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925824" y="492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291584" y="4907828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키 / 값 검색</a:t>
            </a:r>
            <a:endParaRPr lang="ko-KR" alt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3925824" y="5291876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KEY 이름이나 값 일부를 입력하면 해당 줄만 표시</a:t>
            </a:r>
            <a:endParaRPr lang="ko-KR" altLang="en-US" sz="1100" dirty="0"/>
          </a:p>
        </p:txBody>
      </p:sp>
      <p:sp>
        <p:nvSpPr>
          <p:cNvPr id="25" name="MarkCard"/>
          <p:cNvSpPr/>
          <p:nvPr/>
        </p:nvSpPr>
        <p:spPr>
          <a:xfrm>
            <a:off x="7092696" y="4788956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6" name="Num3"/>
          <p:cNvSpPr/>
          <p:nvPr/>
        </p:nvSpPr>
        <p:spPr>
          <a:xfrm>
            <a:off x="7229856" y="492611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229856" y="492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595616" y="4907828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변수 탭과 차이</a:t>
            </a:r>
            <a:endParaRPr lang="ko-KR" alt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229856" y="5291876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변수 = 지금 단계까지의 값, 최종 OUTPUT = 끝까지 실행한 값</a:t>
            </a:r>
            <a:endParaRPr lang="ko-KR" altLang="en-US" sz="1100" dirty="0"/>
          </a:p>
        </p:txBody>
      </p:sp>
      <p:sp>
        <p:nvSpPr>
          <p:cNvPr id="30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"결과값이 왜 이렇게 나왔지?" → 최종 OUTPUT 에서 값 확인 → 변수 탭에서 언제 바뀌었는지 추적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4. 디버그 패널 — 최종 영업사양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입력한 공사번호의 영업사양 값을 봅니다. 조건이 왜 안 맞았는지 확인할 때 씁니다.</a:t>
            </a:r>
            <a:endParaRPr lang="ko-KR" altLang="en-US" sz="1250" dirty="0"/>
          </a:p>
        </p:txBody>
      </p:sp>
      <p:pic>
        <p:nvPicPr>
          <p:cNvPr id="7" name="Screenshot" descr="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63040"/>
            <a:ext cx="9729216" cy="3189668"/>
          </a:xfrm>
          <a:prstGeom prst="rect">
            <a:avLst/>
          </a:prstGeom>
        </p:spPr>
      </p:pic>
      <p:sp>
        <p:nvSpPr>
          <p:cNvPr id="8" name="ScreenshotFrame"/>
          <p:cNvSpPr/>
          <p:nvPr/>
        </p:nvSpPr>
        <p:spPr>
          <a:xfrm>
            <a:off x="484632" y="1463040"/>
            <a:ext cx="9729216" cy="3189668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3770175" y="170456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770175" y="17045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/>
          <p:cNvSpPr/>
          <p:nvPr/>
        </p:nvSpPr>
        <p:spPr>
          <a:xfrm>
            <a:off x="4134293" y="219247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34293" y="21924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/>
          <p:cNvSpPr/>
          <p:nvPr/>
        </p:nvSpPr>
        <p:spPr>
          <a:xfrm>
            <a:off x="4134293" y="2556597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34293" y="25565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MarkCard"/>
          <p:cNvSpPr/>
          <p:nvPr/>
        </p:nvSpPr>
        <p:spPr>
          <a:xfrm>
            <a:off x="484632" y="4881308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6" name="Num1"/>
          <p:cNvSpPr/>
          <p:nvPr/>
        </p:nvSpPr>
        <p:spPr>
          <a:xfrm>
            <a:off x="621792" y="50184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" y="5018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87552" y="50001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최종 영업사양 탭</a:t>
            </a:r>
            <a:endParaRPr lang="ko-KR" alt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5384228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공사번호의 영업사양(특성코드 = 값) 전체. PID 실행 후 기준 (예: 1113건)</a:t>
            </a:r>
            <a:endParaRPr lang="ko-KR" altLang="en-US" sz="1100" dirty="0"/>
          </a:p>
        </p:txBody>
      </p:sp>
      <p:sp>
        <p:nvSpPr>
          <p:cNvPr id="20" name="MarkCard"/>
          <p:cNvSpPr/>
          <p:nvPr/>
        </p:nvSpPr>
        <p:spPr>
          <a:xfrm>
            <a:off x="3788664" y="4881308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1" name="Num2"/>
          <p:cNvSpPr/>
          <p:nvPr/>
        </p:nvSpPr>
        <p:spPr>
          <a:xfrm>
            <a:off x="3925824" y="50184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925824" y="5018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291584" y="50001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(빈 값)</a:t>
            </a:r>
            <a:endParaRPr lang="ko-KR" alt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3925824" y="5384228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해당 특성코드에 값이 없는 경우. 조건 불일치 원인을 찾을 때 확인</a:t>
            </a:r>
            <a:endParaRPr lang="ko-KR" altLang="en-US" sz="1100" dirty="0"/>
          </a:p>
        </p:txBody>
      </p:sp>
      <p:sp>
        <p:nvSpPr>
          <p:cNvPr id="25" name="MarkCard"/>
          <p:cNvSpPr/>
          <p:nvPr/>
        </p:nvSpPr>
        <p:spPr>
          <a:xfrm>
            <a:off x="7092696" y="4881308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6" name="Num3"/>
          <p:cNvSpPr/>
          <p:nvPr/>
        </p:nvSpPr>
        <p:spPr>
          <a:xfrm>
            <a:off x="7229856" y="50184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229856" y="5018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595616" y="50001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값 확인 · 검색</a:t>
            </a:r>
            <a:endParaRPr lang="ko-KR" alt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229856" y="5384228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탭 위쪽 검색창에서 특성코드나 값으로 찾기</a:t>
            </a:r>
            <a:endParaRPr lang="ko-KR" altLang="en-US" sz="1100" dirty="0"/>
          </a:p>
        </p:txBody>
      </p:sp>
      <p:sp>
        <p:nvSpPr>
          <p:cNvPr id="30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칩에 (빈 값) 이 보이면, 여기서 해당 특성코드의 값이 정말 비어 있는지 확인하세요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4. 디버그 패널 — 하위 PID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이 로직에서 CALL 한 하위 PID 전체를 보여줍니다. 호출 횟수와 깊이를 추적할 수 있습니다.</a:t>
            </a:r>
            <a:endParaRPr lang="ko-KR" altLang="en-US" sz="1250" dirty="0"/>
          </a:p>
        </p:txBody>
      </p:sp>
      <p:pic>
        <p:nvPicPr>
          <p:cNvPr id="7" name="Screenshot" descr="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63040"/>
            <a:ext cx="9729216" cy="3398313"/>
          </a:xfrm>
          <a:prstGeom prst="rect">
            <a:avLst/>
          </a:prstGeom>
        </p:spPr>
      </p:pic>
      <p:sp>
        <p:nvSpPr>
          <p:cNvPr id="8" name="ScreenshotFrame"/>
          <p:cNvSpPr/>
          <p:nvPr/>
        </p:nvSpPr>
        <p:spPr>
          <a:xfrm>
            <a:off x="484632" y="1463040"/>
            <a:ext cx="9729216" cy="3398313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1293469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293469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/>
          <p:cNvSpPr/>
          <p:nvPr/>
        </p:nvSpPr>
        <p:spPr>
          <a:xfrm>
            <a:off x="5004688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04688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/>
          <p:cNvSpPr/>
          <p:nvPr/>
        </p:nvSpPr>
        <p:spPr>
          <a:xfrm>
            <a:off x="7042220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42220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Num4"/>
          <p:cNvSpPr/>
          <p:nvPr/>
        </p:nvSpPr>
        <p:spPr>
          <a:xfrm>
            <a:off x="9043368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043368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17" name="Num5"/>
          <p:cNvSpPr/>
          <p:nvPr/>
        </p:nvSpPr>
        <p:spPr>
          <a:xfrm>
            <a:off x="9843827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843827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19" name="MarkCard"/>
          <p:cNvSpPr/>
          <p:nvPr/>
        </p:nvSpPr>
        <p:spPr>
          <a:xfrm>
            <a:off x="484632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0" name="Num1"/>
          <p:cNvSpPr/>
          <p:nvPr/>
        </p:nvSpPr>
        <p:spPr>
          <a:xfrm>
            <a:off x="621792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87552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하위 PID</a:t>
            </a:r>
            <a:endParaRPr lang="ko-KR" alt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21792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↳ 가 많을수록 깊이 호출된 PID</a:t>
            </a:r>
            <a:endParaRPr lang="ko-KR" altLang="en-US" sz="1100" dirty="0"/>
          </a:p>
        </p:txBody>
      </p:sp>
      <p:sp>
        <p:nvSpPr>
          <p:cNvPr id="24" name="MarkCard"/>
          <p:cNvSpPr/>
          <p:nvPr/>
        </p:nvSpPr>
        <p:spPr>
          <a:xfrm>
            <a:off x="2467051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5" name="Num2"/>
          <p:cNvSpPr/>
          <p:nvPr/>
        </p:nvSpPr>
        <p:spPr>
          <a:xfrm>
            <a:off x="2604211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604211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2969971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이름</a:t>
            </a:r>
            <a:endParaRPr lang="ko-KR" alt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2604211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설명</a:t>
            </a:r>
            <a:endParaRPr lang="ko-KR" altLang="en-US" sz="1100" dirty="0"/>
          </a:p>
        </p:txBody>
      </p:sp>
      <p:sp>
        <p:nvSpPr>
          <p:cNvPr id="29" name="MarkCard"/>
          <p:cNvSpPr/>
          <p:nvPr/>
        </p:nvSpPr>
        <p:spPr>
          <a:xfrm>
            <a:off x="4449470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30" name="Num3"/>
          <p:cNvSpPr/>
          <p:nvPr/>
        </p:nvSpPr>
        <p:spPr>
          <a:xfrm>
            <a:off x="4586630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86630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952390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실행 버전</a:t>
            </a:r>
            <a:endParaRPr lang="ko-KR" alt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4586630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하위 PID 는 항상 최신 버전으로 실행</a:t>
            </a:r>
            <a:endParaRPr lang="ko-KR" altLang="en-US" sz="1100" dirty="0"/>
          </a:p>
        </p:txBody>
      </p:sp>
      <p:sp>
        <p:nvSpPr>
          <p:cNvPr id="34" name="MarkCard"/>
          <p:cNvSpPr/>
          <p:nvPr/>
        </p:nvSpPr>
        <p:spPr>
          <a:xfrm>
            <a:off x="6431890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35" name="Num4"/>
          <p:cNvSpPr/>
          <p:nvPr/>
        </p:nvSpPr>
        <p:spPr>
          <a:xfrm>
            <a:off x="6569050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569050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934810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호출</a:t>
            </a:r>
            <a:endParaRPr lang="ko-KR" altLang="en-US" sz="1250" dirty="0"/>
          </a:p>
        </p:txBody>
      </p:sp>
      <p:sp>
        <p:nvSpPr>
          <p:cNvPr id="38" name="Text 34"/>
          <p:cNvSpPr txBox="1"/>
          <p:nvPr/>
        </p:nvSpPr>
        <p:spPr>
          <a:xfrm>
            <a:off x="6569050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중 CALL 된 횟수</a:t>
            </a:r>
            <a:endParaRPr lang="ko-KR" altLang="en-US" sz="1100" dirty="0"/>
          </a:p>
        </p:txBody>
      </p:sp>
      <p:sp>
        <p:nvSpPr>
          <p:cNvPr id="39" name="MarkCard"/>
          <p:cNvSpPr/>
          <p:nvPr/>
        </p:nvSpPr>
        <p:spPr>
          <a:xfrm>
            <a:off x="8414309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40" name="Num5"/>
          <p:cNvSpPr/>
          <p:nvPr/>
        </p:nvSpPr>
        <p:spPr>
          <a:xfrm>
            <a:off x="8551469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551469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8917229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깊이</a:t>
            </a:r>
            <a:endParaRPr lang="ko-KR" altLang="en-US" sz="1250" dirty="0"/>
          </a:p>
        </p:txBody>
      </p:sp>
      <p:sp>
        <p:nvSpPr>
          <p:cNvPr id="43" name="Text 39"/>
          <p:cNvSpPr txBox="1"/>
          <p:nvPr/>
        </p:nvSpPr>
        <p:spPr>
          <a:xfrm>
            <a:off x="8551469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호출 단계. 실패하면 오른쪽에 오류 표시</a:t>
            </a:r>
            <a:endParaRPr lang="ko-KR" altLang="en-US" sz="1100" dirty="0"/>
          </a:p>
        </p:txBody>
      </p:sp>
      <p:sp>
        <p:nvSpPr>
          <p:cNvPr id="44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같은 PID 가 여러 번 호출되거나 깊이가 깊으면 실행 시간이 길어질 수 있습니다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4. 디버그 패널 — 라인 상세 · 변수 · 변경 내역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라인 하나를 자세히 보거나, 단계별 값 변화와 고친 내용을 확인하는 탭입니다.</a:t>
            </a:r>
            <a:endParaRPr lang="ko-KR" altLang="en-US" sz="1250" dirty="0"/>
          </a:p>
        </p:txBody>
      </p:sp>
      <p:sp>
        <p:nvSpPr>
          <p:cNvPr id="7" name="BoxHead"/>
          <p:cNvSpPr/>
          <p:nvPr/>
        </p:nvSpPr>
        <p:spPr>
          <a:xfrm>
            <a:off x="484632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라인 상세</a:t>
            </a:r>
            <a:endParaRPr lang="ko-KR" altLang="en-US" sz="1250" dirty="0"/>
          </a:p>
        </p:txBody>
      </p:sp>
      <p:sp>
        <p:nvSpPr>
          <p:cNvPr id="9" name="BoxBody"/>
          <p:cNvSpPr/>
          <p:nvPr/>
        </p:nvSpPr>
        <p:spPr>
          <a:xfrm>
            <a:off x="484632" y="1892808"/>
            <a:ext cx="3121152" cy="281635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" y="2057400"/>
            <a:ext cx="2755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라인별 결과에서 줄을 더블클릭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조건마다 그 시점 값 · CON 계산값 · 일치/불일치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이 라인으로 바뀐 값 (이전 → 이후)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CALL 라인이면 하위 PID 실행 직후 resultMap</a:t>
            </a:r>
            <a:endParaRPr lang="ko-KR" altLang="en-US" sz="1250" dirty="0"/>
          </a:p>
        </p:txBody>
      </p:sp>
      <p:sp>
        <p:nvSpPr>
          <p:cNvPr id="11" name="BoxHead"/>
          <p:cNvSpPr/>
          <p:nvPr/>
        </p:nvSpPr>
        <p:spPr>
          <a:xfrm>
            <a:off x="3788664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88664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변수</a:t>
            </a:r>
            <a:endParaRPr lang="ko-KR" altLang="en-US" sz="1250" dirty="0"/>
          </a:p>
        </p:txBody>
      </p:sp>
      <p:sp>
        <p:nvSpPr>
          <p:cNvPr id="13" name="BoxBody"/>
          <p:cNvSpPr/>
          <p:nvPr/>
        </p:nvSpPr>
        <p:spPr>
          <a:xfrm>
            <a:off x="3788664" y="1892808"/>
            <a:ext cx="3121152" cy="281635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71544" y="2057400"/>
            <a:ext cx="2755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지금 단계까지 실행했을 때의 값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노란색 = 이 단계에서 바뀐 값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감시할 키를 넣으면 맨 위에 고정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"단계 N" 클릭 → 그 단계로 이동</a:t>
            </a:r>
            <a:endParaRPr lang="ko-KR" altLang="en-US" sz="1250" dirty="0"/>
          </a:p>
        </p:txBody>
      </p:sp>
      <p:sp>
        <p:nvSpPr>
          <p:cNvPr id="15" name="BoxHead"/>
          <p:cNvSpPr/>
          <p:nvPr/>
        </p:nvSpPr>
        <p:spPr>
          <a:xfrm>
            <a:off x="7092696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92696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변경 내역</a:t>
            </a:r>
            <a:endParaRPr lang="ko-KR" altLang="en-US" sz="1250" dirty="0"/>
          </a:p>
        </p:txBody>
      </p:sp>
      <p:sp>
        <p:nvSpPr>
          <p:cNvPr id="17" name="BoxBody"/>
          <p:cNvSpPr/>
          <p:nvPr/>
        </p:nvSpPr>
        <p:spPr>
          <a:xfrm>
            <a:off x="7092696" y="1892808"/>
            <a:ext cx="3121152" cy="281635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75576" y="2057400"/>
            <a:ext cx="2755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DB 원본 대비 고친 내용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라인 · 칸 · DB 원본 → 수정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추가 · 삭제 · 순서 변경 표시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PLM 에 옮겨 적을 때 참고</a:t>
            </a:r>
            <a:endParaRPr lang="ko-KR" altLang="en-US" sz="1250" dirty="0"/>
          </a:p>
        </p:txBody>
      </p:sp>
      <p:sp>
        <p:nvSpPr>
          <p:cNvPr id="19" name="OutlineBox"/>
          <p:cNvSpPr/>
          <p:nvPr/>
        </p:nvSpPr>
        <p:spPr>
          <a:xfrm>
            <a:off x="484632" y="4937760"/>
            <a:ext cx="972921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293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" y="5120640"/>
            <a:ext cx="9180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변수 탭 기본 사용법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" y="5504688"/>
            <a:ext cx="9180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감시할 키에 EL_A, EL_B 처럼 변수를 넣고</a:t>
            </a:r>
            <a:endParaRPr lang="ko-KR" alt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|◀ 처음으로 간 뒤 F10 으로 한 단계씩 넘기며 노란색으로 바뀌는 단계를 찾습니다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5. 참고 — 단축키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자주 쓰는 동작은 키보드로 할 수 있습니다. 화면의 [단축키] 버튼에도 같은 안내가 있습니다.</a:t>
            </a:r>
            <a:endParaRPr lang="ko-KR" alt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508760"/>
          <a:ext cx="46908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39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키 · 동작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기능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Enter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실행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F10 / Shift + F10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다음 / 이전 단계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Z / Ctrl + Y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되돌리기 / 다시 실행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오른쪽 클릭 (편집 표)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라인 추가 · 복제 · 삭제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행 번호 끌기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라인 순서 변경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라인별 결과 더블클릭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라인 상세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22976" y="1508760"/>
          <a:ext cx="46908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39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키 · 동작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기능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휠 (편집 표 위)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편집 표 확대/축소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휠 · + - 0 (디버그 패널)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결과 표 확대/축소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Esc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팝업 닫기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패널 경계선 더블클릭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패널 크게 ↔ 작게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접기 / 펼치기 버튼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패널 접기 / 펼치기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가장 많이 쓰는 키 : Ctrl+Enter (실행) · F10 (다음 단계)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5. 참고 — 활용 예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Lead"/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자주 하는 작업 세 가지를 순서대로 정리했습니다.</a:t>
            </a:r>
            <a:endParaRPr lang="ko-KR" altLang="en-US" sz="1250" dirty="0"/>
          </a:p>
        </p:txBody>
      </p:sp>
      <p:sp>
        <p:nvSpPr>
          <p:cNvPr id="7" name="BoxHead"/>
          <p:cNvSpPr/>
          <p:nvPr/>
        </p:nvSpPr>
        <p:spPr>
          <a:xfrm>
            <a:off x="484632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바꿔 보기</a:t>
            </a:r>
            <a:endParaRPr lang="ko-KR" altLang="en-US" sz="1250" dirty="0"/>
          </a:p>
        </p:txBody>
      </p:sp>
      <p:sp>
        <p:nvSpPr>
          <p:cNvPr id="9" name="BoxBody"/>
          <p:cNvSpPr/>
          <p:nvPr/>
        </p:nvSpPr>
        <p:spPr>
          <a:xfrm>
            <a:off x="484632" y="1892808"/>
            <a:ext cx="3121152" cy="38221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2148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1</a:t>
            </a:r>
            <a:endParaRPr lang="ko-KR" alt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441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불러오기 → 공사번호 → 실행 (실시간 실행 켬)</a:t>
            </a:r>
            <a:endParaRPr lang="ko-KR" alt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3291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2</a:t>
            </a:r>
            <a:endParaRPr lang="ko-KR" alt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3584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바꿀 CON 셀 수정 → 0.8초 뒤 자동 재실행</a:t>
            </a:r>
            <a:endParaRPr lang="ko-KR" alt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4434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3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4727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최종 OUTPUT 비교, TRUE/FALSE 가 바뀐 라인 확인</a:t>
            </a:r>
            <a:endParaRPr lang="ko-KR" altLang="en-US" sz="1150" dirty="0"/>
          </a:p>
        </p:txBody>
      </p:sp>
      <p:sp>
        <p:nvSpPr>
          <p:cNvPr id="16" name="BoxHead"/>
          <p:cNvSpPr/>
          <p:nvPr/>
        </p:nvSpPr>
        <p:spPr>
          <a:xfrm>
            <a:off x="3788664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788664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변수 추적하기</a:t>
            </a:r>
            <a:endParaRPr lang="ko-KR" altLang="en-US" sz="1250" dirty="0"/>
          </a:p>
        </p:txBody>
      </p:sp>
      <p:sp>
        <p:nvSpPr>
          <p:cNvPr id="18" name="BoxBody"/>
          <p:cNvSpPr/>
          <p:nvPr/>
        </p:nvSpPr>
        <p:spPr>
          <a:xfrm>
            <a:off x="3788664" y="1892808"/>
            <a:ext cx="3121152" cy="38221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017264" y="2148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1</a:t>
            </a:r>
            <a:endParaRPr lang="ko-KR" alt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017264" y="2441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변수 탭 → 감시할 키에 변수 입력</a:t>
            </a:r>
            <a:endParaRPr lang="ko-KR" alt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017264" y="3291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2</a:t>
            </a:r>
            <a:endParaRPr lang="ko-KR" alt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017264" y="3584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|◀ 처음으로 → F10 으로 한 단계씩</a:t>
            </a:r>
            <a:endParaRPr lang="ko-KR" alt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017264" y="4434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3</a:t>
            </a:r>
            <a:endParaRPr lang="ko-KR" alt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017264" y="4727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노란색으로 바뀐 단계에서 라인 상세로 확인</a:t>
            </a:r>
            <a:endParaRPr lang="ko-KR" altLang="en-US" sz="1150" dirty="0"/>
          </a:p>
        </p:txBody>
      </p:sp>
      <p:sp>
        <p:nvSpPr>
          <p:cNvPr id="25" name="BoxHead"/>
          <p:cNvSpPr/>
          <p:nvPr/>
        </p:nvSpPr>
        <p:spPr>
          <a:xfrm>
            <a:off x="7092696" y="1508760"/>
            <a:ext cx="3121152" cy="384048"/>
          </a:xfrm>
          <a:prstGeom prst="roundRect">
            <a:avLst>
              <a:gd name="adj" fmla="val 9524"/>
            </a:avLst>
          </a:prstGeom>
          <a:solidFill>
            <a:srgbClr val="22934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092696" y="1508760"/>
            <a:ext cx="312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수정안 반영하기</a:t>
            </a:r>
            <a:endParaRPr lang="ko-KR" altLang="en-US" sz="1250" dirty="0"/>
          </a:p>
        </p:txBody>
      </p:sp>
      <p:sp>
        <p:nvSpPr>
          <p:cNvPr id="27" name="BoxBody"/>
          <p:cNvSpPr/>
          <p:nvPr/>
        </p:nvSpPr>
        <p:spPr>
          <a:xfrm>
            <a:off x="7092696" y="1892808"/>
            <a:ext cx="3121152" cy="382219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21296" y="2148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1</a:t>
            </a:r>
            <a:endParaRPr lang="ko-KR" alt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321296" y="2441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변경 내역 탭 캡처, 또는 편집 표 복사(Ctrl+C) → 엑셀 정리</a:t>
            </a:r>
            <a:endParaRPr lang="ko-KR" alt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321296" y="3291840"/>
            <a:ext cx="266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229345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STEP 2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321296" y="3584448"/>
            <a:ext cx="2663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PLM 에서 실제 PID 수정 · 등록</a:t>
            </a:r>
            <a:endParaRPr lang="ko-KR" altLang="en-US" sz="1150" dirty="0"/>
          </a:p>
        </p:txBody>
      </p:sp>
      <p:sp>
        <p:nvSpPr>
          <p:cNvPr id="32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고쳐서 확인한 내용은 반드시 PLM 에 반영해야 실제 로직이 바뀝니다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</p:sp>
      <p:sp>
        <p:nvSpPr>
          <p:cNvPr id="3" name="SlideTitle"/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5. 참고 — 주의사항 · 자주 묻는 질문</a:t>
            </a:r>
            <a:endParaRPr lang="ko-KR" altLang="en-US" sz="1500" dirty="0"/>
          </a:p>
        </p:txBody>
      </p:sp>
      <p:pic>
        <p:nvPicPr>
          <p:cNvPr id="4" name="HyundaiLogo" descr="HYUND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/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051560"/>
          <a:ext cx="9729216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34593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상황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설명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고친 내용이 DB 에 반영되나요?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아니요. 실행할 때만 사용됩니다. 실제 반영은 PLM 에서 해야 합니다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새로고침했더니 수정이 사라졌어요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수정 내용은 저장되지 않습니다. 남기려면 편집 표를 복사(Ctrl+C)해 엑셀에 보관하세요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하위 PID 를 고쳐서 실행하고 싶어요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CALL 하위 PID 는 항상 최신 DB 버전으로 실행. 하위 PID 를 따로 불러와 실행하세요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층 입력칸이 비활성이에요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층별 PID 가 아닌 경우입니다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JAVA PID 는 편집이 안 돼요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JAVA 방식은 라인이 없어 편집할 수 없고, 실행 결과만 볼 수 있습니다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상단에 주황 / 빨강 띠가 떠요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경고(주황) 또는 불러오기 · 실행 오류(빨강)입니다. 내용 확인 후 ✕ 로 닫습니다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"Handsontable 을 불러오지 못했습니다"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편집 표 라이브러리를 cdn.jsdelivr.net 에서 받습니다. 사내망 접근을 확인하세요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결과가 흐리게 보여요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실행 후 수정한 상태입니다. 다시 실행하거나 실시간 실행을 켜세요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KeyBar"/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문의 : 화면 오류 · 실행 결과 이상 · 기능 개선 요청은 수배로직설계팀 김영환 M</a:t>
            </a:r>
            <a:endParaRPr lang="ko-KR" alt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9085A3F26677D43A7D69A72AE1C81D7" ma:contentTypeVersion="16" ma:contentTypeDescription="새 문서를 만듭니다." ma:contentTypeScope="" ma:versionID="4ff5c77734558d617f1c76f03b331a51">
  <xsd:schema xmlns:xsd="http://www.w3.org/2001/XMLSchema" xmlns:xs="http://www.w3.org/2001/XMLSchema" xmlns:p="http://schemas.microsoft.com/office/2006/metadata/properties" xmlns:ns2="6958f0ef-3070-4482-8557-148c1a91fbe3" xmlns:ns3="5635ba4f-014a-4f8b-94d8-3608e4164aef" targetNamespace="http://schemas.microsoft.com/office/2006/metadata/properties" ma:root="true" ma:fieldsID="966c4902775629bba53aad19182a2afd" ns2:_="" ns3:_="">
    <xsd:import namespace="6958f0ef-3070-4482-8557-148c1a91fbe3"/>
    <xsd:import namespace="5635ba4f-014a-4f8b-94d8-3608e4164a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8f0ef-3070-4482-8557-148c1a91fb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fa2f7d99-32ea-4507-aec9-074d197001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35ba4f-014a-4f8b-94d8-3608e4164ae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9b98908-a97b-44ef-a11f-1f9ad44bba4c}" ma:internalName="TaxCatchAll" ma:showField="CatchAllData" ma:web="5635ba4f-014a-4f8b-94d8-3608e4164a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8f0ef-3070-4482-8557-148c1a91fbe3">
      <Terms xmlns="http://schemas.microsoft.com/office/infopath/2007/PartnerControls"/>
    </lcf76f155ced4ddcb4097134ff3c332f>
    <TaxCatchAll xmlns="5635ba4f-014a-4f8b-94d8-3608e4164ae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6D21E8-2BB7-4416-AF4D-F6E9A0835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58f0ef-3070-4482-8557-148c1a91fbe3"/>
    <ds:schemaRef ds:uri="5635ba4f-014a-4f8b-94d8-3608e4164a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7E84E9-4B16-4B5A-8009-DDABEB91C63B}">
  <ds:schemaRefs>
    <ds:schemaRef ds:uri="http://schemas.microsoft.com/office/2006/metadata/properties"/>
    <ds:schemaRef ds:uri="http://schemas.microsoft.com/office/infopath/2007/PartnerControls"/>
    <ds:schemaRef ds:uri="6958f0ef-3070-4482-8557-148c1a91fbe3"/>
    <ds:schemaRef ds:uri="5635ba4f-014a-4f8b-94d8-3608e4164aef"/>
  </ds:schemaRefs>
</ds:datastoreItem>
</file>

<file path=customXml/itemProps3.xml><?xml version="1.0" encoding="utf-8"?>
<ds:datastoreItem xmlns:ds="http://schemas.openxmlformats.org/officeDocument/2006/customXml" ds:itemID="{D4CEF760-4CBD-4C7D-B2D8-C5471CF75A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1244</TotalTime>
  <Words>1278</Words>
  <Application>Microsoft Office PowerPoint</Application>
  <PresentationFormat>사용자 지정</PresentationFormat>
  <Paragraphs>200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맑은 고딕</vt:lpstr>
      <vt:lpstr>Arial</vt:lpstr>
      <vt:lpstr>네오현대 EBK</vt:lpstr>
      <vt:lpstr>네오현대 EB</vt:lpstr>
      <vt:lpstr>Calibri</vt:lpstr>
      <vt:lpstr>Calibri Light</vt:lpstr>
      <vt:lpstr>네오현대 B</vt:lpstr>
      <vt:lpstr>Office 테마</vt:lpstr>
      <vt:lpstr>수배로직 업무를 위한 AI 플랫폼 적용  RAG 기반의 PLM 데이터 연동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김영환/KIM YOUNG HWAN</dc:creator>
  <cp:lastModifiedBy>김영환/KIM YOUNG HWAN</cp:lastModifiedBy>
  <cp:revision>95</cp:revision>
  <dcterms:created xsi:type="dcterms:W3CDTF">2023-02-23T00:36:52Z</dcterms:created>
  <dcterms:modified xsi:type="dcterms:W3CDTF">2026-09-15T04:48:54Z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0x01010089085A3F26677D43A7D69A72AE1C81D7</vt:lpwstr>
  </property>
  <property fmtid="{D5CDD505-2E9C-101B-9397-08002B2CF9AE}" pid="3" name="MSIP_Label_1fd51960-f5ab-455f-8de0-bc0d6c02aaf3_Enabled">
    <vt:lpwstr>true</vt:lpwstr>
  </property>
  <property fmtid="{D5CDD505-2E9C-101B-9397-08002B2CF9AE}" pid="4" name="MSIP_Label_1fd51960-f5ab-455f-8de0-bc0d6c02aaf3_SetDate">
    <vt:lpwstr>2026-04-20T01:06:19Z</vt:lpwstr>
  </property>
  <property fmtid="{D5CDD505-2E9C-101B-9397-08002B2CF9AE}" pid="5" name="MSIP_Label_1fd51960-f5ab-455f-8de0-bc0d6c02aaf3_Method">
    <vt:lpwstr>Standard</vt:lpwstr>
  </property>
  <property fmtid="{D5CDD505-2E9C-101B-9397-08002B2CF9AE}" pid="6" name="MSIP_Label_1fd51960-f5ab-455f-8de0-bc0d6c02aaf3_Name">
    <vt:lpwstr>Public</vt:lpwstr>
  </property>
  <property fmtid="{D5CDD505-2E9C-101B-9397-08002B2CF9AE}" pid="7" name="MSIP_Label_1fd51960-f5ab-455f-8de0-bc0d6c02aaf3_SiteId">
    <vt:lpwstr>f8d5ac98-8fa9-4355-8cd9-84f322fb0a78</vt:lpwstr>
  </property>
  <property fmtid="{D5CDD505-2E9C-101B-9397-08002B2CF9AE}" pid="8" name="MSIP_Label_1fd51960-f5ab-455f-8de0-bc0d6c02aaf3_ActionId">
    <vt:lpwstr>74f345c5-bd27-4957-9a8d-46de5532c8b8</vt:lpwstr>
  </property>
  <property fmtid="{D5CDD505-2E9C-101B-9397-08002B2CF9AE}" pid="9" name="MSIP_Label_1fd51960-f5ab-455f-8de0-bc0d6c02aaf3_ContentBits">
    <vt:lpwstr>0</vt:lpwstr>
  </property>
  <property fmtid="{D5CDD505-2E9C-101B-9397-08002B2CF9AE}" pid="10" name="MSIP_Label_1fd51960-f5ab-455f-8de0-bc0d6c02aaf3_Tag">
    <vt:lpwstr>10, 3, 0, 1</vt:lpwstr>
  </property>
</Properties>
</file>